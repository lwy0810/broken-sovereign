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37f3923e-7f33-a15e-cc6f-640ce7aac4bb}">
          <p14:sldIdLst>
            <p14:sldId id="256"/>
            <p14:sldId id="257"/>
            <p14:sldId id="258"/>
            <p14:sldId id="259"/>
          </p14:sldIdLst>
        </p14:section>
        <p14:section name="기획" id="{f46f344f-5a79-23f3-6004-473d2e3c05c8}">
          <p14:sldIdLst>
            <p14:sldId id="260"/>
            <p14:sldId id="261"/>
            <p14:sldId id="262"/>
            <p14:sldId id="263"/>
          </p14:sldIdLst>
        </p14:section>
        <p14:section name="전투 · 성장" id="{4d6934d3-f9d6-cfef-13c2-891b32439b80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월드 · UI" id="{7f9e499f-ad15-f299-0dfb-4e90178d7f19}">
          <p14:sldIdLst>
            <p14:sldId id="270"/>
            <p14:sldId id="271"/>
            <p14:sldId id="272"/>
            <p14:sldId id="273"/>
          </p14:sldIdLst>
        </p14:section>
        <p14:section name="개발" id="{16146b01-736c-02c1-0548-7180aa225723}">
          <p14:sldIdLst>
            <p14:sldId id="274"/>
            <p14:sldId id="275"/>
            <p14:sldId id="276"/>
          </p14:sldIdLst>
        </p14:section>
        <p14:section name="마무리" id="{2b11ce37-5cc7-c62d-6234-5e2ff9b79666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BROKEN SOVEREIGN — 신들에게 격을 빼앗긴 영웅이 격을 되찾는 3D 쿼터뷰 핵앤슬래시. NC AI 광주 1기 개인 포트폴리오 프로젝트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1인 개발, 9/30 기획 시작 → 10/26까지 약 4주. 스크립트 238개 · 약 4.3만 줄, PR 63건으로 기능 단위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첫 주(10/02)에 만든 One-page GDD. 게임 개요·아트/기술·핵심 루프(전투 → 신물·시련 획득 → 격 돌파 → 기술 장착)를 한 장에 정리. 이후 슬라이드는 이 구조를 따라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재미 4가지. 디아블로·갓 오브 워·웹소설 '격' 소재와 비교한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표면: 주신들이 영웅의 격을 수확. 진실: 외해를 막는 방벽 유지 → 격 회복이 방벽을 약화. 4개 권역 중 천계가 프로토타입.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6단계 격. 범인·초인·반신까지 구현. 격마다 전직·기술 키·규칙이 열림. 초월부터는 수치가 아닌 규칙 변화.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직업 4 → 2차 직업 8 → 영웅의 길 16. 프로토타입은 성기사 → 성투사 → 영웅의 길 2종. 영웅 이름은 게임 안에서 반신 돌파 때 처음 공개.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천계·성기사 계열·반신까지 플레이 가능. 나머지는 데이터 추가로 확장 가능한 구조로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이동·공격 기반. 기본 공격과 강타는 모션 타격 순간에 피해·이펙트·소리를 맞춤. 신앙 자원과 영웅 고유 규칙(분쇄, 사거리 전환).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레벨·스탯, 기술 빌드(슬롯 레벨·강화 분기), 장비·바닥 드롭, 업적→신격 트리가 맞물려 격 돌파로 이어짐.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레벨업마다 기술 포인트 1. 슬롯 레벨 최대 15, 레벨당 +5%. 우클릭 슬롯은 Lv 3에서 A 확산 / B 응징 중 선택. 비전투 상태에서 초기화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장비 6칸, 희귀도 5단계. 적 처치 보상은 바닥에 떨어짐 — 금화와 희귀 이하 소모품·재료는 자동 습득, 장비와 영웅 이상 재료는 이름표를 클릭해 줍기.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업적 27종(시련 3·전투 10·탐험 5·성장 5·특수 4). 업적 포인트로 반신부터 열리는 신격 트리 노드를 활성화 — 디아블로 4 파라곤과 비슷한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이랑진군: 체력 70%·35%에서 페이즈 전환. 패턴 4종, 모두 예고 범위로 회피 가능. 분쇄로 무력화하면 패턴이 끊김.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1km 계곡 필드와 가운데 성벽 마을, 해안 절벽 보스 제단. 미니맵과 전체 지도에서 자동 이동·핀·웨이포인트 이동.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HUD 7요소: 체력·기력 구슬, 신앙 막대, 기술 바(재사용 대기·툴팁), 미니맵, 대상·보스 게이지, 피해 숫자, 업적 팝업·상태 알림.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인벤토리(I)·캐릭터/성물(C)·기술(K)·신격 트리(G)·업적(J)·지도(Tab), 설정(Esc). 모든 창이 같은 판·제목 탭·× 닫기 규칙.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디아블로풍 초안은 유사성 문제로 폐기, A 천계 백옥/B 어두운 금속판 비교 후 B안 채택. 모든 창은 Figma 시안을 먼저 비교·검토하고 코드로 구현.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데이터(SO) → 런타임 시스템 → 이벤트로 성장·UI 연결. 전투 코드에 영웅별 분기를 두지 않고 규칙 객체·연결 지점으로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기획·코드·3D 아트·사운드/UI 네 갈래. AI는 초안과 반복 작업, 결정과 검수는 개발자. 생성 에셋은 AiPipeline.md에 모두 기록.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플레이 영상 재생. 오른쪽 '00:00' 자리에 영상 구간별 시간을 적어 두면 질문 받을 때 해당 장면으로 바로 이동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문제 3건(리깅, 이동 끊김, 타격 시점)과 해결. 배운 점과 다음 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 인사 후 질의응답.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TITL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9525000"/>
          </a:xfrm>
          <a:prstGeom prst="rect">
            <a:avLst/>
          </a:prstGeom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5" name="Shape 3"/>
          <p:cNvSpPr/>
          <p:nvPr/>
        </p:nvSpPr>
        <p:spPr>
          <a:xfrm>
            <a:off x="174879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6" name="Shape 4"/>
          <p:cNvSpPr/>
          <p:nvPr/>
        </p:nvSpPr>
        <p:spPr>
          <a:xfrm>
            <a:off x="1788795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9" name="Shape 7"/>
          <p:cNvSpPr/>
          <p:nvPr/>
        </p:nvSpPr>
        <p:spPr>
          <a:xfrm>
            <a:off x="174879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0" name="Shape 8"/>
          <p:cNvSpPr/>
          <p:nvPr/>
        </p:nvSpPr>
        <p:spPr>
          <a:xfrm>
            <a:off x="1788795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9429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BROKEN SOVEREIGN</a:t>
            </a:r>
            <a:endParaRPr lang="en-US" sz="10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9525000"/>
          </a:xfrm>
          <a:prstGeom prst="rect">
            <a:avLst/>
          </a:prstGeom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5" name="Shape 3"/>
          <p:cNvSpPr/>
          <p:nvPr/>
        </p:nvSpPr>
        <p:spPr>
          <a:xfrm>
            <a:off x="174879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6" name="Shape 4"/>
          <p:cNvSpPr/>
          <p:nvPr/>
        </p:nvSpPr>
        <p:spPr>
          <a:xfrm>
            <a:off x="1788795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9" name="Shape 7"/>
          <p:cNvSpPr/>
          <p:nvPr/>
        </p:nvSpPr>
        <p:spPr>
          <a:xfrm>
            <a:off x="174879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0" name="Shape 8"/>
          <p:cNvSpPr/>
          <p:nvPr/>
        </p:nvSpPr>
        <p:spPr>
          <a:xfrm>
            <a:off x="1788795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9429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BROKEN SOVEREIGN</a:t>
            </a:r>
            <a:endParaRPr lang="en-US" sz="1050" dirty="0"/>
          </a:p>
        </p:txBody>
      </p:sp>
      <p:sp>
        <p:nvSpPr>
          <p:cNvPr id="12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defRPr>
            </a:lvl1pPr>
          </a:lstStyle>
          <a:p>
            <a:pPr algn="l" indent="0" marL="0">
              <a:buNone/>
            </a:pPr>
            <a:endParaRPr lang="en-US" sz="4050" dirty="0"/>
          </a:p>
        </p:txBody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buNone/>
            </a:pPr>
            <a:endParaRPr lang="en-US" sz="16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9525000"/>
          </a:xfrm>
          <a:prstGeom prst="rect">
            <a:avLst/>
          </a:prstGeom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5" name="Shape 3"/>
          <p:cNvSpPr/>
          <p:nvPr/>
        </p:nvSpPr>
        <p:spPr>
          <a:xfrm>
            <a:off x="174879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6" name="Shape 4"/>
          <p:cNvSpPr/>
          <p:nvPr/>
        </p:nvSpPr>
        <p:spPr>
          <a:xfrm>
            <a:off x="1788795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9" name="Shape 7"/>
          <p:cNvSpPr/>
          <p:nvPr/>
        </p:nvSpPr>
        <p:spPr>
          <a:xfrm>
            <a:off x="174879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0" name="Shape 8"/>
          <p:cNvSpPr/>
          <p:nvPr/>
        </p:nvSpPr>
        <p:spPr>
          <a:xfrm>
            <a:off x="1788795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9429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BROKEN SOVEREIGN</a:t>
            </a:r>
            <a:endParaRPr lang="en-US"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9525000"/>
          </a:xfrm>
          <a:prstGeom prst="rect">
            <a:avLst/>
          </a:prstGeom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5" name="Shape 3"/>
          <p:cNvSpPr/>
          <p:nvPr/>
        </p:nvSpPr>
        <p:spPr>
          <a:xfrm>
            <a:off x="17487900" y="38100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6" name="Shape 4"/>
          <p:cNvSpPr/>
          <p:nvPr/>
        </p:nvSpPr>
        <p:spPr>
          <a:xfrm>
            <a:off x="17887950" y="3810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9" name="Shape 7"/>
          <p:cNvSpPr/>
          <p:nvPr/>
        </p:nvSpPr>
        <p:spPr>
          <a:xfrm>
            <a:off x="17487900" y="9886950"/>
            <a:ext cx="419100" cy="1905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0" name="Shape 8"/>
          <p:cNvSpPr/>
          <p:nvPr/>
        </p:nvSpPr>
        <p:spPr>
          <a:xfrm>
            <a:off x="17887950" y="9486900"/>
            <a:ext cx="19050" cy="419100"/>
          </a:xfrm>
          <a:prstGeom prst="rect">
            <a:avLst/>
          </a:prstGeom>
          <a:solidFill>
            <a:srgbClr val="E9B45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9429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BROKEN SOVEREIGN</a:t>
            </a:r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ddEmblem" descr="One-page GDD 왕관 엠블럼 — 격의 위계 고리와 부서진 왕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1428750"/>
            <a:ext cx="7429500" cy="742950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333500" y="2457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00" kern="0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 AI 광주 1기   ·   개인 포트폴리오 프로젝트</a:t>
            </a:r>
            <a:endParaRPr lang="en-US" sz="1650" dirty="0"/>
          </a:p>
        </p:txBody>
      </p:sp>
      <p:sp>
        <p:nvSpPr>
          <p:cNvPr id="4" name="Text 2"/>
          <p:cNvSpPr txBox="1"/>
          <p:nvPr/>
        </p:nvSpPr>
        <p:spPr>
          <a:xfrm>
            <a:off x="1219200" y="2819400"/>
            <a:ext cx="1047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0" b="1" spc="410" kern="0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BROKEN</a:t>
            </a:r>
            <a:endParaRPr lang="en-US" sz="10200" dirty="0"/>
          </a:p>
        </p:txBody>
      </p:sp>
      <p:sp>
        <p:nvSpPr>
          <p:cNvPr id="5" name="Text 3"/>
          <p:cNvSpPr txBox="1"/>
          <p:nvPr/>
        </p:nvSpPr>
        <p:spPr>
          <a:xfrm>
            <a:off x="1219200" y="4191000"/>
            <a:ext cx="11430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0" b="1" spc="410" kern="0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SOVEREIGN</a:t>
            </a:r>
            <a:endParaRPr lang="en-US" sz="10200" dirty="0"/>
          </a:p>
        </p:txBody>
      </p:sp>
      <p:sp>
        <p:nvSpPr>
          <p:cNvPr id="6" name="Text 4"/>
          <p:cNvSpPr txBox="1"/>
          <p:nvPr/>
        </p:nvSpPr>
        <p:spPr>
          <a:xfrm>
            <a:off x="1333500" y="59245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격(格)을 되찾는 자의 핵앤슬래시</a:t>
            </a:r>
            <a:endParaRPr lang="en-US" sz="3150" dirty="0"/>
          </a:p>
        </p:txBody>
      </p:sp>
      <p:sp>
        <p:nvSpPr>
          <p:cNvPr id="7" name="Text 5"/>
          <p:cNvSpPr txBox="1"/>
          <p:nvPr/>
        </p:nvSpPr>
        <p:spPr>
          <a:xfrm>
            <a:off x="1333500" y="6743700"/>
            <a:ext cx="952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신들에게 격을 빼앗긴 영웅이 신화 권역을 침공해 격을 되찾는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쿼터뷰 액션 RPG 프로토타입</a:t>
            </a:r>
            <a:endParaRPr lang="en-US" sz="1800" dirty="0"/>
          </a:p>
        </p:txBody>
      </p:sp>
      <p:sp>
        <p:nvSpPr>
          <p:cNvPr id="8" name="Diamond"/>
          <p:cNvSpPr/>
          <p:nvPr/>
        </p:nvSpPr>
        <p:spPr>
          <a:xfrm>
            <a:off x="1343025" y="84296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9" name="Line"/>
          <p:cNvSpPr/>
          <p:nvPr/>
        </p:nvSpPr>
        <p:spPr>
          <a:xfrm>
            <a:off x="1504950" y="8477250"/>
            <a:ext cx="4953000" cy="95"/>
          </a:xfrm>
          <a:prstGeom prst="line">
            <a:avLst/>
          </a:prstGeom>
          <a:noFill/>
          <a:ln w="19050">
            <a:solidFill>
              <a:srgbClr val="E9B45A">
                <a:alpha val="6500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333500" y="86677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   이우영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810000" y="8686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17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2026. 10. 27  TUE</a:t>
            </a:r>
            <a:endParaRPr lang="en-US" sz="1650" dirty="0"/>
          </a:p>
        </p:txBody>
      </p:sp>
      <p:sp>
        <p:nvSpPr>
          <p:cNvPr id="12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 / 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   OVERVIEW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개요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개발 · 약 4주 · Unity 6 URP 기반의 플레이 가능한 프로토타입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143250"/>
            <a:ext cx="7620000" cy="5715000"/>
          </a:xfrm>
          <a:prstGeom prst="roundRect">
            <a:avLst>
              <a:gd name="adj" fmla="val 96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9" name="Text 8"/>
          <p:cNvSpPr txBox="1"/>
          <p:nvPr/>
        </p:nvSpPr>
        <p:spPr>
          <a:xfrm>
            <a:off x="1428750" y="34099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개발 정보</a:t>
            </a:r>
            <a:endParaRPr lang="en-US" sz="2100" dirty="0"/>
          </a:p>
        </p:txBody>
      </p:sp>
      <p:sp>
        <p:nvSpPr>
          <p:cNvPr id="10" name="Text 9"/>
          <p:cNvSpPr txBox="1"/>
          <p:nvPr/>
        </p:nvSpPr>
        <p:spPr>
          <a:xfrm>
            <a:off x="1428750" y="40957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장르</a:t>
            </a:r>
            <a:endParaRPr lang="en-US" sz="1500" dirty="0"/>
          </a:p>
        </p:txBody>
      </p:sp>
      <p:sp>
        <p:nvSpPr>
          <p:cNvPr id="11" name="Text 10"/>
          <p:cNvSpPr txBox="1"/>
          <p:nvPr/>
        </p:nvSpPr>
        <p:spPr>
          <a:xfrm>
            <a:off x="2571750" y="40767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쿼터뷰 핵앤슬래시 액션 RPG (디아블로 계열)</a:t>
            </a:r>
            <a:endParaRPr lang="en-US" sz="1650" dirty="0"/>
          </a:p>
        </p:txBody>
      </p:sp>
      <p:sp>
        <p:nvSpPr>
          <p:cNvPr id="12" name="Line"/>
          <p:cNvSpPr/>
          <p:nvPr/>
        </p:nvSpPr>
        <p:spPr>
          <a:xfrm>
            <a:off x="1428750" y="4629150"/>
            <a:ext cx="6858000" cy="95"/>
          </a:xfrm>
          <a:prstGeom prst="line">
            <a:avLst/>
          </a:prstGeom>
          <a:noFill/>
          <a:ln w="9525">
            <a:solidFill>
              <a:srgbClr val="6A6E7A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8750" y="48196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571750" y="48006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(Windows)</a:t>
            </a:r>
            <a:endParaRPr lang="en-US" sz="1650" dirty="0"/>
          </a:p>
        </p:txBody>
      </p:sp>
      <p:sp>
        <p:nvSpPr>
          <p:cNvPr id="15" name="Line"/>
          <p:cNvSpPr/>
          <p:nvPr/>
        </p:nvSpPr>
        <p:spPr>
          <a:xfrm>
            <a:off x="1428750" y="5353050"/>
            <a:ext cx="6858000" cy="95"/>
          </a:xfrm>
          <a:prstGeom prst="line">
            <a:avLst/>
          </a:prstGeom>
          <a:noFill/>
          <a:ln w="9525">
            <a:solidFill>
              <a:srgbClr val="6A6E7A">
                <a:alpha val="3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28750" y="55435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571750" y="55245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6000.3 · URP · Input System</a:t>
            </a:r>
            <a:endParaRPr lang="en-US" sz="1650" dirty="0"/>
          </a:p>
        </p:txBody>
      </p:sp>
      <p:sp>
        <p:nvSpPr>
          <p:cNvPr id="18" name="Line"/>
          <p:cNvSpPr/>
          <p:nvPr/>
        </p:nvSpPr>
        <p:spPr>
          <a:xfrm>
            <a:off x="1428750" y="6076950"/>
            <a:ext cx="6858000" cy="95"/>
          </a:xfrm>
          <a:prstGeom prst="line">
            <a:avLst/>
          </a:prstGeom>
          <a:noFill/>
          <a:ln w="9525">
            <a:solidFill>
              <a:srgbClr val="6A6E7A">
                <a:alpha val="35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428750" y="62674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2571750" y="62484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09. 30 ~ 10. 26 (기획 · 개발 · QA)</a:t>
            </a:r>
            <a:endParaRPr lang="en-US" sz="1650" dirty="0"/>
          </a:p>
        </p:txBody>
      </p:sp>
      <p:sp>
        <p:nvSpPr>
          <p:cNvPr id="21" name="Line"/>
          <p:cNvSpPr/>
          <p:nvPr/>
        </p:nvSpPr>
        <p:spPr>
          <a:xfrm>
            <a:off x="1428750" y="6800850"/>
            <a:ext cx="6858000" cy="95"/>
          </a:xfrm>
          <a:prstGeom prst="line">
            <a:avLst/>
          </a:prstGeom>
          <a:noFill/>
          <a:ln w="9525">
            <a:solidFill>
              <a:srgbClr val="6A6E7A">
                <a:alpha val="35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428750" y="69913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인원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2571750" y="69723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(기획 · 프로그래밍 · 에셋 파이프라인)</a:t>
            </a:r>
            <a:endParaRPr lang="en-US" sz="1650" dirty="0"/>
          </a:p>
        </p:txBody>
      </p:sp>
      <p:sp>
        <p:nvSpPr>
          <p:cNvPr id="24" name="Line"/>
          <p:cNvSpPr/>
          <p:nvPr/>
        </p:nvSpPr>
        <p:spPr>
          <a:xfrm>
            <a:off x="1428750" y="7524750"/>
            <a:ext cx="6858000" cy="95"/>
          </a:xfrm>
          <a:prstGeom prst="line">
            <a:avLst/>
          </a:prstGeom>
          <a:noFill/>
          <a:ln w="9525">
            <a:solidFill>
              <a:srgbClr val="6A6E7A">
                <a:alpha val="3500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428750" y="77152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2571750" y="76962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기획 수립 후 핵심 루프를 프로토타입으로 구현</a:t>
            </a:r>
            <a:endParaRPr lang="en-US" sz="1650" dirty="0"/>
          </a:p>
        </p:txBody>
      </p:sp>
      <p:sp>
        <p:nvSpPr>
          <p:cNvPr id="27" name="Card"/>
          <p:cNvSpPr/>
          <p:nvPr/>
        </p:nvSpPr>
        <p:spPr>
          <a:xfrm>
            <a:off x="9144000" y="3143250"/>
            <a:ext cx="3952875" cy="2190750"/>
          </a:xfrm>
          <a:prstGeom prst="roundRect">
            <a:avLst>
              <a:gd name="adj" fmla="val 2504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486900" y="33528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238</a:t>
            </a:r>
            <a:endParaRPr lang="en-US" sz="6300" dirty="0"/>
          </a:p>
        </p:txBody>
      </p:sp>
      <p:sp>
        <p:nvSpPr>
          <p:cNvPr id="29" name="Text 22"/>
          <p:cNvSpPr txBox="1"/>
          <p:nvPr/>
        </p:nvSpPr>
        <p:spPr>
          <a:xfrm>
            <a:off x="9505950" y="44577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C# 스크립트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9505950" y="483870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Assets/Scripts 기준</a:t>
            </a:r>
            <a:endParaRPr lang="en-US" sz="1280" dirty="0"/>
          </a:p>
        </p:txBody>
      </p:sp>
      <p:sp>
        <p:nvSpPr>
          <p:cNvPr id="31" name="Card"/>
          <p:cNvSpPr/>
          <p:nvPr/>
        </p:nvSpPr>
        <p:spPr>
          <a:xfrm>
            <a:off x="13287375" y="3143250"/>
            <a:ext cx="3952875" cy="2190750"/>
          </a:xfrm>
          <a:prstGeom prst="roundRect">
            <a:avLst>
              <a:gd name="adj" fmla="val 2504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3630275" y="33528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43K</a:t>
            </a:r>
            <a:endParaRPr lang="en-US" sz="6300" dirty="0"/>
          </a:p>
        </p:txBody>
      </p:sp>
      <p:sp>
        <p:nvSpPr>
          <p:cNvPr id="33" name="Text 25"/>
          <p:cNvSpPr txBox="1"/>
          <p:nvPr/>
        </p:nvSpPr>
        <p:spPr>
          <a:xfrm>
            <a:off x="13649325" y="44577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줄 수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13649325" y="483870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43,000줄</a:t>
            </a:r>
            <a:endParaRPr lang="en-US" sz="1280" dirty="0"/>
          </a:p>
        </p:txBody>
      </p:sp>
      <p:sp>
        <p:nvSpPr>
          <p:cNvPr id="35" name="Card"/>
          <p:cNvSpPr/>
          <p:nvPr/>
        </p:nvSpPr>
        <p:spPr>
          <a:xfrm>
            <a:off x="9144000" y="5524500"/>
            <a:ext cx="3952875" cy="2190750"/>
          </a:xfrm>
          <a:prstGeom prst="roundRect">
            <a:avLst>
              <a:gd name="adj" fmla="val 2504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9486900" y="57340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63</a:t>
            </a:r>
            <a:endParaRPr lang="en-US" sz="6300" dirty="0"/>
          </a:p>
        </p:txBody>
      </p:sp>
      <p:sp>
        <p:nvSpPr>
          <p:cNvPr id="37" name="Text 28"/>
          <p:cNvSpPr txBox="1"/>
          <p:nvPr/>
        </p:nvSpPr>
        <p:spPr>
          <a:xfrm>
            <a:off x="9505950" y="68389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Pull Request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9505950" y="721995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단위 브랜치 → 머지</a:t>
            </a:r>
            <a:endParaRPr lang="en-US" sz="1280" dirty="0"/>
          </a:p>
        </p:txBody>
      </p:sp>
      <p:sp>
        <p:nvSpPr>
          <p:cNvPr id="39" name="Card"/>
          <p:cNvSpPr/>
          <p:nvPr/>
        </p:nvSpPr>
        <p:spPr>
          <a:xfrm>
            <a:off x="13287375" y="5524500"/>
            <a:ext cx="3952875" cy="2190750"/>
          </a:xfrm>
          <a:prstGeom prst="roundRect">
            <a:avLst>
              <a:gd name="adj" fmla="val 2504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3630275" y="57340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185</a:t>
            </a:r>
            <a:endParaRPr lang="en-US" sz="6300" dirty="0"/>
          </a:p>
        </p:txBody>
      </p:sp>
      <p:sp>
        <p:nvSpPr>
          <p:cNvPr id="41" name="Text 31"/>
          <p:cNvSpPr txBox="1"/>
          <p:nvPr/>
        </p:nvSpPr>
        <p:spPr>
          <a:xfrm>
            <a:off x="13649325" y="68389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</a:t>
            </a:r>
            <a:endParaRPr lang="en-US" sz="1800" dirty="0"/>
          </a:p>
        </p:txBody>
      </p:sp>
      <p:sp>
        <p:nvSpPr>
          <p:cNvPr id="42" name="Text 32"/>
          <p:cNvSpPr txBox="1"/>
          <p:nvPr/>
        </p:nvSpPr>
        <p:spPr>
          <a:xfrm>
            <a:off x="13649325" y="721995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09. 30 ~</a:t>
            </a:r>
            <a:endParaRPr lang="en-US" sz="1280" dirty="0"/>
          </a:p>
        </p:txBody>
      </p:sp>
      <p:sp>
        <p:nvSpPr>
          <p:cNvPr id="43" name="Line"/>
          <p:cNvSpPr/>
          <p:nvPr/>
        </p:nvSpPr>
        <p:spPr>
          <a:xfrm>
            <a:off x="9429750" y="8191500"/>
            <a:ext cx="7524750" cy="95"/>
          </a:xfrm>
          <a:prstGeom prst="line">
            <a:avLst/>
          </a:prstGeom>
          <a:noFill/>
          <a:ln w="19050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4" name="Diamond"/>
          <p:cNvSpPr/>
          <p:nvPr/>
        </p:nvSpPr>
        <p:spPr>
          <a:xfrm>
            <a:off x="9363075" y="81248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5" name="Text 33"/>
          <p:cNvSpPr txBox="1"/>
          <p:nvPr/>
        </p:nvSpPr>
        <p:spPr>
          <a:xfrm>
            <a:off x="8667750" y="83820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350" dirty="0"/>
          </a:p>
        </p:txBody>
      </p:sp>
      <p:sp>
        <p:nvSpPr>
          <p:cNvPr id="46" name="Text 34"/>
          <p:cNvSpPr txBox="1"/>
          <p:nvPr/>
        </p:nvSpPr>
        <p:spPr>
          <a:xfrm>
            <a:off x="8667750" y="86487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09.30</a:t>
            </a:r>
            <a:endParaRPr lang="en-US" sz="1130" dirty="0"/>
          </a:p>
        </p:txBody>
      </p:sp>
      <p:sp>
        <p:nvSpPr>
          <p:cNvPr id="47" name="Diamond"/>
          <p:cNvSpPr/>
          <p:nvPr/>
        </p:nvSpPr>
        <p:spPr>
          <a:xfrm>
            <a:off x="11244263" y="81248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8" name="Text 35"/>
          <p:cNvSpPr txBox="1"/>
          <p:nvPr/>
        </p:nvSpPr>
        <p:spPr>
          <a:xfrm>
            <a:off x="10548938" y="83820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기반</a:t>
            </a:r>
            <a:endParaRPr lang="en-US" sz="1350" dirty="0"/>
          </a:p>
        </p:txBody>
      </p:sp>
      <p:sp>
        <p:nvSpPr>
          <p:cNvPr id="49" name="Text 36"/>
          <p:cNvSpPr txBox="1"/>
          <p:nvPr/>
        </p:nvSpPr>
        <p:spPr>
          <a:xfrm>
            <a:off x="10548938" y="86487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10.05</a:t>
            </a:r>
            <a:endParaRPr lang="en-US" sz="1130" dirty="0"/>
          </a:p>
        </p:txBody>
      </p:sp>
      <p:sp>
        <p:nvSpPr>
          <p:cNvPr id="50" name="Diamond"/>
          <p:cNvSpPr/>
          <p:nvPr/>
        </p:nvSpPr>
        <p:spPr>
          <a:xfrm>
            <a:off x="13125450" y="81248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1" name="Text 37"/>
          <p:cNvSpPr txBox="1"/>
          <p:nvPr/>
        </p:nvSpPr>
        <p:spPr>
          <a:xfrm>
            <a:off x="12430125" y="83820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· UI</a:t>
            </a:r>
            <a:endParaRPr lang="en-US" sz="1350" dirty="0"/>
          </a:p>
        </p:txBody>
      </p:sp>
      <p:sp>
        <p:nvSpPr>
          <p:cNvPr id="52" name="Text 38"/>
          <p:cNvSpPr txBox="1"/>
          <p:nvPr/>
        </p:nvSpPr>
        <p:spPr>
          <a:xfrm>
            <a:off x="12430125" y="86487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10.14</a:t>
            </a:r>
            <a:endParaRPr lang="en-US" sz="1130" dirty="0"/>
          </a:p>
        </p:txBody>
      </p:sp>
      <p:sp>
        <p:nvSpPr>
          <p:cNvPr id="53" name="Diamond"/>
          <p:cNvSpPr/>
          <p:nvPr/>
        </p:nvSpPr>
        <p:spPr>
          <a:xfrm>
            <a:off x="15006637" y="81248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4" name="Text 39"/>
          <p:cNvSpPr txBox="1"/>
          <p:nvPr/>
        </p:nvSpPr>
        <p:spPr>
          <a:xfrm>
            <a:off x="14311313" y="83820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· QA</a:t>
            </a:r>
            <a:endParaRPr lang="en-US" sz="1350" dirty="0"/>
          </a:p>
        </p:txBody>
      </p:sp>
      <p:sp>
        <p:nvSpPr>
          <p:cNvPr id="55" name="Text 40"/>
          <p:cNvSpPr txBox="1"/>
          <p:nvPr/>
        </p:nvSpPr>
        <p:spPr>
          <a:xfrm>
            <a:off x="14311313" y="86487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10.21</a:t>
            </a:r>
            <a:endParaRPr lang="en-US" sz="1130" dirty="0"/>
          </a:p>
        </p:txBody>
      </p:sp>
      <p:sp>
        <p:nvSpPr>
          <p:cNvPr id="56" name="Diamond"/>
          <p:cNvSpPr/>
          <p:nvPr/>
        </p:nvSpPr>
        <p:spPr>
          <a:xfrm>
            <a:off x="16859250" y="8096250"/>
            <a:ext cx="190500" cy="190500"/>
          </a:xfrm>
          <a:prstGeom prst="diamond">
            <a:avLst/>
          </a:prstGeom>
          <a:solidFill>
            <a:srgbClr val="FFD58A"/>
          </a:solidFill>
          <a:ln/>
        </p:spPr>
      </p:sp>
      <p:sp>
        <p:nvSpPr>
          <p:cNvPr id="57" name="Text 41"/>
          <p:cNvSpPr txBox="1"/>
          <p:nvPr/>
        </p:nvSpPr>
        <p:spPr>
          <a:xfrm>
            <a:off x="16192500" y="83820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</a:t>
            </a:r>
            <a:endParaRPr lang="en-US" sz="1350" dirty="0"/>
          </a:p>
        </p:txBody>
      </p:sp>
      <p:sp>
        <p:nvSpPr>
          <p:cNvPr id="58" name="Text 42"/>
          <p:cNvSpPr txBox="1"/>
          <p:nvPr/>
        </p:nvSpPr>
        <p:spPr>
          <a:xfrm>
            <a:off x="16192500" y="86487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10.27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5143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   ONE-PAGE GDD</a:t>
            </a:r>
            <a:endParaRPr lang="en-US" sz="1200" dirty="0"/>
          </a:p>
        </p:txBody>
      </p:sp>
      <p:sp>
        <p:nvSpPr>
          <p:cNvPr id="3" name="Text 43"/>
          <p:cNvSpPr txBox="1"/>
          <p:nvPr/>
        </p:nvSpPr>
        <p:spPr>
          <a:xfrm>
            <a:off x="4000500" y="4953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장으로 보는 BROKEN SOVEREIGN  ·  기획 단계 One-page GDD (10.02)</a:t>
            </a:r>
            <a:endParaRPr lang="en-US" sz="1350" dirty="0"/>
          </a:p>
        </p:txBody>
      </p:sp>
      <p:pic>
        <p:nvPicPr>
          <p:cNvPr id="4" name="OnePageGDD" descr="BROKEN SOVEREIGN One-page GDD — 게임 개요, 아트·기술, 핵심 게임플레이 루프와 시스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857250"/>
            <a:ext cx="15240000" cy="8572500"/>
          </a:xfrm>
          <a:prstGeom prst="rect">
            <a:avLst/>
          </a:prstGeom>
        </p:spPr>
      </p:pic>
      <p:sp>
        <p:nvSpPr>
          <p:cNvPr id="5" name="GddFrame"/>
          <p:cNvSpPr/>
          <p:nvPr/>
        </p:nvSpPr>
        <p:spPr>
          <a:xfrm>
            <a:off x="1524000" y="857250"/>
            <a:ext cx="15240000" cy="8572500"/>
          </a:xfrm>
          <a:prstGeom prst="rect">
            <a:avLst/>
          </a:prstGeom>
          <a:ln w="12700">
            <a:solidFill>
              <a:srgbClr val="E9B45A">
                <a:alpha val="45000"/>
              </a:srgbClr>
            </a:solidFill>
            <a:prstDash val="solid"/>
          </a:ln>
        </p:spPr>
      </p:sp>
      <p:sp>
        <p:nvSpPr>
          <p:cNvPr id="6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 / 23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   CONCEPT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컨셉 · 핵심 재미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웹소설의 '격(格)' 소재를 시스템으로 — 되찾을수록 강해지고, 강해질수록 규칙이 바뀜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16192500" cy="1066800"/>
          </a:xfrm>
          <a:prstGeom prst="roundRect">
            <a:avLst>
              <a:gd name="adj" fmla="val 5143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75000"/>
              </a:srgbClr>
            </a:solidFill>
            <a:prstDash val="solid"/>
          </a:ln>
        </p:spPr>
      </p:sp>
      <p:sp>
        <p:nvSpPr>
          <p:cNvPr id="9" name="Text 44"/>
          <p:cNvSpPr txBox="1"/>
          <p:nvPr/>
        </p:nvSpPr>
        <p:spPr>
          <a:xfrm>
            <a:off x="1333500" y="30099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9B4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45"/>
          <p:cNvSpPr txBox="1"/>
          <p:nvPr/>
        </p:nvSpPr>
        <p:spPr>
          <a:xfrm>
            <a:off x="1866900" y="3352800"/>
            <a:ext cx="1504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신들에게 격(格)을 빼앗긴 영웅이 신화들을 침공해 격을 되찾는 3D 쿼터뷰 핵앤슬래시</a:t>
            </a:r>
            <a:endParaRPr lang="en-US" sz="2550" dirty="0"/>
          </a:p>
        </p:txBody>
      </p:sp>
      <p:sp>
        <p:nvSpPr>
          <p:cNvPr id="11" name="Card"/>
          <p:cNvSpPr/>
          <p:nvPr/>
        </p:nvSpPr>
        <p:spPr>
          <a:xfrm>
            <a:off x="1047750" y="4381500"/>
            <a:ext cx="3905250" cy="2476500"/>
          </a:xfrm>
          <a:prstGeom prst="roundRect">
            <a:avLst>
              <a:gd name="adj" fmla="val 221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2" name="Text 46"/>
          <p:cNvSpPr txBox="1"/>
          <p:nvPr/>
        </p:nvSpPr>
        <p:spPr>
          <a:xfrm>
            <a:off x="1333500" y="45720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Line"/>
          <p:cNvSpPr/>
          <p:nvPr/>
        </p:nvSpPr>
        <p:spPr>
          <a:xfrm>
            <a:off x="1333500" y="5181600"/>
            <a:ext cx="3810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4" name="Text 47"/>
          <p:cNvSpPr txBox="1"/>
          <p:nvPr/>
        </p:nvSpPr>
        <p:spPr>
          <a:xfrm>
            <a:off x="1333500" y="53340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되찾는 성장</a:t>
            </a:r>
            <a:endParaRPr lang="en-US" sz="2250" dirty="0"/>
          </a:p>
        </p:txBody>
      </p:sp>
      <p:sp>
        <p:nvSpPr>
          <p:cNvPr id="15" name="Text 48"/>
          <p:cNvSpPr txBox="1"/>
          <p:nvPr/>
        </p:nvSpPr>
        <p:spPr>
          <a:xfrm>
            <a:off x="1333500" y="58674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범인에서 태초까지, 빼앗긴 격을 한 단계씩 회복하는 성장</a:t>
            </a:r>
            <a:endParaRPr lang="en-US" sz="1430" dirty="0"/>
          </a:p>
        </p:txBody>
      </p:sp>
      <p:sp>
        <p:nvSpPr>
          <p:cNvPr id="16" name="Card"/>
          <p:cNvSpPr/>
          <p:nvPr/>
        </p:nvSpPr>
        <p:spPr>
          <a:xfrm>
            <a:off x="5143500" y="4381500"/>
            <a:ext cx="3905250" cy="2476500"/>
          </a:xfrm>
          <a:prstGeom prst="roundRect">
            <a:avLst>
              <a:gd name="adj" fmla="val 221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7" name="Text 49"/>
          <p:cNvSpPr txBox="1"/>
          <p:nvPr/>
        </p:nvSpPr>
        <p:spPr>
          <a:xfrm>
            <a:off x="5429250" y="45720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Line"/>
          <p:cNvSpPr/>
          <p:nvPr/>
        </p:nvSpPr>
        <p:spPr>
          <a:xfrm>
            <a:off x="5429250" y="5181600"/>
            <a:ext cx="3810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9" name="Text 50"/>
          <p:cNvSpPr txBox="1"/>
          <p:nvPr/>
        </p:nvSpPr>
        <p:spPr>
          <a:xfrm>
            <a:off x="5429250" y="53340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영웅이 되어 가는 빌드</a:t>
            </a:r>
            <a:endParaRPr lang="en-US" sz="2250" dirty="0"/>
          </a:p>
        </p:txBody>
      </p:sp>
      <p:sp>
        <p:nvSpPr>
          <p:cNvPr id="20" name="Text 51"/>
          <p:cNvSpPr txBox="1"/>
          <p:nvPr/>
        </p:nvSpPr>
        <p:spPr>
          <a:xfrm>
            <a:off x="5429250" y="58674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 위에 신화 원형 영웅의 길을 얹는 2단 전직</a:t>
            </a:r>
            <a:endParaRPr lang="en-US" sz="1430" dirty="0"/>
          </a:p>
        </p:txBody>
      </p:sp>
      <p:sp>
        <p:nvSpPr>
          <p:cNvPr id="21" name="Card"/>
          <p:cNvSpPr/>
          <p:nvPr/>
        </p:nvSpPr>
        <p:spPr>
          <a:xfrm>
            <a:off x="9239250" y="4381500"/>
            <a:ext cx="3905250" cy="2476500"/>
          </a:xfrm>
          <a:prstGeom prst="roundRect">
            <a:avLst>
              <a:gd name="adj" fmla="val 221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2" name="Text 52"/>
          <p:cNvSpPr txBox="1"/>
          <p:nvPr/>
        </p:nvSpPr>
        <p:spPr>
          <a:xfrm>
            <a:off x="9525000" y="45720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Line"/>
          <p:cNvSpPr/>
          <p:nvPr/>
        </p:nvSpPr>
        <p:spPr>
          <a:xfrm>
            <a:off x="9525000" y="5181600"/>
            <a:ext cx="3810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24" name="Text 53"/>
          <p:cNvSpPr txBox="1"/>
          <p:nvPr/>
        </p:nvSpPr>
        <p:spPr>
          <a:xfrm>
            <a:off x="9525000" y="53340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규칙이 바뀌는 강함</a:t>
            </a:r>
            <a:endParaRPr lang="en-US" sz="2250" dirty="0"/>
          </a:p>
        </p:txBody>
      </p:sp>
      <p:sp>
        <p:nvSpPr>
          <p:cNvPr id="25" name="Text 54"/>
          <p:cNvSpPr txBox="1"/>
          <p:nvPr/>
        </p:nvSpPr>
        <p:spPr>
          <a:xfrm>
            <a:off x="9525000" y="58674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초월부터는 수치가 아닌 기술 작동 방식 자체가 변화</a:t>
            </a:r>
            <a:endParaRPr lang="en-US" sz="1430" dirty="0"/>
          </a:p>
        </p:txBody>
      </p:sp>
      <p:sp>
        <p:nvSpPr>
          <p:cNvPr id="26" name="Card"/>
          <p:cNvSpPr/>
          <p:nvPr/>
        </p:nvSpPr>
        <p:spPr>
          <a:xfrm>
            <a:off x="13335000" y="4381500"/>
            <a:ext cx="3905250" cy="2476500"/>
          </a:xfrm>
          <a:prstGeom prst="roundRect">
            <a:avLst>
              <a:gd name="adj" fmla="val 221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7" name="Text 55"/>
          <p:cNvSpPr txBox="1"/>
          <p:nvPr/>
        </p:nvSpPr>
        <p:spPr>
          <a:xfrm>
            <a:off x="13620750" y="45720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Line"/>
          <p:cNvSpPr/>
          <p:nvPr/>
        </p:nvSpPr>
        <p:spPr>
          <a:xfrm>
            <a:off x="13620750" y="5181600"/>
            <a:ext cx="3810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29" name="Text 56"/>
          <p:cNvSpPr txBox="1"/>
          <p:nvPr/>
        </p:nvSpPr>
        <p:spPr>
          <a:xfrm>
            <a:off x="13620750" y="53340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신을 쓰러뜨리는 쾌감</a:t>
            </a:r>
            <a:endParaRPr lang="en-US" sz="2250" dirty="0"/>
          </a:p>
        </p:txBody>
      </p:sp>
      <p:sp>
        <p:nvSpPr>
          <p:cNvPr id="30" name="Text 57"/>
          <p:cNvSpPr txBox="1"/>
          <p:nvPr/>
        </p:nvSpPr>
        <p:spPr>
          <a:xfrm>
            <a:off x="13620750" y="58674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신화의 주신 · 하위 신과 맞서는 보스전</a:t>
            </a:r>
            <a:endParaRPr lang="en-US" sz="1430" dirty="0"/>
          </a:p>
        </p:txBody>
      </p:sp>
      <p:sp>
        <p:nvSpPr>
          <p:cNvPr id="31" name="Shape 58"/>
          <p:cNvSpPr/>
          <p:nvPr/>
        </p:nvSpPr>
        <p:spPr>
          <a:xfrm>
            <a:off x="1047750" y="7143750"/>
            <a:ext cx="16192500" cy="400050"/>
          </a:xfrm>
          <a:prstGeom prst="roundRect">
            <a:avLst>
              <a:gd name="adj" fmla="val 22857"/>
            </a:avLst>
          </a:prstGeom>
          <a:solidFill>
            <a:srgbClr val="E9B45A">
              <a:alpha val="12000"/>
            </a:srgbClr>
          </a:solidFill>
          <a:ln/>
        </p:spPr>
      </p:sp>
      <p:sp>
        <p:nvSpPr>
          <p:cNvPr id="32" name="Text 59"/>
          <p:cNvSpPr txBox="1"/>
          <p:nvPr/>
        </p:nvSpPr>
        <p:spPr>
          <a:xfrm>
            <a:off x="1276350" y="7219950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대상</a:t>
            </a:r>
            <a:endParaRPr lang="en-US" sz="1350" dirty="0"/>
          </a:p>
        </p:txBody>
      </p:sp>
      <p:sp>
        <p:nvSpPr>
          <p:cNvPr id="33" name="Text 60"/>
          <p:cNvSpPr txBox="1"/>
          <p:nvPr/>
        </p:nvSpPr>
        <p:spPr>
          <a:xfrm>
            <a:off x="4133850" y="721995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공통점</a:t>
            </a:r>
            <a:endParaRPr lang="en-US" sz="1350" dirty="0"/>
          </a:p>
        </p:txBody>
      </p:sp>
      <p:sp>
        <p:nvSpPr>
          <p:cNvPr id="34" name="Text 61"/>
          <p:cNvSpPr txBox="1"/>
          <p:nvPr/>
        </p:nvSpPr>
        <p:spPr>
          <a:xfrm>
            <a:off x="8896350" y="7219950"/>
            <a:ext cx="828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BROKEN SOVEREIGN의 차이</a:t>
            </a:r>
            <a:endParaRPr lang="en-US" sz="1350" dirty="0"/>
          </a:p>
        </p:txBody>
      </p:sp>
      <p:sp>
        <p:nvSpPr>
          <p:cNvPr id="35" name="Text 62"/>
          <p:cNvSpPr txBox="1"/>
          <p:nvPr/>
        </p:nvSpPr>
        <p:spPr>
          <a:xfrm>
            <a:off x="1276350" y="7696200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디아블로 시리즈</a:t>
            </a:r>
            <a:endParaRPr lang="en-US" sz="1430" dirty="0"/>
          </a:p>
        </p:txBody>
      </p:sp>
      <p:sp>
        <p:nvSpPr>
          <p:cNvPr id="36" name="Text 63"/>
          <p:cNvSpPr txBox="1"/>
          <p:nvPr/>
        </p:nvSpPr>
        <p:spPr>
          <a:xfrm>
            <a:off x="4133850" y="769620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쿼터뷰 핵앤슬래시</a:t>
            </a:r>
            <a:endParaRPr lang="en-US" sz="1430" dirty="0"/>
          </a:p>
        </p:txBody>
      </p:sp>
      <p:sp>
        <p:nvSpPr>
          <p:cNvPr id="37" name="Text 64"/>
          <p:cNvSpPr txBox="1"/>
          <p:nvPr/>
        </p:nvSpPr>
        <p:spPr>
          <a:xfrm>
            <a:off x="8896350" y="7696200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 없이 시작해 직업을 고르고, 그 위에 신화 영웅의 길을 얹는 2단 전직</a:t>
            </a:r>
            <a:endParaRPr lang="en-US" sz="1430" dirty="0"/>
          </a:p>
        </p:txBody>
      </p:sp>
      <p:sp>
        <p:nvSpPr>
          <p:cNvPr id="38" name="Line"/>
          <p:cNvSpPr/>
          <p:nvPr/>
        </p:nvSpPr>
        <p:spPr>
          <a:xfrm>
            <a:off x="1047750" y="8058150"/>
            <a:ext cx="161925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9" name="Text 65"/>
          <p:cNvSpPr txBox="1"/>
          <p:nvPr/>
        </p:nvSpPr>
        <p:spPr>
          <a:xfrm>
            <a:off x="1276350" y="8153400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갓 오브 워</a:t>
            </a:r>
            <a:endParaRPr lang="en-US" sz="1430" dirty="0"/>
          </a:p>
        </p:txBody>
      </p:sp>
      <p:sp>
        <p:nvSpPr>
          <p:cNvPr id="40" name="Text 66"/>
          <p:cNvSpPr txBox="1"/>
          <p:nvPr/>
        </p:nvSpPr>
        <p:spPr>
          <a:xfrm>
            <a:off x="4133850" y="815340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신화 속 신과의 전투</a:t>
            </a:r>
            <a:endParaRPr lang="en-US" sz="1430" dirty="0"/>
          </a:p>
        </p:txBody>
      </p:sp>
      <p:sp>
        <p:nvSpPr>
          <p:cNvPr id="41" name="Text 67"/>
          <p:cNvSpPr txBox="1"/>
          <p:nvPr/>
        </p:nvSpPr>
        <p:spPr>
          <a:xfrm>
            <a:off x="8896350" y="8153400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신화가 아닌 동서양 4개 신화 권역 침공</a:t>
            </a:r>
            <a:endParaRPr lang="en-US" sz="1430" dirty="0"/>
          </a:p>
        </p:txBody>
      </p:sp>
      <p:sp>
        <p:nvSpPr>
          <p:cNvPr id="42" name="Line"/>
          <p:cNvSpPr/>
          <p:nvPr/>
        </p:nvSpPr>
        <p:spPr>
          <a:xfrm>
            <a:off x="1047750" y="8515350"/>
            <a:ext cx="161925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43" name="Text 68"/>
          <p:cNvSpPr txBox="1"/>
          <p:nvPr/>
        </p:nvSpPr>
        <p:spPr>
          <a:xfrm>
            <a:off x="1276350" y="8610600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웹소설 '격' 소재</a:t>
            </a:r>
            <a:endParaRPr lang="en-US" sz="1430" dirty="0"/>
          </a:p>
        </p:txBody>
      </p:sp>
      <p:sp>
        <p:nvSpPr>
          <p:cNvPr id="44" name="Text 69"/>
          <p:cNvSpPr txBox="1"/>
          <p:nvPr/>
        </p:nvSpPr>
        <p:spPr>
          <a:xfrm>
            <a:off x="4133850" y="861060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격의 상승</a:t>
            </a:r>
            <a:endParaRPr lang="en-US" sz="1430" dirty="0"/>
          </a:p>
        </p:txBody>
      </p:sp>
      <p:sp>
        <p:nvSpPr>
          <p:cNvPr id="45" name="Text 70"/>
          <p:cNvSpPr txBox="1"/>
          <p:nvPr/>
        </p:nvSpPr>
        <p:spPr>
          <a:xfrm>
            <a:off x="8896350" y="8610600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 단계마다 전직 · 기술 슬롯 · 규칙 변화가 열리는 시스템화</a:t>
            </a:r>
            <a:endParaRPr lang="en-US" sz="1430" dirty="0"/>
          </a:p>
        </p:txBody>
      </p:sp>
      <p:sp>
        <p:nvSpPr>
          <p:cNvPr id="46" name="Line"/>
          <p:cNvSpPr/>
          <p:nvPr/>
        </p:nvSpPr>
        <p:spPr>
          <a:xfrm>
            <a:off x="1047750" y="8972550"/>
            <a:ext cx="161925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05   WORLD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세계관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신화적 다크 판타지 — 빛을 잃은 신역과 균열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05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7239000" cy="2762250"/>
          </a:xfrm>
          <a:prstGeom prst="roundRect">
            <a:avLst>
              <a:gd name="adj" fmla="val 198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9" name="Text 71"/>
          <p:cNvSpPr txBox="1"/>
          <p:nvPr/>
        </p:nvSpPr>
        <p:spPr>
          <a:xfrm>
            <a:off x="1390650" y="32575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표면의 이야기</a:t>
            </a:r>
            <a:endParaRPr lang="en-US" sz="2250" dirty="0"/>
          </a:p>
        </p:txBody>
      </p:sp>
      <p:sp>
        <p:nvSpPr>
          <p:cNvPr id="10" name="Text 72"/>
          <p:cNvSpPr txBox="1"/>
          <p:nvPr/>
        </p:nvSpPr>
        <p:spPr>
          <a:xfrm>
            <a:off x="1409700" y="3943350"/>
            <a:ext cx="85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사건</a:t>
            </a:r>
            <a:endParaRPr lang="en-US" sz="1500" dirty="0"/>
          </a:p>
        </p:txBody>
      </p:sp>
      <p:sp>
        <p:nvSpPr>
          <p:cNvPr id="11" name="Text 73"/>
          <p:cNvSpPr txBox="1"/>
          <p:nvPr/>
        </p:nvSpPr>
        <p:spPr>
          <a:xfrm>
            <a:off x="2381250" y="3924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메이저 신화의 주신들이 영웅들의 격을 수확하며 성장</a:t>
            </a:r>
            <a:endParaRPr lang="en-US" sz="1580" dirty="0"/>
          </a:p>
        </p:txBody>
      </p:sp>
      <p:sp>
        <p:nvSpPr>
          <p:cNvPr id="12" name="Text 74"/>
          <p:cNvSpPr txBox="1"/>
          <p:nvPr/>
        </p:nvSpPr>
        <p:spPr>
          <a:xfrm>
            <a:off x="1409700" y="4495800"/>
            <a:ext cx="85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주인공</a:t>
            </a:r>
            <a:endParaRPr lang="en-US" sz="1500" dirty="0"/>
          </a:p>
        </p:txBody>
      </p:sp>
      <p:sp>
        <p:nvSpPr>
          <p:cNvPr id="13" name="Text 75"/>
          <p:cNvSpPr txBox="1"/>
          <p:nvPr/>
        </p:nvSpPr>
        <p:spPr>
          <a:xfrm>
            <a:off x="2381250" y="44767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격을 빼앗기고 필멸이 된 이름 없는 영웅</a:t>
            </a:r>
            <a:endParaRPr lang="en-US" sz="1580" dirty="0"/>
          </a:p>
        </p:txBody>
      </p:sp>
      <p:sp>
        <p:nvSpPr>
          <p:cNvPr id="14" name="Text 76"/>
          <p:cNvSpPr txBox="1"/>
          <p:nvPr/>
        </p:nvSpPr>
        <p:spPr>
          <a:xfrm>
            <a:off x="1409700" y="5048250"/>
            <a:ext cx="85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15" name="Text 77"/>
          <p:cNvSpPr txBox="1"/>
          <p:nvPr/>
        </p:nvSpPr>
        <p:spPr>
          <a:xfrm>
            <a:off x="2381250" y="50292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신화 권역을 침공해 수확당한 영웅들의 격 회복</a:t>
            </a:r>
            <a:endParaRPr lang="en-US" sz="1580" dirty="0"/>
          </a:p>
        </p:txBody>
      </p:sp>
      <p:sp>
        <p:nvSpPr>
          <p:cNvPr id="16" name="Card"/>
          <p:cNvSpPr/>
          <p:nvPr/>
        </p:nvSpPr>
        <p:spPr>
          <a:xfrm>
            <a:off x="1047750" y="6019800"/>
            <a:ext cx="7239000" cy="2743200"/>
          </a:xfrm>
          <a:prstGeom prst="roundRect">
            <a:avLst>
              <a:gd name="adj" fmla="val 2000"/>
            </a:avLst>
          </a:prstGeom>
          <a:solidFill>
            <a:srgbClr val="221E2C">
              <a:alpha val="94000"/>
            </a:srgbClr>
          </a:solidFill>
          <a:ln w="9525">
            <a:solidFill>
              <a:srgbClr val="B48CFF">
                <a:alpha val="60000"/>
              </a:srgbClr>
            </a:solidFill>
            <a:prstDash val="solid"/>
          </a:ln>
        </p:spPr>
      </p:sp>
      <p:sp>
        <p:nvSpPr>
          <p:cNvPr id="17" name="Text 78"/>
          <p:cNvSpPr txBox="1"/>
          <p:nvPr/>
        </p:nvSpPr>
        <p:spPr>
          <a:xfrm>
            <a:off x="1390650" y="62293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D9C6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숨겨진 진실</a:t>
            </a:r>
            <a:endParaRPr lang="en-US" sz="2250" dirty="0"/>
          </a:p>
        </p:txBody>
      </p:sp>
      <p:sp>
        <p:nvSpPr>
          <p:cNvPr id="18" name="Diamond"/>
          <p:cNvSpPr/>
          <p:nvPr/>
        </p:nvSpPr>
        <p:spPr>
          <a:xfrm>
            <a:off x="1438275" y="7010400"/>
            <a:ext cx="95250" cy="95250"/>
          </a:xfrm>
          <a:prstGeom prst="diamond">
            <a:avLst/>
          </a:prstGeom>
          <a:solidFill>
            <a:srgbClr val="B48CFF"/>
          </a:solidFill>
          <a:ln/>
        </p:spPr>
      </p:sp>
      <p:sp>
        <p:nvSpPr>
          <p:cNvPr id="19" name="Text 79"/>
          <p:cNvSpPr txBox="1"/>
          <p:nvPr/>
        </p:nvSpPr>
        <p:spPr>
          <a:xfrm>
            <a:off x="1676400" y="6915150"/>
            <a:ext cx="638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신들이 격을 수확한 진짜 목적: 세계 밖 존재 '외해(외신)'를 막는 방벽 유지</a:t>
            </a:r>
            <a:endParaRPr lang="en-US" sz="1500" dirty="0"/>
          </a:p>
        </p:txBody>
      </p:sp>
      <p:sp>
        <p:nvSpPr>
          <p:cNvPr id="20" name="Diamond"/>
          <p:cNvSpPr/>
          <p:nvPr/>
        </p:nvSpPr>
        <p:spPr>
          <a:xfrm>
            <a:off x="1438275" y="7562850"/>
            <a:ext cx="95250" cy="95250"/>
          </a:xfrm>
          <a:prstGeom prst="diamond">
            <a:avLst/>
          </a:prstGeom>
          <a:solidFill>
            <a:srgbClr val="B48CFF"/>
          </a:solidFill>
          <a:ln/>
        </p:spPr>
      </p:sp>
      <p:sp>
        <p:nvSpPr>
          <p:cNvPr id="21" name="Text 80"/>
          <p:cNvSpPr txBox="1"/>
          <p:nvPr/>
        </p:nvSpPr>
        <p:spPr>
          <a:xfrm>
            <a:off x="1676400" y="7467600"/>
            <a:ext cx="638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주인공의 격 회복 = 방벽의 약화</a:t>
            </a:r>
            <a:endParaRPr lang="en-US" sz="1500" dirty="0"/>
          </a:p>
        </p:txBody>
      </p:sp>
      <p:sp>
        <p:nvSpPr>
          <p:cNvPr id="22" name="Diamond"/>
          <p:cNvSpPr/>
          <p:nvPr/>
        </p:nvSpPr>
        <p:spPr>
          <a:xfrm>
            <a:off x="1438275" y="8115300"/>
            <a:ext cx="95250" cy="95250"/>
          </a:xfrm>
          <a:prstGeom prst="diamond">
            <a:avLst/>
          </a:prstGeom>
          <a:solidFill>
            <a:srgbClr val="B48CFF"/>
          </a:solidFill>
          <a:ln/>
        </p:spPr>
      </p:sp>
      <p:sp>
        <p:nvSpPr>
          <p:cNvPr id="23" name="Text 81"/>
          <p:cNvSpPr txBox="1"/>
          <p:nvPr/>
        </p:nvSpPr>
        <p:spPr>
          <a:xfrm>
            <a:off x="1676400" y="8020050"/>
            <a:ext cx="638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전개: 외해의 귀환 → 엔드게임 콘텐츠로 연결</a:t>
            </a:r>
            <a:endParaRPr lang="en-US" sz="1500" dirty="0"/>
          </a:p>
        </p:txBody>
      </p:sp>
      <p:sp>
        <p:nvSpPr>
          <p:cNvPr id="24" name="Text 82"/>
          <p:cNvSpPr txBox="1"/>
          <p:nvPr/>
        </p:nvSpPr>
        <p:spPr>
          <a:xfrm>
            <a:off x="8667750" y="30099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4개 신화 권역</a:t>
            </a:r>
            <a:endParaRPr lang="en-US" sz="2250" dirty="0"/>
          </a:p>
        </p:txBody>
      </p:sp>
      <p:sp>
        <p:nvSpPr>
          <p:cNvPr id="25" name="Card"/>
          <p:cNvSpPr/>
          <p:nvPr/>
        </p:nvSpPr>
        <p:spPr>
          <a:xfrm>
            <a:off x="8667750" y="3581400"/>
            <a:ext cx="4191000" cy="2457450"/>
          </a:xfrm>
          <a:prstGeom prst="roundRect">
            <a:avLst>
              <a:gd name="adj" fmla="val 2233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85000"/>
              </a:srgbClr>
            </a:solidFill>
            <a:prstDash val="solid"/>
          </a:ln>
        </p:spPr>
      </p:sp>
      <p:sp>
        <p:nvSpPr>
          <p:cNvPr id="26" name="Text 83"/>
          <p:cNvSpPr txBox="1"/>
          <p:nvPr/>
        </p:nvSpPr>
        <p:spPr>
          <a:xfrm>
            <a:off x="9010650" y="38290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천계</a:t>
            </a:r>
            <a:endParaRPr lang="en-US" sz="2850" dirty="0"/>
          </a:p>
        </p:txBody>
      </p:sp>
      <p:sp>
        <p:nvSpPr>
          <p:cNvPr id="27" name="Text 84"/>
          <p:cNvSpPr txBox="1"/>
          <p:nvPr/>
        </p:nvSpPr>
        <p:spPr>
          <a:xfrm>
            <a:off x="9029700" y="449580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주신  옥황상제</a:t>
            </a:r>
            <a:endParaRPr lang="en-US" sz="1500" dirty="0"/>
          </a:p>
        </p:txBody>
      </p:sp>
      <p:sp>
        <p:nvSpPr>
          <p:cNvPr id="28" name="Text 85"/>
          <p:cNvSpPr txBox="1"/>
          <p:nvPr/>
        </p:nvSpPr>
        <p:spPr>
          <a:xfrm>
            <a:off x="9029700" y="4838700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중국 · 동아시아 신화</a:t>
            </a:r>
            <a:endParaRPr lang="en-US" sz="1430" dirty="0"/>
          </a:p>
        </p:txBody>
      </p:sp>
      <p:sp>
        <p:nvSpPr>
          <p:cNvPr id="29" name="Chip"/>
          <p:cNvSpPr/>
          <p:nvPr/>
        </p:nvSpPr>
        <p:spPr>
          <a:xfrm>
            <a:off x="9010650" y="5429250"/>
            <a:ext cx="1733550" cy="323850"/>
          </a:xfrm>
          <a:prstGeom prst="roundRect">
            <a:avLst>
              <a:gd name="adj" fmla="val 141176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0" name="ChipText"/>
          <p:cNvSpPr txBox="1"/>
          <p:nvPr/>
        </p:nvSpPr>
        <p:spPr>
          <a:xfrm>
            <a:off x="9010650" y="5429250"/>
            <a:ext cx="1733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권역 · 프로토타입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13049250" y="3581400"/>
            <a:ext cx="4191000" cy="2457450"/>
          </a:xfrm>
          <a:prstGeom prst="roundRect">
            <a:avLst>
              <a:gd name="adj" fmla="val 2233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8FB8FF">
                <a:alpha val="50000"/>
              </a:srgbClr>
            </a:solidFill>
            <a:prstDash val="solid"/>
          </a:ln>
        </p:spPr>
      </p:sp>
      <p:sp>
        <p:nvSpPr>
          <p:cNvPr id="32" name="Text 86"/>
          <p:cNvSpPr txBox="1"/>
          <p:nvPr/>
        </p:nvSpPr>
        <p:spPr>
          <a:xfrm>
            <a:off x="13392150" y="38290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올림포스</a:t>
            </a:r>
            <a:endParaRPr lang="en-US" sz="2850" dirty="0"/>
          </a:p>
        </p:txBody>
      </p:sp>
      <p:sp>
        <p:nvSpPr>
          <p:cNvPr id="33" name="Text 87"/>
          <p:cNvSpPr txBox="1"/>
          <p:nvPr/>
        </p:nvSpPr>
        <p:spPr>
          <a:xfrm>
            <a:off x="13411200" y="449580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8FB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주신  제우스</a:t>
            </a:r>
            <a:endParaRPr lang="en-US" sz="1500" dirty="0"/>
          </a:p>
        </p:txBody>
      </p:sp>
      <p:sp>
        <p:nvSpPr>
          <p:cNvPr id="34" name="Text 88"/>
          <p:cNvSpPr txBox="1"/>
          <p:nvPr/>
        </p:nvSpPr>
        <p:spPr>
          <a:xfrm>
            <a:off x="13411200" y="4838700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그리스 신화</a:t>
            </a:r>
            <a:endParaRPr lang="en-US" sz="1430" dirty="0"/>
          </a:p>
        </p:txBody>
      </p:sp>
      <p:sp>
        <p:nvSpPr>
          <p:cNvPr id="35" name="Text 89"/>
          <p:cNvSpPr txBox="1"/>
          <p:nvPr/>
        </p:nvSpPr>
        <p:spPr>
          <a:xfrm>
            <a:off x="13411200" y="54864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 4인 · 하위 신 · 주신</a:t>
            </a:r>
            <a:endParaRPr lang="en-US" sz="1200" dirty="0"/>
          </a:p>
        </p:txBody>
      </p:sp>
      <p:sp>
        <p:nvSpPr>
          <p:cNvPr id="36" name="Card"/>
          <p:cNvSpPr/>
          <p:nvPr/>
        </p:nvSpPr>
        <p:spPr>
          <a:xfrm>
            <a:off x="8667750" y="6229350"/>
            <a:ext cx="4191000" cy="2457450"/>
          </a:xfrm>
          <a:prstGeom prst="roundRect">
            <a:avLst>
              <a:gd name="adj" fmla="val 2233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8FD3FF">
                <a:alpha val="50000"/>
              </a:srgbClr>
            </a:solidFill>
            <a:prstDash val="solid"/>
          </a:ln>
        </p:spPr>
      </p:sp>
      <p:sp>
        <p:nvSpPr>
          <p:cNvPr id="37" name="Text 90"/>
          <p:cNvSpPr txBox="1"/>
          <p:nvPr/>
        </p:nvSpPr>
        <p:spPr>
          <a:xfrm>
            <a:off x="9010650" y="64770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북방</a:t>
            </a:r>
            <a:endParaRPr lang="en-US" sz="2850" dirty="0"/>
          </a:p>
        </p:txBody>
      </p:sp>
      <p:sp>
        <p:nvSpPr>
          <p:cNvPr id="38" name="Text 91"/>
          <p:cNvSpPr txBox="1"/>
          <p:nvPr/>
        </p:nvSpPr>
        <p:spPr>
          <a:xfrm>
            <a:off x="9029700" y="71437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8F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주신  오딘</a:t>
            </a:r>
            <a:endParaRPr lang="en-US" sz="1500" dirty="0"/>
          </a:p>
        </p:txBody>
      </p:sp>
      <p:sp>
        <p:nvSpPr>
          <p:cNvPr id="39" name="Text 92"/>
          <p:cNvSpPr txBox="1"/>
          <p:nvPr/>
        </p:nvSpPr>
        <p:spPr>
          <a:xfrm>
            <a:off x="9029700" y="7486650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북유럽 + 게르만 · 슬라브</a:t>
            </a:r>
            <a:endParaRPr lang="en-US" sz="1430" dirty="0"/>
          </a:p>
        </p:txBody>
      </p:sp>
      <p:sp>
        <p:nvSpPr>
          <p:cNvPr id="40" name="Text 93"/>
          <p:cNvSpPr txBox="1"/>
          <p:nvPr/>
        </p:nvSpPr>
        <p:spPr>
          <a:xfrm>
            <a:off x="9029700" y="813435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 4인 · 하위 신 · 주신</a:t>
            </a:r>
            <a:endParaRPr lang="en-US" sz="1200" dirty="0"/>
          </a:p>
        </p:txBody>
      </p:sp>
      <p:sp>
        <p:nvSpPr>
          <p:cNvPr id="41" name="Card"/>
          <p:cNvSpPr/>
          <p:nvPr/>
        </p:nvSpPr>
        <p:spPr>
          <a:xfrm>
            <a:off x="13049250" y="6229350"/>
            <a:ext cx="4191000" cy="2457450"/>
          </a:xfrm>
          <a:prstGeom prst="roundRect">
            <a:avLst>
              <a:gd name="adj" fmla="val 2233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5FB36A">
                <a:alpha val="50000"/>
              </a:srgbClr>
            </a:solidFill>
            <a:prstDash val="solid"/>
          </a:ln>
        </p:spPr>
      </p:sp>
      <p:sp>
        <p:nvSpPr>
          <p:cNvPr id="42" name="Text 94"/>
          <p:cNvSpPr txBox="1"/>
          <p:nvPr/>
        </p:nvSpPr>
        <p:spPr>
          <a:xfrm>
            <a:off x="13392150" y="64770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티르 나 노그</a:t>
            </a:r>
            <a:endParaRPr lang="en-US" sz="2850" dirty="0"/>
          </a:p>
        </p:txBody>
      </p:sp>
      <p:sp>
        <p:nvSpPr>
          <p:cNvPr id="43" name="Text 95"/>
          <p:cNvSpPr txBox="1"/>
          <p:nvPr/>
        </p:nvSpPr>
        <p:spPr>
          <a:xfrm>
            <a:off x="13411200" y="71437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FB3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주신  루</a:t>
            </a:r>
            <a:endParaRPr lang="en-US" sz="1500" dirty="0"/>
          </a:p>
        </p:txBody>
      </p:sp>
      <p:sp>
        <p:nvSpPr>
          <p:cNvPr id="44" name="Text 96"/>
          <p:cNvSpPr txBox="1"/>
          <p:nvPr/>
        </p:nvSpPr>
        <p:spPr>
          <a:xfrm>
            <a:off x="13411200" y="7486650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켈트 + 아서왕 전설</a:t>
            </a:r>
            <a:endParaRPr lang="en-US" sz="1430" dirty="0"/>
          </a:p>
        </p:txBody>
      </p:sp>
      <p:sp>
        <p:nvSpPr>
          <p:cNvPr id="45" name="Text 97"/>
          <p:cNvSpPr txBox="1"/>
          <p:nvPr/>
        </p:nvSpPr>
        <p:spPr>
          <a:xfrm>
            <a:off x="13411200" y="813435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 4인 · 하위 신 · 주신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06   ASCENSION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격(格) 위계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빼앗긴 격을 한 단계씩 되찾을 때마다 전직 · 기술 슬롯 · 규칙이 열림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06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66800" y="5905500"/>
            <a:ext cx="2533650" cy="2667000"/>
          </a:xfrm>
          <a:prstGeom prst="roundRect">
            <a:avLst>
              <a:gd name="adj" fmla="val 2165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85000"/>
              </a:srgbClr>
            </a:solidFill>
            <a:prstDash val="solid"/>
          </a:ln>
        </p:spPr>
      </p:sp>
      <p:sp>
        <p:nvSpPr>
          <p:cNvPr id="9" name="Line"/>
          <p:cNvSpPr/>
          <p:nvPr/>
        </p:nvSpPr>
        <p:spPr>
          <a:xfrm>
            <a:off x="1143000" y="5915025"/>
            <a:ext cx="2381250" cy="95"/>
          </a:xfrm>
          <a:prstGeom prst="line">
            <a:avLst/>
          </a:prstGeom>
          <a:noFill/>
          <a:ln w="28575">
            <a:solidFill>
              <a:srgbClr val="E9B45A">
                <a:alpha val="95000"/>
              </a:srgbClr>
            </a:solidFill>
            <a:prstDash val="solid"/>
          </a:ln>
        </p:spPr>
      </p:sp>
      <p:sp>
        <p:nvSpPr>
          <p:cNvPr id="10" name="Text 98"/>
          <p:cNvSpPr txBox="1"/>
          <p:nvPr/>
        </p:nvSpPr>
        <p:spPr>
          <a:xfrm>
            <a:off x="1295400" y="60960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</a:t>
            </a:r>
            <a:endParaRPr lang="en-US" sz="1950" dirty="0"/>
          </a:p>
        </p:txBody>
      </p:sp>
      <p:sp>
        <p:nvSpPr>
          <p:cNvPr id="11" name="Text 99"/>
          <p:cNvSpPr txBox="1"/>
          <p:nvPr/>
        </p:nvSpPr>
        <p:spPr>
          <a:xfrm>
            <a:off x="1295400" y="64389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범인</a:t>
            </a:r>
            <a:endParaRPr lang="en-US" sz="3450" dirty="0"/>
          </a:p>
        </p:txBody>
      </p:sp>
      <p:sp>
        <p:nvSpPr>
          <p:cNvPr id="12" name="Text 100"/>
          <p:cNvSpPr txBox="1"/>
          <p:nvPr/>
        </p:nvSpPr>
        <p:spPr>
          <a:xfrm>
            <a:off x="1295400" y="7162800"/>
            <a:ext cx="2076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직업 선택</a:t>
            </a:r>
            <a:endParaRPr lang="en-US" sz="1430" dirty="0"/>
          </a:p>
        </p:txBody>
      </p:sp>
      <p:sp>
        <p:nvSpPr>
          <p:cNvPr id="13" name="Chip"/>
          <p:cNvSpPr/>
          <p:nvPr/>
        </p:nvSpPr>
        <p:spPr>
          <a:xfrm>
            <a:off x="1295400" y="8001000"/>
            <a:ext cx="1866900" cy="323850"/>
          </a:xfrm>
          <a:prstGeom prst="roundRect">
            <a:avLst>
              <a:gd name="adj" fmla="val 141176"/>
            </a:avLst>
          </a:prstGeom>
          <a:solidFill>
            <a:srgbClr val="2A2418"/>
          </a:solidFill>
          <a:ln w="952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14" name="ChipText"/>
          <p:cNvSpPr txBox="1"/>
          <p:nvPr/>
        </p:nvSpPr>
        <p:spPr>
          <a:xfrm>
            <a:off x="1295400" y="8001000"/>
            <a:ext cx="1866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 좌 · 우클릭 · 1 · 2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3790950" y="5372100"/>
            <a:ext cx="2533650" cy="3200400"/>
          </a:xfrm>
          <a:prstGeom prst="roundRect">
            <a:avLst>
              <a:gd name="adj" fmla="val 2165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85000"/>
              </a:srgbClr>
            </a:solidFill>
            <a:prstDash val="solid"/>
          </a:ln>
        </p:spPr>
      </p:sp>
      <p:sp>
        <p:nvSpPr>
          <p:cNvPr id="16" name="Line"/>
          <p:cNvSpPr/>
          <p:nvPr/>
        </p:nvSpPr>
        <p:spPr>
          <a:xfrm>
            <a:off x="3867150" y="5381625"/>
            <a:ext cx="2381250" cy="95"/>
          </a:xfrm>
          <a:prstGeom prst="line">
            <a:avLst/>
          </a:prstGeom>
          <a:noFill/>
          <a:ln w="28575">
            <a:solidFill>
              <a:srgbClr val="E9B45A">
                <a:alpha val="95000"/>
              </a:srgbClr>
            </a:solidFill>
            <a:prstDash val="solid"/>
          </a:ln>
        </p:spPr>
      </p:sp>
      <p:sp>
        <p:nvSpPr>
          <p:cNvPr id="17" name="Text 101"/>
          <p:cNvSpPr txBox="1"/>
          <p:nvPr/>
        </p:nvSpPr>
        <p:spPr>
          <a:xfrm>
            <a:off x="4019550" y="55626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II</a:t>
            </a:r>
            <a:endParaRPr lang="en-US" sz="1950" dirty="0"/>
          </a:p>
        </p:txBody>
      </p:sp>
      <p:sp>
        <p:nvSpPr>
          <p:cNvPr id="18" name="Text 102"/>
          <p:cNvSpPr txBox="1"/>
          <p:nvPr/>
        </p:nvSpPr>
        <p:spPr>
          <a:xfrm>
            <a:off x="4019550" y="59055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초인</a:t>
            </a:r>
            <a:endParaRPr lang="en-US" sz="3450" dirty="0"/>
          </a:p>
        </p:txBody>
      </p:sp>
      <p:sp>
        <p:nvSpPr>
          <p:cNvPr id="19" name="Text 103"/>
          <p:cNvSpPr txBox="1"/>
          <p:nvPr/>
        </p:nvSpPr>
        <p:spPr>
          <a:xfrm>
            <a:off x="4019550" y="6629400"/>
            <a:ext cx="2076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직업 전직</a:t>
            </a:r>
            <a:endParaRPr lang="en-US" sz="1430" dirty="0"/>
          </a:p>
        </p:txBody>
      </p:sp>
      <p:sp>
        <p:nvSpPr>
          <p:cNvPr id="20" name="Chip"/>
          <p:cNvSpPr/>
          <p:nvPr/>
        </p:nvSpPr>
        <p:spPr>
          <a:xfrm>
            <a:off x="4019550" y="8001000"/>
            <a:ext cx="619125" cy="323850"/>
          </a:xfrm>
          <a:prstGeom prst="roundRect">
            <a:avLst>
              <a:gd name="adj" fmla="val 141176"/>
            </a:avLst>
          </a:prstGeom>
          <a:solidFill>
            <a:srgbClr val="2A2418"/>
          </a:solidFill>
          <a:ln w="952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21" name="ChipText"/>
          <p:cNvSpPr txBox="1"/>
          <p:nvPr/>
        </p:nvSpPr>
        <p:spPr>
          <a:xfrm>
            <a:off x="4019550" y="8001000"/>
            <a:ext cx="619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 3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6515100" y="4838700"/>
            <a:ext cx="2533650" cy="3733800"/>
          </a:xfrm>
          <a:prstGeom prst="roundRect">
            <a:avLst>
              <a:gd name="adj" fmla="val 2165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85000"/>
              </a:srgbClr>
            </a:solidFill>
            <a:prstDash val="solid"/>
          </a:ln>
        </p:spPr>
      </p:sp>
      <p:sp>
        <p:nvSpPr>
          <p:cNvPr id="23" name="Line"/>
          <p:cNvSpPr/>
          <p:nvPr/>
        </p:nvSpPr>
        <p:spPr>
          <a:xfrm>
            <a:off x="6591300" y="4848225"/>
            <a:ext cx="2381250" cy="95"/>
          </a:xfrm>
          <a:prstGeom prst="line">
            <a:avLst/>
          </a:prstGeom>
          <a:noFill/>
          <a:ln w="28575">
            <a:solidFill>
              <a:srgbClr val="E9B45A">
                <a:alpha val="95000"/>
              </a:srgbClr>
            </a:solidFill>
            <a:prstDash val="solid"/>
          </a:ln>
        </p:spPr>
      </p:sp>
      <p:sp>
        <p:nvSpPr>
          <p:cNvPr id="24" name="Text 104"/>
          <p:cNvSpPr txBox="1"/>
          <p:nvPr/>
        </p:nvSpPr>
        <p:spPr>
          <a:xfrm>
            <a:off x="6743700" y="50292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III</a:t>
            </a:r>
            <a:endParaRPr lang="en-US" sz="1950" dirty="0"/>
          </a:p>
        </p:txBody>
      </p:sp>
      <p:sp>
        <p:nvSpPr>
          <p:cNvPr id="25" name="Text 105"/>
          <p:cNvSpPr txBox="1"/>
          <p:nvPr/>
        </p:nvSpPr>
        <p:spPr>
          <a:xfrm>
            <a:off x="6743700" y="53721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반신</a:t>
            </a:r>
            <a:endParaRPr lang="en-US" sz="3450" dirty="0"/>
          </a:p>
        </p:txBody>
      </p:sp>
      <p:sp>
        <p:nvSpPr>
          <p:cNvPr id="26" name="Text 106"/>
          <p:cNvSpPr txBox="1"/>
          <p:nvPr/>
        </p:nvSpPr>
        <p:spPr>
          <a:xfrm>
            <a:off x="6743700" y="6096000"/>
            <a:ext cx="2076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선택</a:t>
            </a:r>
            <a:endParaRPr lang="en-US" sz="14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성물 1단계 각성</a:t>
            </a:r>
            <a:endParaRPr lang="en-US" sz="1430" dirty="0"/>
          </a:p>
        </p:txBody>
      </p:sp>
      <p:sp>
        <p:nvSpPr>
          <p:cNvPr id="27" name="Chip"/>
          <p:cNvSpPr/>
          <p:nvPr/>
        </p:nvSpPr>
        <p:spPr>
          <a:xfrm>
            <a:off x="6743700" y="8001000"/>
            <a:ext cx="619125" cy="323850"/>
          </a:xfrm>
          <a:prstGeom prst="roundRect">
            <a:avLst>
              <a:gd name="adj" fmla="val 141176"/>
            </a:avLst>
          </a:prstGeom>
          <a:solidFill>
            <a:srgbClr val="2A2418"/>
          </a:solidFill>
          <a:ln w="952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28" name="ChipText"/>
          <p:cNvSpPr txBox="1"/>
          <p:nvPr/>
        </p:nvSpPr>
        <p:spPr>
          <a:xfrm>
            <a:off x="6743700" y="8001000"/>
            <a:ext cx="619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 4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9239250" y="4305300"/>
            <a:ext cx="2533650" cy="4267200"/>
          </a:xfrm>
          <a:prstGeom prst="roundRect">
            <a:avLst>
              <a:gd name="adj" fmla="val 216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30" name="Line"/>
          <p:cNvSpPr/>
          <p:nvPr/>
        </p:nvSpPr>
        <p:spPr>
          <a:xfrm>
            <a:off x="9315450" y="4314825"/>
            <a:ext cx="2381250" cy="95"/>
          </a:xfrm>
          <a:prstGeom prst="line">
            <a:avLst/>
          </a:prstGeom>
          <a:noFill/>
          <a:ln w="285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31" name="Text 107"/>
          <p:cNvSpPr txBox="1"/>
          <p:nvPr/>
        </p:nvSpPr>
        <p:spPr>
          <a:xfrm>
            <a:off x="9467850" y="44958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9B45A">
                    <a:alpha val="60000"/>
                  </a:srgbClr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IV</a:t>
            </a:r>
            <a:endParaRPr lang="en-US" sz="1950" dirty="0"/>
          </a:p>
        </p:txBody>
      </p:sp>
      <p:sp>
        <p:nvSpPr>
          <p:cNvPr id="32" name="Text 108"/>
          <p:cNvSpPr txBox="1"/>
          <p:nvPr/>
        </p:nvSpPr>
        <p:spPr>
          <a:xfrm>
            <a:off x="9467850" y="48387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신격</a:t>
            </a:r>
            <a:endParaRPr lang="en-US" sz="3450" dirty="0"/>
          </a:p>
        </p:txBody>
      </p:sp>
      <p:sp>
        <p:nvSpPr>
          <p:cNvPr id="33" name="Text 109"/>
          <p:cNvSpPr txBox="1"/>
          <p:nvPr/>
        </p:nvSpPr>
        <p:spPr>
          <a:xfrm>
            <a:off x="9467850" y="5562600"/>
            <a:ext cx="2076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길의 완성 (각성)</a:t>
            </a:r>
            <a:endParaRPr lang="en-US" sz="1430" dirty="0"/>
          </a:p>
        </p:txBody>
      </p:sp>
      <p:sp>
        <p:nvSpPr>
          <p:cNvPr id="34" name="Chip"/>
          <p:cNvSpPr/>
          <p:nvPr/>
        </p:nvSpPr>
        <p:spPr>
          <a:xfrm>
            <a:off x="9467850" y="8001000"/>
            <a:ext cx="619125" cy="323850"/>
          </a:xfrm>
          <a:prstGeom prst="roundRect">
            <a:avLst>
              <a:gd name="adj" fmla="val 141176"/>
            </a:avLst>
          </a:prstGeom>
          <a:solidFill>
            <a:srgbClr val="1A1B21"/>
          </a:solidFill>
          <a:ln w="952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35" name="ChipText"/>
          <p:cNvSpPr txBox="1"/>
          <p:nvPr/>
        </p:nvSpPr>
        <p:spPr>
          <a:xfrm>
            <a:off x="9467850" y="8001000"/>
            <a:ext cx="619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 5</a:t>
            </a:r>
            <a:endParaRPr lang="en-US" sz="1200" dirty="0"/>
          </a:p>
        </p:txBody>
      </p:sp>
      <p:sp>
        <p:nvSpPr>
          <p:cNvPr id="36" name="Card"/>
          <p:cNvSpPr/>
          <p:nvPr/>
        </p:nvSpPr>
        <p:spPr>
          <a:xfrm>
            <a:off x="11963400" y="3771900"/>
            <a:ext cx="2533650" cy="4800600"/>
          </a:xfrm>
          <a:prstGeom prst="roundRect">
            <a:avLst>
              <a:gd name="adj" fmla="val 216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37" name="Line"/>
          <p:cNvSpPr/>
          <p:nvPr/>
        </p:nvSpPr>
        <p:spPr>
          <a:xfrm>
            <a:off x="12039600" y="3781425"/>
            <a:ext cx="2381250" cy="95"/>
          </a:xfrm>
          <a:prstGeom prst="line">
            <a:avLst/>
          </a:prstGeom>
          <a:noFill/>
          <a:ln w="285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38" name="Text 110"/>
          <p:cNvSpPr txBox="1"/>
          <p:nvPr/>
        </p:nvSpPr>
        <p:spPr>
          <a:xfrm>
            <a:off x="12192000" y="39624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9B45A">
                    <a:alpha val="60000"/>
                  </a:srgbClr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</a:t>
            </a:r>
            <a:endParaRPr lang="en-US" sz="1950" dirty="0"/>
          </a:p>
        </p:txBody>
      </p:sp>
      <p:sp>
        <p:nvSpPr>
          <p:cNvPr id="39" name="Text 111"/>
          <p:cNvSpPr txBox="1"/>
          <p:nvPr/>
        </p:nvSpPr>
        <p:spPr>
          <a:xfrm>
            <a:off x="12192000" y="43053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초월</a:t>
            </a:r>
            <a:endParaRPr lang="en-US" sz="3450" dirty="0"/>
          </a:p>
        </p:txBody>
      </p:sp>
      <p:sp>
        <p:nvSpPr>
          <p:cNvPr id="40" name="Text 112"/>
          <p:cNvSpPr txBox="1"/>
          <p:nvPr/>
        </p:nvSpPr>
        <p:spPr>
          <a:xfrm>
            <a:off x="12192000" y="5029200"/>
            <a:ext cx="2076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초월 Ⅰ~Ⅲ</a:t>
            </a:r>
            <a:endParaRPr lang="en-US" sz="14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작동 규칙 자체 변화</a:t>
            </a:r>
            <a:endParaRPr lang="en-US" sz="1430" dirty="0"/>
          </a:p>
        </p:txBody>
      </p:sp>
      <p:sp>
        <p:nvSpPr>
          <p:cNvPr id="41" name="Chip"/>
          <p:cNvSpPr/>
          <p:nvPr/>
        </p:nvSpPr>
        <p:spPr>
          <a:xfrm>
            <a:off x="12192000" y="8001000"/>
            <a:ext cx="619125" cy="323850"/>
          </a:xfrm>
          <a:prstGeom prst="roundRect">
            <a:avLst>
              <a:gd name="adj" fmla="val 141176"/>
            </a:avLst>
          </a:prstGeom>
          <a:solidFill>
            <a:srgbClr val="1A1B21"/>
          </a:solidFill>
          <a:ln w="952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42" name="ChipText"/>
          <p:cNvSpPr txBox="1"/>
          <p:nvPr/>
        </p:nvSpPr>
        <p:spPr>
          <a:xfrm>
            <a:off x="12192000" y="8001000"/>
            <a:ext cx="619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 —</a:t>
            </a:r>
            <a:endParaRPr lang="en-US" sz="1200" dirty="0"/>
          </a:p>
        </p:txBody>
      </p:sp>
      <p:sp>
        <p:nvSpPr>
          <p:cNvPr id="43" name="Card"/>
          <p:cNvSpPr/>
          <p:nvPr/>
        </p:nvSpPr>
        <p:spPr>
          <a:xfrm>
            <a:off x="14687550" y="3238500"/>
            <a:ext cx="2533650" cy="5334000"/>
          </a:xfrm>
          <a:prstGeom prst="roundRect">
            <a:avLst>
              <a:gd name="adj" fmla="val 216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44" name="Line"/>
          <p:cNvSpPr/>
          <p:nvPr/>
        </p:nvSpPr>
        <p:spPr>
          <a:xfrm>
            <a:off x="14763750" y="3248025"/>
            <a:ext cx="2381250" cy="95"/>
          </a:xfrm>
          <a:prstGeom prst="line">
            <a:avLst/>
          </a:prstGeom>
          <a:noFill/>
          <a:ln w="285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45" name="Text 113"/>
          <p:cNvSpPr txBox="1"/>
          <p:nvPr/>
        </p:nvSpPr>
        <p:spPr>
          <a:xfrm>
            <a:off x="14916150" y="34290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9B45A">
                    <a:alpha val="60000"/>
                  </a:srgbClr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VI</a:t>
            </a:r>
            <a:endParaRPr lang="en-US" sz="1950" dirty="0"/>
          </a:p>
        </p:txBody>
      </p:sp>
      <p:sp>
        <p:nvSpPr>
          <p:cNvPr id="46" name="Text 114"/>
          <p:cNvSpPr txBox="1"/>
          <p:nvPr/>
        </p:nvSpPr>
        <p:spPr>
          <a:xfrm>
            <a:off x="14916150" y="37719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태초</a:t>
            </a:r>
            <a:endParaRPr lang="en-US" sz="3450" dirty="0"/>
          </a:p>
        </p:txBody>
      </p:sp>
      <p:sp>
        <p:nvSpPr>
          <p:cNvPr id="47" name="Text 115"/>
          <p:cNvSpPr txBox="1"/>
          <p:nvPr/>
        </p:nvSpPr>
        <p:spPr>
          <a:xfrm>
            <a:off x="14916150" y="4495800"/>
            <a:ext cx="2076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태초 궁극기</a:t>
            </a:r>
            <a:endParaRPr lang="en-US" sz="14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(액티브 · 패시브)</a:t>
            </a:r>
            <a:endParaRPr lang="en-US" sz="1430" dirty="0"/>
          </a:p>
        </p:txBody>
      </p:sp>
      <p:sp>
        <p:nvSpPr>
          <p:cNvPr id="48" name="Chip"/>
          <p:cNvSpPr/>
          <p:nvPr/>
        </p:nvSpPr>
        <p:spPr>
          <a:xfrm>
            <a:off x="14916150" y="8001000"/>
            <a:ext cx="619125" cy="323850"/>
          </a:xfrm>
          <a:prstGeom prst="roundRect">
            <a:avLst>
              <a:gd name="adj" fmla="val 141176"/>
            </a:avLst>
          </a:prstGeom>
          <a:solidFill>
            <a:srgbClr val="1A1B21"/>
          </a:solidFill>
          <a:ln w="952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49" name="ChipText"/>
          <p:cNvSpPr txBox="1"/>
          <p:nvPr/>
        </p:nvSpPr>
        <p:spPr>
          <a:xfrm>
            <a:off x="14916150" y="8001000"/>
            <a:ext cx="619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 6</a:t>
            </a:r>
            <a:endParaRPr lang="en-US" sz="1200" dirty="0"/>
          </a:p>
        </p:txBody>
      </p:sp>
      <p:sp>
        <p:nvSpPr>
          <p:cNvPr id="50" name="Line"/>
          <p:cNvSpPr/>
          <p:nvPr/>
        </p:nvSpPr>
        <p:spPr>
          <a:xfrm>
            <a:off x="1066800" y="4305300"/>
            <a:ext cx="79819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51" name="Line"/>
          <p:cNvSpPr/>
          <p:nvPr/>
        </p:nvSpPr>
        <p:spPr>
          <a:xfrm>
            <a:off x="1066800" y="4305300"/>
            <a:ext cx="95" cy="171450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52" name="Line"/>
          <p:cNvSpPr/>
          <p:nvPr/>
        </p:nvSpPr>
        <p:spPr>
          <a:xfrm>
            <a:off x="9048750" y="4305300"/>
            <a:ext cx="95" cy="171450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53" name="Chip"/>
          <p:cNvSpPr/>
          <p:nvPr/>
        </p:nvSpPr>
        <p:spPr>
          <a:xfrm>
            <a:off x="4010025" y="3810000"/>
            <a:ext cx="1933575" cy="361950"/>
          </a:xfrm>
          <a:prstGeom prst="roundRect">
            <a:avLst>
              <a:gd name="adj" fmla="val 126316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54" name="ChipText"/>
          <p:cNvSpPr txBox="1"/>
          <p:nvPr/>
        </p:nvSpPr>
        <p:spPr>
          <a:xfrm>
            <a:off x="4010025" y="3810000"/>
            <a:ext cx="19335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구현 범위</a:t>
            </a:r>
            <a:endParaRPr lang="en-US" sz="1350" dirty="0"/>
          </a:p>
        </p:txBody>
      </p:sp>
      <p:sp>
        <p:nvSpPr>
          <p:cNvPr id="55" name="Text 116"/>
          <p:cNvSpPr txBox="1"/>
          <p:nvPr/>
        </p:nvSpPr>
        <p:spPr>
          <a:xfrm>
            <a:off x="1066800" y="8801100"/>
            <a:ext cx="1619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돌파 조건: 신물 보유 수 + 스탯 총합 + 주 스탯(총합의 40%) + 시련 업적   ·   프로토타입은 레벨 · 처치 위주로 단순화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07   CLASS &amp; HERO PATH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직업과 영웅의 길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 없이 시작 → 1차 직업 4 → 2차 직업 8 → 신화 원형 영웅의 길 16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07 / 23</a:t>
            </a:r>
            <a:endParaRPr lang="en-US" sz="1200" dirty="0"/>
          </a:p>
        </p:txBody>
      </p:sp>
      <p:sp>
        <p:nvSpPr>
          <p:cNvPr id="8" name="Text 117"/>
          <p:cNvSpPr txBox="1"/>
          <p:nvPr/>
        </p:nvSpPr>
        <p:spPr>
          <a:xfrm>
            <a:off x="1047750" y="29718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직업 · 범인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1047750" y="3257550"/>
            <a:ext cx="3905250" cy="876300"/>
          </a:xfrm>
          <a:prstGeom prst="roundRect">
            <a:avLst>
              <a:gd name="adj" fmla="val 626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10" name="Text 118"/>
          <p:cNvSpPr txBox="1"/>
          <p:nvPr/>
        </p:nvSpPr>
        <p:spPr>
          <a:xfrm>
            <a:off x="1314450" y="3390900"/>
            <a:ext cx="238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무사</a:t>
            </a:r>
            <a:endParaRPr lang="en-US" sz="2400" dirty="0"/>
          </a:p>
        </p:txBody>
      </p:sp>
      <p:sp>
        <p:nvSpPr>
          <p:cNvPr id="11" name="Chip"/>
          <p:cNvSpPr/>
          <p:nvPr/>
        </p:nvSpPr>
        <p:spPr>
          <a:xfrm>
            <a:off x="4095750" y="3505200"/>
            <a:ext cx="552450" cy="304800"/>
          </a:xfrm>
          <a:prstGeom prst="roundRect">
            <a:avLst>
              <a:gd name="adj" fmla="val 150000"/>
            </a:avLst>
          </a:prstGeom>
          <a:solidFill>
            <a:srgbClr val="1A1B21"/>
          </a:solidFill>
          <a:ln w="9525">
            <a:solidFill>
              <a:srgbClr val="E9B45A">
                <a:alpha val="35000"/>
              </a:srgbClr>
            </a:solidFill>
            <a:prstDash val="solid"/>
          </a:ln>
        </p:spPr>
      </p:sp>
      <p:sp>
        <p:nvSpPr>
          <p:cNvPr id="12" name="ChipText"/>
          <p:cNvSpPr txBox="1"/>
          <p:nvPr/>
        </p:nvSpPr>
        <p:spPr>
          <a:xfrm>
            <a:off x="4095750" y="3505200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투기</a:t>
            </a:r>
            <a:endParaRPr lang="en-US" sz="1130" dirty="0"/>
          </a:p>
        </p:txBody>
      </p:sp>
      <p:sp>
        <p:nvSpPr>
          <p:cNvPr id="13" name="Line"/>
          <p:cNvSpPr/>
          <p:nvPr/>
        </p:nvSpPr>
        <p:spPr>
          <a:xfrm>
            <a:off x="3000375" y="4133850"/>
            <a:ext cx="95" cy="20955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14" name="Line"/>
          <p:cNvSpPr/>
          <p:nvPr/>
        </p:nvSpPr>
        <p:spPr>
          <a:xfrm>
            <a:off x="1971675" y="4343400"/>
            <a:ext cx="2047875" cy="95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15" name="Line"/>
          <p:cNvSpPr/>
          <p:nvPr/>
        </p:nvSpPr>
        <p:spPr>
          <a:xfrm>
            <a:off x="1971675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1047750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17" name="Text 119"/>
          <p:cNvSpPr txBox="1"/>
          <p:nvPr/>
        </p:nvSpPr>
        <p:spPr>
          <a:xfrm>
            <a:off x="1047750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창사</a:t>
            </a:r>
            <a:endParaRPr lang="en-US" sz="1800" dirty="0"/>
          </a:p>
        </p:txBody>
      </p:sp>
      <p:sp>
        <p:nvSpPr>
          <p:cNvPr id="18" name="Line"/>
          <p:cNvSpPr/>
          <p:nvPr/>
        </p:nvSpPr>
        <p:spPr>
          <a:xfrm>
            <a:off x="1971675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19" name="Card"/>
          <p:cNvSpPr/>
          <p:nvPr/>
        </p:nvSpPr>
        <p:spPr>
          <a:xfrm>
            <a:off x="1047750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1C1D23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20" name="Text 120"/>
          <p:cNvSpPr txBox="1"/>
          <p:nvPr/>
        </p:nvSpPr>
        <p:spPr>
          <a:xfrm>
            <a:off x="1047750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×2</a:t>
            </a:r>
            <a:endParaRPr lang="en-US" sz="1280" dirty="0"/>
          </a:p>
        </p:txBody>
      </p:sp>
      <p:sp>
        <p:nvSpPr>
          <p:cNvPr id="21" name="Line"/>
          <p:cNvSpPr/>
          <p:nvPr/>
        </p:nvSpPr>
        <p:spPr>
          <a:xfrm>
            <a:off x="4019550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3095625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23" name="Text 121"/>
          <p:cNvSpPr txBox="1"/>
          <p:nvPr/>
        </p:nvSpPr>
        <p:spPr>
          <a:xfrm>
            <a:off x="3095625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검사</a:t>
            </a:r>
            <a:endParaRPr lang="en-US" sz="1800" dirty="0"/>
          </a:p>
        </p:txBody>
      </p:sp>
      <p:sp>
        <p:nvSpPr>
          <p:cNvPr id="24" name="Line"/>
          <p:cNvSpPr/>
          <p:nvPr/>
        </p:nvSpPr>
        <p:spPr>
          <a:xfrm>
            <a:off x="4019550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25" name="Card"/>
          <p:cNvSpPr/>
          <p:nvPr/>
        </p:nvSpPr>
        <p:spPr>
          <a:xfrm>
            <a:off x="3095625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1C1D23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26" name="Text 122"/>
          <p:cNvSpPr txBox="1"/>
          <p:nvPr/>
        </p:nvSpPr>
        <p:spPr>
          <a:xfrm>
            <a:off x="3095625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×2</a:t>
            </a:r>
            <a:endParaRPr lang="en-US" sz="1280" dirty="0"/>
          </a:p>
        </p:txBody>
      </p:sp>
      <p:sp>
        <p:nvSpPr>
          <p:cNvPr id="27" name="Card"/>
          <p:cNvSpPr/>
          <p:nvPr/>
        </p:nvSpPr>
        <p:spPr>
          <a:xfrm>
            <a:off x="5143500" y="3257550"/>
            <a:ext cx="3905250" cy="876300"/>
          </a:xfrm>
          <a:prstGeom prst="roundRect">
            <a:avLst>
              <a:gd name="adj" fmla="val 6261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90000"/>
              </a:srgbClr>
            </a:solidFill>
            <a:prstDash val="solid"/>
          </a:ln>
        </p:spPr>
      </p:sp>
      <p:sp>
        <p:nvSpPr>
          <p:cNvPr id="28" name="Text 123"/>
          <p:cNvSpPr txBox="1"/>
          <p:nvPr/>
        </p:nvSpPr>
        <p:spPr>
          <a:xfrm>
            <a:off x="5410200" y="3390900"/>
            <a:ext cx="238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성기사</a:t>
            </a:r>
            <a:endParaRPr lang="en-US" sz="2400" dirty="0"/>
          </a:p>
        </p:txBody>
      </p:sp>
      <p:sp>
        <p:nvSpPr>
          <p:cNvPr id="29" name="Chip"/>
          <p:cNvSpPr/>
          <p:nvPr/>
        </p:nvSpPr>
        <p:spPr>
          <a:xfrm>
            <a:off x="8191500" y="3505200"/>
            <a:ext cx="552450" cy="304800"/>
          </a:xfrm>
          <a:prstGeom prst="roundRect">
            <a:avLst>
              <a:gd name="adj" fmla="val 150000"/>
            </a:avLst>
          </a:prstGeom>
          <a:solidFill>
            <a:srgbClr val="1A1B21"/>
          </a:solidFill>
          <a:ln w="9525">
            <a:solidFill>
              <a:srgbClr val="E9B45A">
                <a:alpha val="35000"/>
              </a:srgbClr>
            </a:solidFill>
            <a:prstDash val="solid"/>
          </a:ln>
        </p:spPr>
      </p:sp>
      <p:sp>
        <p:nvSpPr>
          <p:cNvPr id="30" name="ChipText"/>
          <p:cNvSpPr txBox="1"/>
          <p:nvPr/>
        </p:nvSpPr>
        <p:spPr>
          <a:xfrm>
            <a:off x="8191500" y="3505200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신앙</a:t>
            </a:r>
            <a:endParaRPr lang="en-US" sz="1130" dirty="0"/>
          </a:p>
        </p:txBody>
      </p:sp>
      <p:sp>
        <p:nvSpPr>
          <p:cNvPr id="31" name="Line"/>
          <p:cNvSpPr/>
          <p:nvPr/>
        </p:nvSpPr>
        <p:spPr>
          <a:xfrm>
            <a:off x="7096125" y="4133850"/>
            <a:ext cx="95" cy="20955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32" name="Line"/>
          <p:cNvSpPr/>
          <p:nvPr/>
        </p:nvSpPr>
        <p:spPr>
          <a:xfrm>
            <a:off x="6067425" y="4343400"/>
            <a:ext cx="2047875" cy="95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33" name="Line"/>
          <p:cNvSpPr/>
          <p:nvPr/>
        </p:nvSpPr>
        <p:spPr>
          <a:xfrm>
            <a:off x="6067425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34" name="Card"/>
          <p:cNvSpPr/>
          <p:nvPr/>
        </p:nvSpPr>
        <p:spPr>
          <a:xfrm>
            <a:off x="5143500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35" name="Text 124"/>
          <p:cNvSpPr txBox="1"/>
          <p:nvPr/>
        </p:nvSpPr>
        <p:spPr>
          <a:xfrm>
            <a:off x="5143500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심판관</a:t>
            </a:r>
            <a:endParaRPr lang="en-US" sz="1800" dirty="0"/>
          </a:p>
        </p:txBody>
      </p:sp>
      <p:sp>
        <p:nvSpPr>
          <p:cNvPr id="36" name="Line"/>
          <p:cNvSpPr/>
          <p:nvPr/>
        </p:nvSpPr>
        <p:spPr>
          <a:xfrm>
            <a:off x="6067425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37" name="Card"/>
          <p:cNvSpPr/>
          <p:nvPr/>
        </p:nvSpPr>
        <p:spPr>
          <a:xfrm>
            <a:off x="5143500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1C1D23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8" name="Text 125"/>
          <p:cNvSpPr txBox="1"/>
          <p:nvPr/>
        </p:nvSpPr>
        <p:spPr>
          <a:xfrm>
            <a:off x="5143500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×2</a:t>
            </a:r>
            <a:endParaRPr lang="en-US" sz="1280" dirty="0"/>
          </a:p>
        </p:txBody>
      </p:sp>
      <p:sp>
        <p:nvSpPr>
          <p:cNvPr id="39" name="Line"/>
          <p:cNvSpPr/>
          <p:nvPr/>
        </p:nvSpPr>
        <p:spPr>
          <a:xfrm>
            <a:off x="8115300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40" name="Card"/>
          <p:cNvSpPr/>
          <p:nvPr/>
        </p:nvSpPr>
        <p:spPr>
          <a:xfrm>
            <a:off x="7191375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90000"/>
              </a:srgbClr>
            </a:solidFill>
            <a:prstDash val="solid"/>
          </a:ln>
        </p:spPr>
      </p:sp>
      <p:sp>
        <p:nvSpPr>
          <p:cNvPr id="41" name="Text 126"/>
          <p:cNvSpPr txBox="1"/>
          <p:nvPr/>
        </p:nvSpPr>
        <p:spPr>
          <a:xfrm>
            <a:off x="7191375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성투사</a:t>
            </a:r>
            <a:endParaRPr lang="en-US" sz="1800" dirty="0"/>
          </a:p>
        </p:txBody>
      </p:sp>
      <p:sp>
        <p:nvSpPr>
          <p:cNvPr id="42" name="Line"/>
          <p:cNvSpPr/>
          <p:nvPr/>
        </p:nvSpPr>
        <p:spPr>
          <a:xfrm>
            <a:off x="8115300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43" name="Card"/>
          <p:cNvSpPr/>
          <p:nvPr/>
        </p:nvSpPr>
        <p:spPr>
          <a:xfrm>
            <a:off x="7191375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90000"/>
              </a:srgbClr>
            </a:solidFill>
            <a:prstDash val="solid"/>
          </a:ln>
        </p:spPr>
      </p:sp>
      <p:sp>
        <p:nvSpPr>
          <p:cNvPr id="44" name="Text 127"/>
          <p:cNvSpPr txBox="1"/>
          <p:nvPr/>
        </p:nvSpPr>
        <p:spPr>
          <a:xfrm>
            <a:off x="7191375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분쇄 · 사거리 전환</a:t>
            </a:r>
            <a:endParaRPr lang="en-US" sz="1280" dirty="0"/>
          </a:p>
        </p:txBody>
      </p:sp>
      <p:sp>
        <p:nvSpPr>
          <p:cNvPr id="45" name="Card"/>
          <p:cNvSpPr/>
          <p:nvPr/>
        </p:nvSpPr>
        <p:spPr>
          <a:xfrm>
            <a:off x="9239250" y="3257550"/>
            <a:ext cx="3905250" cy="876300"/>
          </a:xfrm>
          <a:prstGeom prst="roundRect">
            <a:avLst>
              <a:gd name="adj" fmla="val 626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46" name="Text 128"/>
          <p:cNvSpPr txBox="1"/>
          <p:nvPr/>
        </p:nvSpPr>
        <p:spPr>
          <a:xfrm>
            <a:off x="9505950" y="3390900"/>
            <a:ext cx="238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궁사</a:t>
            </a:r>
            <a:endParaRPr lang="en-US" sz="2400" dirty="0"/>
          </a:p>
        </p:txBody>
      </p:sp>
      <p:sp>
        <p:nvSpPr>
          <p:cNvPr id="47" name="Chip"/>
          <p:cNvSpPr/>
          <p:nvPr/>
        </p:nvSpPr>
        <p:spPr>
          <a:xfrm>
            <a:off x="12287250" y="3505200"/>
            <a:ext cx="552450" cy="304800"/>
          </a:xfrm>
          <a:prstGeom prst="roundRect">
            <a:avLst>
              <a:gd name="adj" fmla="val 150000"/>
            </a:avLst>
          </a:prstGeom>
          <a:solidFill>
            <a:srgbClr val="1A1B21"/>
          </a:solidFill>
          <a:ln w="9525">
            <a:solidFill>
              <a:srgbClr val="E9B45A">
                <a:alpha val="35000"/>
              </a:srgbClr>
            </a:solidFill>
            <a:prstDash val="solid"/>
          </a:ln>
        </p:spPr>
      </p:sp>
      <p:sp>
        <p:nvSpPr>
          <p:cNvPr id="48" name="ChipText"/>
          <p:cNvSpPr txBox="1"/>
          <p:nvPr/>
        </p:nvSpPr>
        <p:spPr>
          <a:xfrm>
            <a:off x="12287250" y="3505200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</a:t>
            </a:r>
            <a:endParaRPr lang="en-US" sz="1130" dirty="0"/>
          </a:p>
        </p:txBody>
      </p:sp>
      <p:sp>
        <p:nvSpPr>
          <p:cNvPr id="49" name="Line"/>
          <p:cNvSpPr/>
          <p:nvPr/>
        </p:nvSpPr>
        <p:spPr>
          <a:xfrm>
            <a:off x="11191875" y="4133850"/>
            <a:ext cx="95" cy="20955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50" name="Line"/>
          <p:cNvSpPr/>
          <p:nvPr/>
        </p:nvSpPr>
        <p:spPr>
          <a:xfrm>
            <a:off x="10163175" y="4343400"/>
            <a:ext cx="2047875" cy="95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51" name="Line"/>
          <p:cNvSpPr/>
          <p:nvPr/>
        </p:nvSpPr>
        <p:spPr>
          <a:xfrm>
            <a:off x="10163175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52" name="Card"/>
          <p:cNvSpPr/>
          <p:nvPr/>
        </p:nvSpPr>
        <p:spPr>
          <a:xfrm>
            <a:off x="9239250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53" name="Text 129"/>
          <p:cNvSpPr txBox="1"/>
          <p:nvPr/>
        </p:nvSpPr>
        <p:spPr>
          <a:xfrm>
            <a:off x="9239250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명사수</a:t>
            </a:r>
            <a:endParaRPr lang="en-US" sz="1800" dirty="0"/>
          </a:p>
        </p:txBody>
      </p:sp>
      <p:sp>
        <p:nvSpPr>
          <p:cNvPr id="54" name="Line"/>
          <p:cNvSpPr/>
          <p:nvPr/>
        </p:nvSpPr>
        <p:spPr>
          <a:xfrm>
            <a:off x="10163175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55" name="Card"/>
          <p:cNvSpPr/>
          <p:nvPr/>
        </p:nvSpPr>
        <p:spPr>
          <a:xfrm>
            <a:off x="9239250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1C1D23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56" name="Text 130"/>
          <p:cNvSpPr txBox="1"/>
          <p:nvPr/>
        </p:nvSpPr>
        <p:spPr>
          <a:xfrm>
            <a:off x="9239250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×2</a:t>
            </a:r>
            <a:endParaRPr lang="en-US" sz="1280" dirty="0"/>
          </a:p>
        </p:txBody>
      </p:sp>
      <p:sp>
        <p:nvSpPr>
          <p:cNvPr id="57" name="Line"/>
          <p:cNvSpPr/>
          <p:nvPr/>
        </p:nvSpPr>
        <p:spPr>
          <a:xfrm>
            <a:off x="12211050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58" name="Card"/>
          <p:cNvSpPr/>
          <p:nvPr/>
        </p:nvSpPr>
        <p:spPr>
          <a:xfrm>
            <a:off x="11287125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59" name="Text 131"/>
          <p:cNvSpPr txBox="1"/>
          <p:nvPr/>
        </p:nvSpPr>
        <p:spPr>
          <a:xfrm>
            <a:off x="11287125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사냥꾼</a:t>
            </a:r>
            <a:endParaRPr lang="en-US" sz="1800" dirty="0"/>
          </a:p>
        </p:txBody>
      </p:sp>
      <p:sp>
        <p:nvSpPr>
          <p:cNvPr id="60" name="Line"/>
          <p:cNvSpPr/>
          <p:nvPr/>
        </p:nvSpPr>
        <p:spPr>
          <a:xfrm>
            <a:off x="12211050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61" name="Card"/>
          <p:cNvSpPr/>
          <p:nvPr/>
        </p:nvSpPr>
        <p:spPr>
          <a:xfrm>
            <a:off x="11287125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1C1D23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62" name="Text 132"/>
          <p:cNvSpPr txBox="1"/>
          <p:nvPr/>
        </p:nvSpPr>
        <p:spPr>
          <a:xfrm>
            <a:off x="11287125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×2</a:t>
            </a:r>
            <a:endParaRPr lang="en-US" sz="1280" dirty="0"/>
          </a:p>
        </p:txBody>
      </p:sp>
      <p:sp>
        <p:nvSpPr>
          <p:cNvPr id="63" name="Card"/>
          <p:cNvSpPr/>
          <p:nvPr/>
        </p:nvSpPr>
        <p:spPr>
          <a:xfrm>
            <a:off x="13335000" y="3257550"/>
            <a:ext cx="3905250" cy="876300"/>
          </a:xfrm>
          <a:prstGeom prst="roundRect">
            <a:avLst>
              <a:gd name="adj" fmla="val 626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64" name="Text 133"/>
          <p:cNvSpPr txBox="1"/>
          <p:nvPr/>
        </p:nvSpPr>
        <p:spPr>
          <a:xfrm>
            <a:off x="13601700" y="3390900"/>
            <a:ext cx="238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마법사</a:t>
            </a:r>
            <a:endParaRPr lang="en-US" sz="2400" dirty="0"/>
          </a:p>
        </p:txBody>
      </p:sp>
      <p:sp>
        <p:nvSpPr>
          <p:cNvPr id="65" name="Chip"/>
          <p:cNvSpPr/>
          <p:nvPr/>
        </p:nvSpPr>
        <p:spPr>
          <a:xfrm>
            <a:off x="16383000" y="3505200"/>
            <a:ext cx="552450" cy="304800"/>
          </a:xfrm>
          <a:prstGeom prst="roundRect">
            <a:avLst>
              <a:gd name="adj" fmla="val 150000"/>
            </a:avLst>
          </a:prstGeom>
          <a:solidFill>
            <a:srgbClr val="1A1B21"/>
          </a:solidFill>
          <a:ln w="9525">
            <a:solidFill>
              <a:srgbClr val="E9B45A">
                <a:alpha val="35000"/>
              </a:srgbClr>
            </a:solidFill>
            <a:prstDash val="solid"/>
          </a:ln>
        </p:spPr>
      </p:sp>
      <p:sp>
        <p:nvSpPr>
          <p:cNvPr id="66" name="ChipText"/>
          <p:cNvSpPr txBox="1"/>
          <p:nvPr/>
        </p:nvSpPr>
        <p:spPr>
          <a:xfrm>
            <a:off x="16383000" y="3505200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마나</a:t>
            </a:r>
            <a:endParaRPr lang="en-US" sz="1130" dirty="0"/>
          </a:p>
        </p:txBody>
      </p:sp>
      <p:sp>
        <p:nvSpPr>
          <p:cNvPr id="67" name="Line"/>
          <p:cNvSpPr/>
          <p:nvPr/>
        </p:nvSpPr>
        <p:spPr>
          <a:xfrm>
            <a:off x="15287625" y="4133850"/>
            <a:ext cx="95" cy="20955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68" name="Line"/>
          <p:cNvSpPr/>
          <p:nvPr/>
        </p:nvSpPr>
        <p:spPr>
          <a:xfrm>
            <a:off x="14258925" y="4343400"/>
            <a:ext cx="2047875" cy="95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69" name="Line"/>
          <p:cNvSpPr/>
          <p:nvPr/>
        </p:nvSpPr>
        <p:spPr>
          <a:xfrm>
            <a:off x="14258925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70" name="Card"/>
          <p:cNvSpPr/>
          <p:nvPr/>
        </p:nvSpPr>
        <p:spPr>
          <a:xfrm>
            <a:off x="13335000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71" name="Text 134"/>
          <p:cNvSpPr txBox="1"/>
          <p:nvPr/>
        </p:nvSpPr>
        <p:spPr>
          <a:xfrm>
            <a:off x="13335000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원소술사</a:t>
            </a:r>
            <a:endParaRPr lang="en-US" sz="1800" dirty="0"/>
          </a:p>
        </p:txBody>
      </p:sp>
      <p:sp>
        <p:nvSpPr>
          <p:cNvPr id="72" name="Line"/>
          <p:cNvSpPr/>
          <p:nvPr/>
        </p:nvSpPr>
        <p:spPr>
          <a:xfrm>
            <a:off x="14258925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73" name="Card"/>
          <p:cNvSpPr/>
          <p:nvPr/>
        </p:nvSpPr>
        <p:spPr>
          <a:xfrm>
            <a:off x="13335000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1C1D23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74" name="Text 135"/>
          <p:cNvSpPr txBox="1"/>
          <p:nvPr/>
        </p:nvSpPr>
        <p:spPr>
          <a:xfrm>
            <a:off x="13335000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×2</a:t>
            </a:r>
            <a:endParaRPr lang="en-US" sz="1280" dirty="0"/>
          </a:p>
        </p:txBody>
      </p:sp>
      <p:sp>
        <p:nvSpPr>
          <p:cNvPr id="75" name="Line"/>
          <p:cNvSpPr/>
          <p:nvPr/>
        </p:nvSpPr>
        <p:spPr>
          <a:xfrm>
            <a:off x="16306800" y="4343400"/>
            <a:ext cx="95" cy="190500"/>
          </a:xfrm>
          <a:prstGeom prst="line">
            <a:avLst/>
          </a:prstGeom>
          <a:noFill/>
          <a:ln w="1587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76" name="Card"/>
          <p:cNvSpPr/>
          <p:nvPr/>
        </p:nvSpPr>
        <p:spPr>
          <a:xfrm>
            <a:off x="15382875" y="4533900"/>
            <a:ext cx="1857375" cy="685800"/>
          </a:xfrm>
          <a:prstGeom prst="roundRect">
            <a:avLst>
              <a:gd name="adj" fmla="val 8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77" name="Text 136"/>
          <p:cNvSpPr txBox="1"/>
          <p:nvPr/>
        </p:nvSpPr>
        <p:spPr>
          <a:xfrm>
            <a:off x="15382875" y="4533900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현자</a:t>
            </a:r>
            <a:endParaRPr lang="en-US" sz="1800" dirty="0"/>
          </a:p>
        </p:txBody>
      </p:sp>
      <p:sp>
        <p:nvSpPr>
          <p:cNvPr id="78" name="Line"/>
          <p:cNvSpPr/>
          <p:nvPr/>
        </p:nvSpPr>
        <p:spPr>
          <a:xfrm>
            <a:off x="16306800" y="5219700"/>
            <a:ext cx="95" cy="666750"/>
          </a:xfrm>
          <a:prstGeom prst="line">
            <a:avLst/>
          </a:prstGeom>
          <a:noFill/>
          <a:ln w="15875">
            <a:solidFill>
              <a:srgbClr val="E9B45A">
                <a:alpha val="30000"/>
              </a:srgbClr>
            </a:solidFill>
            <a:prstDash val="solid"/>
          </a:ln>
        </p:spPr>
      </p:sp>
      <p:sp>
        <p:nvSpPr>
          <p:cNvPr id="79" name="Card"/>
          <p:cNvSpPr/>
          <p:nvPr/>
        </p:nvSpPr>
        <p:spPr>
          <a:xfrm>
            <a:off x="15382875" y="5886450"/>
            <a:ext cx="1857375" cy="666750"/>
          </a:xfrm>
          <a:prstGeom prst="roundRect">
            <a:avLst>
              <a:gd name="adj" fmla="val 8229"/>
            </a:avLst>
          </a:prstGeom>
          <a:solidFill>
            <a:srgbClr val="1C1D23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80" name="Text 137"/>
          <p:cNvSpPr txBox="1"/>
          <p:nvPr/>
        </p:nvSpPr>
        <p:spPr>
          <a:xfrm>
            <a:off x="15382875" y="5886450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×2</a:t>
            </a:r>
            <a:endParaRPr lang="en-US" sz="1280" dirty="0"/>
          </a:p>
        </p:txBody>
      </p:sp>
      <p:sp>
        <p:nvSpPr>
          <p:cNvPr id="81" name="Text 138"/>
          <p:cNvSpPr txBox="1"/>
          <p:nvPr/>
        </p:nvSpPr>
        <p:spPr>
          <a:xfrm>
            <a:off x="15335250" y="29718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직업 · 초인</a:t>
            </a:r>
            <a:endParaRPr lang="en-US" sz="1200" dirty="0"/>
          </a:p>
        </p:txBody>
      </p:sp>
      <p:sp>
        <p:nvSpPr>
          <p:cNvPr id="82" name="Text 139"/>
          <p:cNvSpPr txBox="1"/>
          <p:nvPr/>
        </p:nvSpPr>
        <p:spPr>
          <a:xfrm>
            <a:off x="15335250" y="66103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· 반신</a:t>
            </a:r>
            <a:endParaRPr lang="en-US" sz="1200" dirty="0"/>
          </a:p>
        </p:txBody>
      </p:sp>
      <p:sp>
        <p:nvSpPr>
          <p:cNvPr id="83" name="Card"/>
          <p:cNvSpPr/>
          <p:nvPr/>
        </p:nvSpPr>
        <p:spPr>
          <a:xfrm>
            <a:off x="1047750" y="6953250"/>
            <a:ext cx="7905750" cy="1905000"/>
          </a:xfrm>
          <a:prstGeom prst="roundRect">
            <a:avLst>
              <a:gd name="adj" fmla="val 288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84" name="Text 140"/>
          <p:cNvSpPr txBox="1"/>
          <p:nvPr/>
        </p:nvSpPr>
        <p:spPr>
          <a:xfrm>
            <a:off x="1390650" y="71437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영웅 명명 원칙</a:t>
            </a:r>
            <a:endParaRPr lang="en-US" sz="1950" dirty="0"/>
          </a:p>
        </p:txBody>
      </p:sp>
      <p:sp>
        <p:nvSpPr>
          <p:cNvPr id="85" name="Diamond"/>
          <p:cNvSpPr/>
          <p:nvPr/>
        </p:nvSpPr>
        <p:spPr>
          <a:xfrm>
            <a:off x="1423988" y="77485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86" name="Text 141"/>
          <p:cNvSpPr txBox="1"/>
          <p:nvPr/>
        </p:nvSpPr>
        <p:spPr>
          <a:xfrm>
            <a:off x="1638300" y="7658100"/>
            <a:ext cx="714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실존 신화 · 전설 인물은 원형(레퍼런스)으로만 사용, 이름 · 성물은 창작</a:t>
            </a:r>
            <a:endParaRPr lang="en-US" sz="1350" dirty="0"/>
          </a:p>
        </p:txBody>
      </p:sp>
      <p:sp>
        <p:nvSpPr>
          <p:cNvPr id="87" name="Diamond"/>
          <p:cNvSpPr/>
          <p:nvPr/>
        </p:nvSpPr>
        <p:spPr>
          <a:xfrm>
            <a:off x="1423988" y="8110537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88" name="Text 142"/>
          <p:cNvSpPr txBox="1"/>
          <p:nvPr/>
        </p:nvSpPr>
        <p:spPr>
          <a:xfrm>
            <a:off x="1638300" y="8020050"/>
            <a:ext cx="714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칭호로 원형 일화를 한 줄로 떠올리게 함 (주신 · 하위 신은 실명)</a:t>
            </a:r>
            <a:endParaRPr lang="en-US" sz="1350" dirty="0"/>
          </a:p>
        </p:txBody>
      </p:sp>
      <p:sp>
        <p:nvSpPr>
          <p:cNvPr id="89" name="Diamond"/>
          <p:cNvSpPr/>
          <p:nvPr/>
        </p:nvSpPr>
        <p:spPr>
          <a:xfrm>
            <a:off x="1423988" y="84724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90" name="Text 143"/>
          <p:cNvSpPr txBox="1"/>
          <p:nvPr/>
        </p:nvSpPr>
        <p:spPr>
          <a:xfrm>
            <a:off x="1638300" y="8382000"/>
            <a:ext cx="714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홍보물에는 영웅 이름 미노출 → 반신 돌파 시 선택 화면에서 첫 공개</a:t>
            </a:r>
            <a:endParaRPr lang="en-US" sz="1350" dirty="0"/>
          </a:p>
        </p:txBody>
      </p:sp>
      <p:sp>
        <p:nvSpPr>
          <p:cNvPr id="91" name="Card"/>
          <p:cNvSpPr/>
          <p:nvPr/>
        </p:nvSpPr>
        <p:spPr>
          <a:xfrm>
            <a:off x="9334500" y="6953250"/>
            <a:ext cx="7905750" cy="1905000"/>
          </a:xfrm>
          <a:prstGeom prst="roundRect">
            <a:avLst>
              <a:gd name="adj" fmla="val 288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92" name="Text 144"/>
          <p:cNvSpPr txBox="1"/>
          <p:nvPr/>
        </p:nvSpPr>
        <p:spPr>
          <a:xfrm>
            <a:off x="9677400" y="71437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16인 전투 스타일 점검</a:t>
            </a:r>
            <a:endParaRPr lang="en-US" sz="1950" dirty="0"/>
          </a:p>
        </p:txBody>
      </p:sp>
      <p:sp>
        <p:nvSpPr>
          <p:cNvPr id="93" name="Diamond"/>
          <p:cNvSpPr/>
          <p:nvPr/>
        </p:nvSpPr>
        <p:spPr>
          <a:xfrm>
            <a:off x="9710738" y="77485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94" name="Text 145"/>
          <p:cNvSpPr txBox="1"/>
          <p:nvPr/>
        </p:nvSpPr>
        <p:spPr>
          <a:xfrm>
            <a:off x="9925050" y="7658100"/>
            <a:ext cx="714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· 대상 · 리듬 · 핵심 행동 4축 점검표로 영웅 간 중복 방지</a:t>
            </a:r>
            <a:endParaRPr lang="en-US" sz="1350" dirty="0"/>
          </a:p>
        </p:txBody>
      </p:sp>
      <p:sp>
        <p:nvSpPr>
          <p:cNvPr id="95" name="Diamond"/>
          <p:cNvSpPr/>
          <p:nvPr/>
        </p:nvSpPr>
        <p:spPr>
          <a:xfrm>
            <a:off x="9710738" y="8110537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96" name="Text 146"/>
          <p:cNvSpPr txBox="1"/>
          <p:nvPr/>
        </p:nvSpPr>
        <p:spPr>
          <a:xfrm>
            <a:off x="9925050" y="8020050"/>
            <a:ext cx="714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고유 메커니즘 중복 금지 (예: 관통 · 표식 · 성역 · 보호막 · 분쇄)</a:t>
            </a:r>
            <a:endParaRPr lang="en-US" sz="1350" dirty="0"/>
          </a:p>
        </p:txBody>
      </p:sp>
      <p:sp>
        <p:nvSpPr>
          <p:cNvPr id="97" name="Diamond"/>
          <p:cNvSpPr/>
          <p:nvPr/>
        </p:nvSpPr>
        <p:spPr>
          <a:xfrm>
            <a:off x="9710738" y="84724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98" name="Text 147"/>
          <p:cNvSpPr txBox="1"/>
          <p:nvPr/>
        </p:nvSpPr>
        <p:spPr>
          <a:xfrm>
            <a:off x="9925050" y="8382000"/>
            <a:ext cx="714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프로토타입: 성투사 계열 2종 — 단일 제어형 '분쇄' / 무리 휘젓기 '사거리 전환'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08   PROTOTYPE SCOPE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프로토타입 범위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기획 중 '천계 권역 · 성기사 계열 · 반신까지'를 플레이 가능하게 구현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08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9906000" cy="5810250"/>
          </a:xfrm>
          <a:prstGeom prst="roundRect">
            <a:avLst>
              <a:gd name="adj" fmla="val 944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9" name="Text 148"/>
          <p:cNvSpPr txBox="1"/>
          <p:nvPr/>
        </p:nvSpPr>
        <p:spPr>
          <a:xfrm>
            <a:off x="1390650" y="323850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구현</a:t>
            </a:r>
            <a:endParaRPr lang="en-US" sz="2250" dirty="0"/>
          </a:p>
        </p:txBody>
      </p:sp>
      <p:sp>
        <p:nvSpPr>
          <p:cNvPr id="10" name="Chip"/>
          <p:cNvSpPr/>
          <p:nvPr/>
        </p:nvSpPr>
        <p:spPr>
          <a:xfrm>
            <a:off x="2190750" y="3314700"/>
            <a:ext cx="10477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1" name="ChipText"/>
          <p:cNvSpPr txBox="1"/>
          <p:nvPr/>
        </p:nvSpPr>
        <p:spPr>
          <a:xfrm>
            <a:off x="2190750" y="3314700"/>
            <a:ext cx="104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 가능</a:t>
            </a:r>
            <a:endParaRPr lang="en-US" sz="1130" dirty="0"/>
          </a:p>
        </p:txBody>
      </p:sp>
      <p:sp>
        <p:nvSpPr>
          <p:cNvPr id="12" name="Diamond"/>
          <p:cNvSpPr/>
          <p:nvPr/>
        </p:nvSpPr>
        <p:spPr>
          <a:xfrm>
            <a:off x="1419225" y="400050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13" name="Text 149"/>
          <p:cNvSpPr txBox="1"/>
          <p:nvPr/>
        </p:nvSpPr>
        <p:spPr>
          <a:xfrm>
            <a:off x="1657350" y="390525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500" dirty="0"/>
          </a:p>
        </p:txBody>
      </p:sp>
      <p:sp>
        <p:nvSpPr>
          <p:cNvPr id="14" name="Text 150"/>
          <p:cNvSpPr txBox="1"/>
          <p:nvPr/>
        </p:nvSpPr>
        <p:spPr>
          <a:xfrm>
            <a:off x="3048000" y="389572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천계 — 1km 계곡 오픈 필드 · 마을 · 보스 방</a:t>
            </a:r>
            <a:endParaRPr lang="en-US" sz="1580" dirty="0"/>
          </a:p>
        </p:txBody>
      </p:sp>
      <p:sp>
        <p:nvSpPr>
          <p:cNvPr id="15" name="Line"/>
          <p:cNvSpPr/>
          <p:nvPr/>
        </p:nvSpPr>
        <p:spPr>
          <a:xfrm>
            <a:off x="1428750" y="4343400"/>
            <a:ext cx="91440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16" name="Diamond"/>
          <p:cNvSpPr/>
          <p:nvPr/>
        </p:nvSpPr>
        <p:spPr>
          <a:xfrm>
            <a:off x="1419225" y="459105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17" name="Text 151"/>
          <p:cNvSpPr txBox="1"/>
          <p:nvPr/>
        </p:nvSpPr>
        <p:spPr>
          <a:xfrm>
            <a:off x="1657350" y="44958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</a:t>
            </a:r>
            <a:endParaRPr lang="en-US" sz="1500" dirty="0"/>
          </a:p>
        </p:txBody>
      </p:sp>
      <p:sp>
        <p:nvSpPr>
          <p:cNvPr id="18" name="Text 152"/>
          <p:cNvSpPr txBox="1"/>
          <p:nvPr/>
        </p:nvSpPr>
        <p:spPr>
          <a:xfrm>
            <a:off x="3048000" y="448627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성기사 → 성투사 (선택 화면 4직업 중 성기사 개방)</a:t>
            </a:r>
            <a:endParaRPr lang="en-US" sz="1580" dirty="0"/>
          </a:p>
        </p:txBody>
      </p:sp>
      <p:sp>
        <p:nvSpPr>
          <p:cNvPr id="19" name="Line"/>
          <p:cNvSpPr/>
          <p:nvPr/>
        </p:nvSpPr>
        <p:spPr>
          <a:xfrm>
            <a:off x="1428750" y="4933950"/>
            <a:ext cx="91440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20" name="Diamond"/>
          <p:cNvSpPr/>
          <p:nvPr/>
        </p:nvSpPr>
        <p:spPr>
          <a:xfrm>
            <a:off x="1419225" y="518160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1" name="Text 153"/>
          <p:cNvSpPr txBox="1"/>
          <p:nvPr/>
        </p:nvSpPr>
        <p:spPr>
          <a:xfrm>
            <a:off x="1657350" y="508635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</a:t>
            </a:r>
            <a:endParaRPr lang="en-US" sz="1500" dirty="0"/>
          </a:p>
        </p:txBody>
      </p:sp>
      <p:sp>
        <p:nvSpPr>
          <p:cNvPr id="22" name="Text 154"/>
          <p:cNvSpPr txBox="1"/>
          <p:nvPr/>
        </p:nvSpPr>
        <p:spPr>
          <a:xfrm>
            <a:off x="3048000" y="507682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2종 — 분쇄 · 사거리 전환, 성물 1단계 각성</a:t>
            </a:r>
            <a:endParaRPr lang="en-US" sz="1580" dirty="0"/>
          </a:p>
        </p:txBody>
      </p:sp>
      <p:sp>
        <p:nvSpPr>
          <p:cNvPr id="23" name="Line"/>
          <p:cNvSpPr/>
          <p:nvPr/>
        </p:nvSpPr>
        <p:spPr>
          <a:xfrm>
            <a:off x="1428750" y="5524500"/>
            <a:ext cx="91440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24" name="Diamond"/>
          <p:cNvSpPr/>
          <p:nvPr/>
        </p:nvSpPr>
        <p:spPr>
          <a:xfrm>
            <a:off x="1419225" y="577215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5" name="Text 155"/>
          <p:cNvSpPr txBox="1"/>
          <p:nvPr/>
        </p:nvSpPr>
        <p:spPr>
          <a:xfrm>
            <a:off x="1657350" y="56769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</a:t>
            </a:r>
            <a:endParaRPr lang="en-US" sz="1500" dirty="0"/>
          </a:p>
        </p:txBody>
      </p:sp>
      <p:sp>
        <p:nvSpPr>
          <p:cNvPr id="26" name="Text 156"/>
          <p:cNvSpPr txBox="1"/>
          <p:nvPr/>
        </p:nvSpPr>
        <p:spPr>
          <a:xfrm>
            <a:off x="3048000" y="566737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범인 → 초인 → 반신</a:t>
            </a:r>
            <a:endParaRPr lang="en-US" sz="1580" dirty="0"/>
          </a:p>
        </p:txBody>
      </p:sp>
      <p:sp>
        <p:nvSpPr>
          <p:cNvPr id="27" name="Line"/>
          <p:cNvSpPr/>
          <p:nvPr/>
        </p:nvSpPr>
        <p:spPr>
          <a:xfrm>
            <a:off x="1428750" y="6115050"/>
            <a:ext cx="91440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28" name="Diamond"/>
          <p:cNvSpPr/>
          <p:nvPr/>
        </p:nvSpPr>
        <p:spPr>
          <a:xfrm>
            <a:off x="1419225" y="636270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9" name="Text 157"/>
          <p:cNvSpPr txBox="1"/>
          <p:nvPr/>
        </p:nvSpPr>
        <p:spPr>
          <a:xfrm>
            <a:off x="1657350" y="626745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</a:t>
            </a:r>
            <a:endParaRPr lang="en-US" sz="1500" dirty="0"/>
          </a:p>
        </p:txBody>
      </p:sp>
      <p:sp>
        <p:nvSpPr>
          <p:cNvPr id="30" name="Text 158"/>
          <p:cNvSpPr txBox="1"/>
          <p:nvPr/>
        </p:nvSpPr>
        <p:spPr>
          <a:xfrm>
            <a:off x="3048000" y="625792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공용 1 · 성기사 4 · 성투사 · 영웅 기술, 슬롯 레벨 · 강화 분기</a:t>
            </a:r>
            <a:endParaRPr lang="en-US" sz="1580" dirty="0"/>
          </a:p>
        </p:txBody>
      </p:sp>
      <p:sp>
        <p:nvSpPr>
          <p:cNvPr id="31" name="Line"/>
          <p:cNvSpPr/>
          <p:nvPr/>
        </p:nvSpPr>
        <p:spPr>
          <a:xfrm>
            <a:off x="1428750" y="6705600"/>
            <a:ext cx="91440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2" name="Diamond"/>
          <p:cNvSpPr/>
          <p:nvPr/>
        </p:nvSpPr>
        <p:spPr>
          <a:xfrm>
            <a:off x="1419225" y="695325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3" name="Text 159"/>
          <p:cNvSpPr txBox="1"/>
          <p:nvPr/>
        </p:nvSpPr>
        <p:spPr>
          <a:xfrm>
            <a:off x="1657350" y="6858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500" dirty="0"/>
          </a:p>
        </p:txBody>
      </p:sp>
      <p:sp>
        <p:nvSpPr>
          <p:cNvPr id="34" name="Text 160"/>
          <p:cNvSpPr txBox="1"/>
          <p:nvPr/>
        </p:nvSpPr>
        <p:spPr>
          <a:xfrm>
            <a:off x="3048000" y="684847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 · 주 스탯 자동 분배 · 장비 6칸 · 바닥 드롭 · 업적 · 신격 트리</a:t>
            </a:r>
            <a:endParaRPr lang="en-US" sz="1580" dirty="0"/>
          </a:p>
        </p:txBody>
      </p:sp>
      <p:sp>
        <p:nvSpPr>
          <p:cNvPr id="35" name="Line"/>
          <p:cNvSpPr/>
          <p:nvPr/>
        </p:nvSpPr>
        <p:spPr>
          <a:xfrm>
            <a:off x="1428750" y="7296150"/>
            <a:ext cx="91440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6" name="Diamond"/>
          <p:cNvSpPr/>
          <p:nvPr/>
        </p:nvSpPr>
        <p:spPr>
          <a:xfrm>
            <a:off x="1419225" y="754380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7" name="Text 161"/>
          <p:cNvSpPr txBox="1"/>
          <p:nvPr/>
        </p:nvSpPr>
        <p:spPr>
          <a:xfrm>
            <a:off x="1657350" y="744855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</a:t>
            </a:r>
            <a:endParaRPr lang="en-US" sz="1500" dirty="0"/>
          </a:p>
        </p:txBody>
      </p:sp>
      <p:sp>
        <p:nvSpPr>
          <p:cNvPr id="38" name="Text 162"/>
          <p:cNvSpPr txBox="1"/>
          <p:nvPr/>
        </p:nvSpPr>
        <p:spPr>
          <a:xfrm>
            <a:off x="3048000" y="743902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2종 · 정예 1 · 하위 신 이랑진군 (3페이즈)</a:t>
            </a:r>
            <a:endParaRPr lang="en-US" sz="1580" dirty="0"/>
          </a:p>
        </p:txBody>
      </p:sp>
      <p:sp>
        <p:nvSpPr>
          <p:cNvPr id="39" name="Line"/>
          <p:cNvSpPr/>
          <p:nvPr/>
        </p:nvSpPr>
        <p:spPr>
          <a:xfrm>
            <a:off x="1428750" y="7886700"/>
            <a:ext cx="9144000" cy="95"/>
          </a:xfrm>
          <a:prstGeom prst="line">
            <a:avLst/>
          </a:prstGeom>
          <a:noFill/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40" name="Diamond"/>
          <p:cNvSpPr/>
          <p:nvPr/>
        </p:nvSpPr>
        <p:spPr>
          <a:xfrm>
            <a:off x="1419225" y="813435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1" name="Text 163"/>
          <p:cNvSpPr txBox="1"/>
          <p:nvPr/>
        </p:nvSpPr>
        <p:spPr>
          <a:xfrm>
            <a:off x="1657350" y="80391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시스템</a:t>
            </a:r>
            <a:endParaRPr lang="en-US" sz="1500" dirty="0"/>
          </a:p>
        </p:txBody>
      </p:sp>
      <p:sp>
        <p:nvSpPr>
          <p:cNvPr id="42" name="Text 164"/>
          <p:cNvSpPr txBox="1"/>
          <p:nvPr/>
        </p:nvSpPr>
        <p:spPr>
          <a:xfrm>
            <a:off x="3048000" y="8029575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 · 인벤토리 · 캐릭터/성물 · 기술 · 지도 · 업적 · 설정 · 효과음</a:t>
            </a:r>
            <a:endParaRPr lang="en-US" sz="1580" dirty="0"/>
          </a:p>
        </p:txBody>
      </p:sp>
      <p:sp>
        <p:nvSpPr>
          <p:cNvPr id="43" name="Card"/>
          <p:cNvSpPr/>
          <p:nvPr/>
        </p:nvSpPr>
        <p:spPr>
          <a:xfrm>
            <a:off x="11239500" y="3048000"/>
            <a:ext cx="6000750" cy="4000500"/>
          </a:xfrm>
          <a:prstGeom prst="roundRect">
            <a:avLst>
              <a:gd name="adj" fmla="val 1371"/>
            </a:avLst>
          </a:prstGeom>
          <a:solidFill>
            <a:srgbClr val="1A1B21">
              <a:alpha val="94000"/>
            </a:srgbClr>
          </a:solidFill>
          <a:ln w="9525">
            <a:solidFill>
              <a:srgbClr val="6A6E7A">
                <a:alpha val="35000"/>
              </a:srgbClr>
            </a:solidFill>
            <a:prstDash val="solid"/>
          </a:ln>
        </p:spPr>
      </p:sp>
      <p:sp>
        <p:nvSpPr>
          <p:cNvPr id="44" name="Text 165"/>
          <p:cNvSpPr txBox="1"/>
          <p:nvPr/>
        </p:nvSpPr>
        <p:spPr>
          <a:xfrm>
            <a:off x="11563350" y="3238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제외 · 확장 예정</a:t>
            </a:r>
            <a:endParaRPr lang="en-US" sz="2250" dirty="0"/>
          </a:p>
        </p:txBody>
      </p:sp>
      <p:sp>
        <p:nvSpPr>
          <p:cNvPr id="45" name="Diamond"/>
          <p:cNvSpPr/>
          <p:nvPr/>
        </p:nvSpPr>
        <p:spPr>
          <a:xfrm>
            <a:off x="11596688" y="4043363"/>
            <a:ext cx="85725" cy="85725"/>
          </a:xfrm>
          <a:prstGeom prst="diamond">
            <a:avLst/>
          </a:prstGeom>
          <a:ln w="12700">
            <a:solidFill>
              <a:srgbClr val="9AA0AA"/>
            </a:solidFill>
            <a:prstDash val="solid"/>
          </a:ln>
        </p:spPr>
      </p:sp>
      <p:sp>
        <p:nvSpPr>
          <p:cNvPr id="46" name="Text 166"/>
          <p:cNvSpPr txBox="1"/>
          <p:nvPr/>
        </p:nvSpPr>
        <p:spPr>
          <a:xfrm>
            <a:off x="11811000" y="3943350"/>
            <a:ext cx="523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 직업 3 · 영웅의 길 14</a:t>
            </a:r>
            <a:endParaRPr lang="en-US" sz="1500" dirty="0"/>
          </a:p>
        </p:txBody>
      </p:sp>
      <p:sp>
        <p:nvSpPr>
          <p:cNvPr id="47" name="Diamond"/>
          <p:cNvSpPr/>
          <p:nvPr/>
        </p:nvSpPr>
        <p:spPr>
          <a:xfrm>
            <a:off x="11596688" y="4595813"/>
            <a:ext cx="85725" cy="85725"/>
          </a:xfrm>
          <a:prstGeom prst="diamond">
            <a:avLst/>
          </a:prstGeom>
          <a:ln w="12700">
            <a:solidFill>
              <a:srgbClr val="9AA0AA"/>
            </a:solidFill>
            <a:prstDash val="solid"/>
          </a:ln>
        </p:spPr>
      </p:sp>
      <p:sp>
        <p:nvSpPr>
          <p:cNvPr id="48" name="Text 167"/>
          <p:cNvSpPr txBox="1"/>
          <p:nvPr/>
        </p:nvSpPr>
        <p:spPr>
          <a:xfrm>
            <a:off x="11811000" y="4495800"/>
            <a:ext cx="523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신격 이후 격 (각성 · 초월 · 태초)</a:t>
            </a:r>
            <a:endParaRPr lang="en-US" sz="1500" dirty="0"/>
          </a:p>
        </p:txBody>
      </p:sp>
      <p:sp>
        <p:nvSpPr>
          <p:cNvPr id="49" name="Diamond"/>
          <p:cNvSpPr/>
          <p:nvPr/>
        </p:nvSpPr>
        <p:spPr>
          <a:xfrm>
            <a:off x="11596688" y="5148263"/>
            <a:ext cx="85725" cy="85725"/>
          </a:xfrm>
          <a:prstGeom prst="diamond">
            <a:avLst/>
          </a:prstGeom>
          <a:ln w="12700">
            <a:solidFill>
              <a:srgbClr val="9AA0AA"/>
            </a:solidFill>
            <a:prstDash val="solid"/>
          </a:ln>
        </p:spPr>
      </p:sp>
      <p:sp>
        <p:nvSpPr>
          <p:cNvPr id="50" name="Text 168"/>
          <p:cNvSpPr txBox="1"/>
          <p:nvPr/>
        </p:nvSpPr>
        <p:spPr>
          <a:xfrm>
            <a:off x="11811000" y="5048250"/>
            <a:ext cx="523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신물 · 성물 기술 변형</a:t>
            </a:r>
            <a:endParaRPr lang="en-US" sz="1500" dirty="0"/>
          </a:p>
        </p:txBody>
      </p:sp>
      <p:sp>
        <p:nvSpPr>
          <p:cNvPr id="51" name="Diamond"/>
          <p:cNvSpPr/>
          <p:nvPr/>
        </p:nvSpPr>
        <p:spPr>
          <a:xfrm>
            <a:off x="11596688" y="5700713"/>
            <a:ext cx="85725" cy="85725"/>
          </a:xfrm>
          <a:prstGeom prst="diamond">
            <a:avLst/>
          </a:prstGeom>
          <a:ln w="12700">
            <a:solidFill>
              <a:srgbClr val="9AA0AA"/>
            </a:solidFill>
            <a:prstDash val="solid"/>
          </a:ln>
        </p:spPr>
      </p:sp>
      <p:sp>
        <p:nvSpPr>
          <p:cNvPr id="52" name="Text 169"/>
          <p:cNvSpPr txBox="1"/>
          <p:nvPr/>
        </p:nvSpPr>
        <p:spPr>
          <a:xfrm>
            <a:off x="11811000" y="5600700"/>
            <a:ext cx="523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권속 보스 우사 · 풍백 (2인 1조)</a:t>
            </a:r>
            <a:endParaRPr lang="en-US" sz="1500" dirty="0"/>
          </a:p>
        </p:txBody>
      </p:sp>
      <p:sp>
        <p:nvSpPr>
          <p:cNvPr id="53" name="Diamond"/>
          <p:cNvSpPr/>
          <p:nvPr/>
        </p:nvSpPr>
        <p:spPr>
          <a:xfrm>
            <a:off x="11596688" y="6253163"/>
            <a:ext cx="85725" cy="85725"/>
          </a:xfrm>
          <a:prstGeom prst="diamond">
            <a:avLst/>
          </a:prstGeom>
          <a:ln w="12700">
            <a:solidFill>
              <a:srgbClr val="9AA0AA"/>
            </a:solidFill>
            <a:prstDash val="solid"/>
          </a:ln>
        </p:spPr>
      </p:sp>
      <p:sp>
        <p:nvSpPr>
          <p:cNvPr id="54" name="Text 170"/>
          <p:cNvSpPr txBox="1"/>
          <p:nvPr/>
        </p:nvSpPr>
        <p:spPr>
          <a:xfrm>
            <a:off x="11811000" y="6153150"/>
            <a:ext cx="523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신화 권역 3 · 엔드게임 · 재화</a:t>
            </a:r>
            <a:endParaRPr lang="en-US" sz="1500" dirty="0"/>
          </a:p>
        </p:txBody>
      </p:sp>
      <p:sp>
        <p:nvSpPr>
          <p:cNvPr id="55" name="Card"/>
          <p:cNvSpPr/>
          <p:nvPr/>
        </p:nvSpPr>
        <p:spPr>
          <a:xfrm>
            <a:off x="11239500" y="7258050"/>
            <a:ext cx="6000750" cy="1600200"/>
          </a:xfrm>
          <a:prstGeom prst="roundRect">
            <a:avLst>
              <a:gd name="adj" fmla="val 3429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45000"/>
              </a:srgbClr>
            </a:solidFill>
            <a:prstDash val="solid"/>
          </a:ln>
        </p:spPr>
      </p:sp>
      <p:sp>
        <p:nvSpPr>
          <p:cNvPr id="56" name="Text 171"/>
          <p:cNvSpPr txBox="1"/>
          <p:nvPr/>
        </p:nvSpPr>
        <p:spPr>
          <a:xfrm>
            <a:off x="11563350" y="74295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확장을 전제로 한 설계</a:t>
            </a:r>
            <a:endParaRPr lang="en-US" sz="1800" dirty="0"/>
          </a:p>
        </p:txBody>
      </p:sp>
      <p:sp>
        <p:nvSpPr>
          <p:cNvPr id="57" name="Text 172"/>
          <p:cNvSpPr txBox="1"/>
          <p:nvPr/>
        </p:nvSpPr>
        <p:spPr>
          <a:xfrm>
            <a:off x="11563350" y="7886700"/>
            <a:ext cx="542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 · 기술 · 영웅의 길 · 적 · 아이템은 ScriptableObject 데이터로 정의 → 코드 수정 없이 추가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09   COMBAT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전투 시스템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디아블로식 클릭 조작 위에 타격감과 영웅별 고유 규칙을 얹음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09 / 23</a:t>
            </a:r>
            <a:endParaRPr lang="en-US" sz="1200" dirty="0"/>
          </a:p>
        </p:txBody>
      </p:sp>
      <p:sp>
        <p:nvSpPr>
          <p:cNvPr id="8" name="ScreenshotSlot"/>
          <p:cNvSpPr/>
          <p:nvPr/>
        </p:nvSpPr>
        <p:spPr>
          <a:xfrm>
            <a:off x="1047750" y="3048000"/>
            <a:ext cx="9620250" cy="5410200"/>
          </a:xfrm>
          <a:prstGeom prst="roundRect">
            <a:avLst>
              <a:gd name="adj" fmla="val 507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9" name="Diamond"/>
          <p:cNvSpPr/>
          <p:nvPr/>
        </p:nvSpPr>
        <p:spPr>
          <a:xfrm>
            <a:off x="5695950" y="5267325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0" name="Text 173"/>
          <p:cNvSpPr txBox="1"/>
          <p:nvPr/>
        </p:nvSpPr>
        <p:spPr>
          <a:xfrm>
            <a:off x="1047750" y="5791200"/>
            <a:ext cx="962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11" name="Text 174"/>
          <p:cNvSpPr txBox="1"/>
          <p:nvPr/>
        </p:nvSpPr>
        <p:spPr>
          <a:xfrm>
            <a:off x="1047750" y="6172200"/>
            <a:ext cx="962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장면 (16:9, 1920×1080 권장)</a:t>
            </a:r>
            <a:endParaRPr lang="en-US" sz="1350" dirty="0"/>
          </a:p>
        </p:txBody>
      </p:sp>
      <p:sp>
        <p:nvSpPr>
          <p:cNvPr id="12" name="Chip"/>
          <p:cNvSpPr/>
          <p:nvPr/>
        </p:nvSpPr>
        <p:spPr>
          <a:xfrm>
            <a:off x="1047750" y="8629650"/>
            <a:ext cx="157162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3" name="ChipText"/>
          <p:cNvSpPr txBox="1"/>
          <p:nvPr/>
        </p:nvSpPr>
        <p:spPr>
          <a:xfrm>
            <a:off x="1047750" y="8629650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좌클릭  기본 공격</a:t>
            </a:r>
            <a:endParaRPr lang="en-US" sz="1280" dirty="0"/>
          </a:p>
        </p:txBody>
      </p:sp>
      <p:sp>
        <p:nvSpPr>
          <p:cNvPr id="14" name="Chip"/>
          <p:cNvSpPr/>
          <p:nvPr/>
        </p:nvSpPr>
        <p:spPr>
          <a:xfrm>
            <a:off x="2733675" y="8629650"/>
            <a:ext cx="157162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5" name="ChipText"/>
          <p:cNvSpPr txBox="1"/>
          <p:nvPr/>
        </p:nvSpPr>
        <p:spPr>
          <a:xfrm>
            <a:off x="2733675" y="8629650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우클릭  격광 강타</a:t>
            </a:r>
            <a:endParaRPr lang="en-US" sz="1280" dirty="0"/>
          </a:p>
        </p:txBody>
      </p:sp>
      <p:sp>
        <p:nvSpPr>
          <p:cNvPr id="16" name="Chip"/>
          <p:cNvSpPr/>
          <p:nvPr/>
        </p:nvSpPr>
        <p:spPr>
          <a:xfrm>
            <a:off x="4419600" y="8629650"/>
            <a:ext cx="166687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7" name="ChipText"/>
          <p:cNvSpPr txBox="1"/>
          <p:nvPr/>
        </p:nvSpPr>
        <p:spPr>
          <a:xfrm>
            <a:off x="4419600" y="8629650"/>
            <a:ext cx="1666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2 · 3 · 4  기술</a:t>
            </a:r>
            <a:endParaRPr lang="en-US" sz="1280" dirty="0"/>
          </a:p>
        </p:txBody>
      </p:sp>
      <p:sp>
        <p:nvSpPr>
          <p:cNvPr id="18" name="Chip"/>
          <p:cNvSpPr/>
          <p:nvPr/>
        </p:nvSpPr>
        <p:spPr>
          <a:xfrm>
            <a:off x="6200775" y="8629650"/>
            <a:ext cx="1181100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9" name="ChipText"/>
          <p:cNvSpPr txBox="1"/>
          <p:nvPr/>
        </p:nvSpPr>
        <p:spPr>
          <a:xfrm>
            <a:off x="6200775" y="8629650"/>
            <a:ext cx="118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Space  회피</a:t>
            </a:r>
            <a:endParaRPr lang="en-US" sz="1280" dirty="0"/>
          </a:p>
        </p:txBody>
      </p:sp>
      <p:sp>
        <p:nvSpPr>
          <p:cNvPr id="20" name="Chip"/>
          <p:cNvSpPr/>
          <p:nvPr/>
        </p:nvSpPr>
        <p:spPr>
          <a:xfrm>
            <a:off x="7496175" y="8629650"/>
            <a:ext cx="80962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1" name="ChipText"/>
          <p:cNvSpPr txBox="1"/>
          <p:nvPr/>
        </p:nvSpPr>
        <p:spPr>
          <a:xfrm>
            <a:off x="7496175" y="8629650"/>
            <a:ext cx="809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 물약</a:t>
            </a:r>
            <a:endParaRPr lang="en-US" sz="1280" dirty="0"/>
          </a:p>
        </p:txBody>
      </p:sp>
      <p:sp>
        <p:nvSpPr>
          <p:cNvPr id="22" name="Card"/>
          <p:cNvSpPr/>
          <p:nvPr/>
        </p:nvSpPr>
        <p:spPr>
          <a:xfrm>
            <a:off x="11049000" y="3048000"/>
            <a:ext cx="6191250" cy="1238250"/>
          </a:xfrm>
          <a:prstGeom prst="roundRect">
            <a:avLst>
              <a:gd name="adj" fmla="val 44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3" name="Diamond"/>
          <p:cNvSpPr/>
          <p:nvPr/>
        </p:nvSpPr>
        <p:spPr>
          <a:xfrm>
            <a:off x="11306175" y="334327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4" name="Text 175"/>
          <p:cNvSpPr txBox="1"/>
          <p:nvPr/>
        </p:nvSpPr>
        <p:spPr>
          <a:xfrm>
            <a:off x="11582400" y="3219450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타격 시점 공격</a:t>
            </a:r>
            <a:endParaRPr lang="en-US" sz="1950" dirty="0"/>
          </a:p>
        </p:txBody>
      </p:sp>
      <p:sp>
        <p:nvSpPr>
          <p:cNvPr id="25" name="Text 176"/>
          <p:cNvSpPr txBox="1"/>
          <p:nvPr/>
        </p:nvSpPr>
        <p:spPr>
          <a:xfrm>
            <a:off x="11334750" y="36576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공격 · 강타 모두 모션이 닿는 순간에 피해 · 이펙트 · 효과음을 함께 적용</a:t>
            </a:r>
            <a:endParaRPr lang="en-US" sz="1350" dirty="0"/>
          </a:p>
        </p:txBody>
      </p:sp>
      <p:sp>
        <p:nvSpPr>
          <p:cNvPr id="26" name="Card"/>
          <p:cNvSpPr/>
          <p:nvPr/>
        </p:nvSpPr>
        <p:spPr>
          <a:xfrm>
            <a:off x="11049000" y="4438650"/>
            <a:ext cx="6191250" cy="1238250"/>
          </a:xfrm>
          <a:prstGeom prst="roundRect">
            <a:avLst>
              <a:gd name="adj" fmla="val 44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7" name="Diamond"/>
          <p:cNvSpPr/>
          <p:nvPr/>
        </p:nvSpPr>
        <p:spPr>
          <a:xfrm>
            <a:off x="11306175" y="47339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8" name="Text 177"/>
          <p:cNvSpPr txBox="1"/>
          <p:nvPr/>
        </p:nvSpPr>
        <p:spPr>
          <a:xfrm>
            <a:off x="11582400" y="4610100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신앙 자원 (성기사)</a:t>
            </a:r>
            <a:endParaRPr lang="en-US" sz="1950" dirty="0"/>
          </a:p>
        </p:txBody>
      </p:sp>
      <p:sp>
        <p:nvSpPr>
          <p:cNvPr id="29" name="Text 178"/>
          <p:cNvSpPr txBox="1"/>
          <p:nvPr/>
        </p:nvSpPr>
        <p:spPr>
          <a:xfrm>
            <a:off x="11334750" y="50482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공격 적중 · 피격으로 충전, 기술로 소모. 최대치 도달 시 충만 → 다음 기술 강화</a:t>
            </a:r>
            <a:endParaRPr lang="en-US" sz="1350" dirty="0"/>
          </a:p>
        </p:txBody>
      </p:sp>
      <p:sp>
        <p:nvSpPr>
          <p:cNvPr id="30" name="Card"/>
          <p:cNvSpPr/>
          <p:nvPr/>
        </p:nvSpPr>
        <p:spPr>
          <a:xfrm>
            <a:off x="11049000" y="5829300"/>
            <a:ext cx="6191250" cy="1238250"/>
          </a:xfrm>
          <a:prstGeom prst="roundRect">
            <a:avLst>
              <a:gd name="adj" fmla="val 44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1" name="Diamond"/>
          <p:cNvSpPr/>
          <p:nvPr/>
        </p:nvSpPr>
        <p:spPr>
          <a:xfrm>
            <a:off x="11306175" y="612457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2" name="Text 179"/>
          <p:cNvSpPr txBox="1"/>
          <p:nvPr/>
        </p:nvSpPr>
        <p:spPr>
          <a:xfrm>
            <a:off x="11582400" y="6000750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분쇄 (영웅의 길 ①)</a:t>
            </a:r>
            <a:endParaRPr lang="en-US" sz="1950" dirty="0"/>
          </a:p>
        </p:txBody>
      </p:sp>
      <p:sp>
        <p:nvSpPr>
          <p:cNvPr id="33" name="Text 180"/>
          <p:cNvSpPr txBox="1"/>
          <p:nvPr/>
        </p:nvSpPr>
        <p:spPr>
          <a:xfrm>
            <a:off x="11334750" y="64389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버팀 게이지를 깎아 무력화 → 처형. 정예 · 보스를 제어하는 단일 대상형</a:t>
            </a:r>
            <a:endParaRPr lang="en-US" sz="1350" dirty="0"/>
          </a:p>
        </p:txBody>
      </p:sp>
      <p:sp>
        <p:nvSpPr>
          <p:cNvPr id="34" name="Card"/>
          <p:cNvSpPr/>
          <p:nvPr/>
        </p:nvSpPr>
        <p:spPr>
          <a:xfrm>
            <a:off x="11049000" y="7219950"/>
            <a:ext cx="6191250" cy="1238250"/>
          </a:xfrm>
          <a:prstGeom prst="roundRect">
            <a:avLst>
              <a:gd name="adj" fmla="val 44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5" name="Diamond"/>
          <p:cNvSpPr/>
          <p:nvPr/>
        </p:nvSpPr>
        <p:spPr>
          <a:xfrm>
            <a:off x="11306175" y="75152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6" name="Text 181"/>
          <p:cNvSpPr txBox="1"/>
          <p:nvPr/>
        </p:nvSpPr>
        <p:spPr>
          <a:xfrm>
            <a:off x="11582400" y="7391400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사거리 전환 (영웅의 길 ②)</a:t>
            </a:r>
            <a:endParaRPr lang="en-US" sz="1950" dirty="0"/>
          </a:p>
        </p:txBody>
      </p:sp>
      <p:sp>
        <p:nvSpPr>
          <p:cNvPr id="37" name="Text 182"/>
          <p:cNvSpPr txBox="1"/>
          <p:nvPr/>
        </p:nvSpPr>
        <p:spPr>
          <a:xfrm>
            <a:off x="11334750" y="78295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모드 변환으로 근 · 중거리 공격 방식 교체, 지속 시전 회전 기술로 무리 정리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   GROWTH  I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성장 시스템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 · 기술 · 장비 · 업적이 맞물려 다음 격으로 이어지는 구조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4857750" cy="2714625"/>
          </a:xfrm>
          <a:prstGeom prst="roundRect">
            <a:avLst>
              <a:gd name="adj" fmla="val 202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9" name="Text 183"/>
          <p:cNvSpPr txBox="1"/>
          <p:nvPr/>
        </p:nvSpPr>
        <p:spPr>
          <a:xfrm>
            <a:off x="1333500" y="3257550"/>
            <a:ext cx="190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2550" dirty="0"/>
          </a:p>
        </p:txBody>
      </p:sp>
      <p:sp>
        <p:nvSpPr>
          <p:cNvPr id="10" name="Text 184"/>
          <p:cNvSpPr txBox="1"/>
          <p:nvPr/>
        </p:nvSpPr>
        <p:spPr>
          <a:xfrm>
            <a:off x="1333500" y="37909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레벨 · 스탯</a:t>
            </a:r>
            <a:endParaRPr lang="en-US" sz="2250" dirty="0"/>
          </a:p>
        </p:txBody>
      </p:sp>
      <p:sp>
        <p:nvSpPr>
          <p:cNvPr id="11" name="Text 185"/>
          <p:cNvSpPr txBox="1"/>
          <p:nvPr/>
        </p:nvSpPr>
        <p:spPr>
          <a:xfrm>
            <a:off x="1333500" y="434340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레벨업마다 주 스탯 자동 분배. 힘 · 민첩 · 지능이 피해 · 체력 · 치명타로 연결</a:t>
            </a:r>
            <a:endParaRPr lang="en-US" sz="1430" dirty="0"/>
          </a:p>
        </p:txBody>
      </p:sp>
      <p:sp>
        <p:nvSpPr>
          <p:cNvPr id="12" name="Card"/>
          <p:cNvSpPr/>
          <p:nvPr/>
        </p:nvSpPr>
        <p:spPr>
          <a:xfrm>
            <a:off x="6096000" y="3048000"/>
            <a:ext cx="4857750" cy="2714625"/>
          </a:xfrm>
          <a:prstGeom prst="roundRect">
            <a:avLst>
              <a:gd name="adj" fmla="val 202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3" name="Text 186"/>
          <p:cNvSpPr txBox="1"/>
          <p:nvPr/>
        </p:nvSpPr>
        <p:spPr>
          <a:xfrm>
            <a:off x="6381750" y="3257550"/>
            <a:ext cx="190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2550" dirty="0"/>
          </a:p>
        </p:txBody>
      </p:sp>
      <p:sp>
        <p:nvSpPr>
          <p:cNvPr id="14" name="Text 187"/>
          <p:cNvSpPr txBox="1"/>
          <p:nvPr/>
        </p:nvSpPr>
        <p:spPr>
          <a:xfrm>
            <a:off x="6381750" y="37909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빌드</a:t>
            </a:r>
            <a:endParaRPr lang="en-US" sz="2250" dirty="0"/>
          </a:p>
        </p:txBody>
      </p:sp>
      <p:sp>
        <p:nvSpPr>
          <p:cNvPr id="15" name="Text 188"/>
          <p:cNvSpPr txBox="1"/>
          <p:nvPr/>
        </p:nvSpPr>
        <p:spPr>
          <a:xfrm>
            <a:off x="6381750" y="434340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포인트로 슬롯 레벨 최대 15 (레벨당 +5%), Lv 3에서 강화 분기 A/B 선택 · 비전투 초기화</a:t>
            </a:r>
            <a:endParaRPr lang="en-US" sz="1430" dirty="0"/>
          </a:p>
        </p:txBody>
      </p:sp>
      <p:sp>
        <p:nvSpPr>
          <p:cNvPr id="16" name="Card"/>
          <p:cNvSpPr/>
          <p:nvPr/>
        </p:nvSpPr>
        <p:spPr>
          <a:xfrm>
            <a:off x="1047750" y="5953125"/>
            <a:ext cx="4857750" cy="2714625"/>
          </a:xfrm>
          <a:prstGeom prst="roundRect">
            <a:avLst>
              <a:gd name="adj" fmla="val 202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7" name="Text 189"/>
          <p:cNvSpPr txBox="1"/>
          <p:nvPr/>
        </p:nvSpPr>
        <p:spPr>
          <a:xfrm>
            <a:off x="1333500" y="6162675"/>
            <a:ext cx="190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2550" dirty="0"/>
          </a:p>
        </p:txBody>
      </p:sp>
      <p:sp>
        <p:nvSpPr>
          <p:cNvPr id="18" name="Text 190"/>
          <p:cNvSpPr txBox="1"/>
          <p:nvPr/>
        </p:nvSpPr>
        <p:spPr>
          <a:xfrm>
            <a:off x="1333500" y="66960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장비 · 드롭</a:t>
            </a:r>
            <a:endParaRPr lang="en-US" sz="2250" dirty="0"/>
          </a:p>
        </p:txBody>
      </p:sp>
      <p:sp>
        <p:nvSpPr>
          <p:cNvPr id="19" name="Text 191"/>
          <p:cNvSpPr txBox="1"/>
          <p:nvPr/>
        </p:nvSpPr>
        <p:spPr>
          <a:xfrm>
            <a:off x="1333500" y="7248525"/>
            <a:ext cx="428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6칸 · 희귀도 5단계. 처치 시 바닥 드롭, 이름표 클릭으로 줍기 (하급은 자동 습득)</a:t>
            </a:r>
            <a:endParaRPr lang="en-US" sz="1430" dirty="0"/>
          </a:p>
        </p:txBody>
      </p:sp>
      <p:sp>
        <p:nvSpPr>
          <p:cNvPr id="20" name="Card"/>
          <p:cNvSpPr/>
          <p:nvPr/>
        </p:nvSpPr>
        <p:spPr>
          <a:xfrm>
            <a:off x="6096000" y="5953125"/>
            <a:ext cx="4857750" cy="2714625"/>
          </a:xfrm>
          <a:prstGeom prst="roundRect">
            <a:avLst>
              <a:gd name="adj" fmla="val 202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1" name="Text 192"/>
          <p:cNvSpPr txBox="1"/>
          <p:nvPr/>
        </p:nvSpPr>
        <p:spPr>
          <a:xfrm>
            <a:off x="6381750" y="6162675"/>
            <a:ext cx="190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2550" dirty="0"/>
          </a:p>
        </p:txBody>
      </p:sp>
      <p:sp>
        <p:nvSpPr>
          <p:cNvPr id="22" name="Text 193"/>
          <p:cNvSpPr txBox="1"/>
          <p:nvPr/>
        </p:nvSpPr>
        <p:spPr>
          <a:xfrm>
            <a:off x="6381750" y="66960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업적 → 신격 트리</a:t>
            </a:r>
            <a:endParaRPr lang="en-US" sz="2250" dirty="0"/>
          </a:p>
        </p:txBody>
      </p:sp>
      <p:sp>
        <p:nvSpPr>
          <p:cNvPr id="23" name="Text 194"/>
          <p:cNvSpPr txBox="1"/>
          <p:nvPr/>
        </p:nvSpPr>
        <p:spPr>
          <a:xfrm>
            <a:off x="6381750" y="7248525"/>
            <a:ext cx="428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 27종에서 업적 포인트 획득, 반신부터 열리는 신격 트리(파라곤형)에 투자</a:t>
            </a:r>
            <a:endParaRPr lang="en-US" sz="1430" dirty="0"/>
          </a:p>
        </p:txBody>
      </p:sp>
      <p:sp>
        <p:nvSpPr>
          <p:cNvPr id="24" name="ScreenshotSlot"/>
          <p:cNvSpPr/>
          <p:nvPr/>
        </p:nvSpPr>
        <p:spPr>
          <a:xfrm>
            <a:off x="11239500" y="3048000"/>
            <a:ext cx="6000750" cy="3371850"/>
          </a:xfrm>
          <a:prstGeom prst="roundRect">
            <a:avLst>
              <a:gd name="adj" fmla="val 814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25" name="Diamond"/>
          <p:cNvSpPr/>
          <p:nvPr/>
        </p:nvSpPr>
        <p:spPr>
          <a:xfrm>
            <a:off x="14077950" y="4248150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26" name="Text 195"/>
          <p:cNvSpPr txBox="1"/>
          <p:nvPr/>
        </p:nvSpPr>
        <p:spPr>
          <a:xfrm>
            <a:off x="11239500" y="4772025"/>
            <a:ext cx="600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27" name="Text 196"/>
          <p:cNvSpPr txBox="1"/>
          <p:nvPr/>
        </p:nvSpPr>
        <p:spPr>
          <a:xfrm>
            <a:off x="11239500" y="5153025"/>
            <a:ext cx="600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창 (K) · 신격 트리 (G)</a:t>
            </a:r>
            <a:endParaRPr lang="en-US" sz="1350" dirty="0"/>
          </a:p>
        </p:txBody>
      </p:sp>
      <p:sp>
        <p:nvSpPr>
          <p:cNvPr id="28" name="Card"/>
          <p:cNvSpPr/>
          <p:nvPr/>
        </p:nvSpPr>
        <p:spPr>
          <a:xfrm>
            <a:off x="11239500" y="6629400"/>
            <a:ext cx="6000750" cy="2228850"/>
          </a:xfrm>
          <a:prstGeom prst="roundRect">
            <a:avLst>
              <a:gd name="adj" fmla="val 2462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29" name="Text 197"/>
          <p:cNvSpPr txBox="1"/>
          <p:nvPr/>
        </p:nvSpPr>
        <p:spPr>
          <a:xfrm>
            <a:off x="11544300" y="67818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성장 흐름</a:t>
            </a:r>
            <a:endParaRPr lang="en-US" sz="1800" dirty="0"/>
          </a:p>
        </p:txBody>
      </p:sp>
      <p:sp>
        <p:nvSpPr>
          <p:cNvPr id="30" name="Chip"/>
          <p:cNvSpPr/>
          <p:nvPr/>
        </p:nvSpPr>
        <p:spPr>
          <a:xfrm>
            <a:off x="11544300" y="7353300"/>
            <a:ext cx="590550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1" name="ChipText"/>
          <p:cNvSpPr txBox="1"/>
          <p:nvPr/>
        </p:nvSpPr>
        <p:spPr>
          <a:xfrm>
            <a:off x="11544300" y="735330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</a:t>
            </a:r>
            <a:endParaRPr lang="en-US" sz="1200" dirty="0"/>
          </a:p>
        </p:txBody>
      </p:sp>
      <p:sp>
        <p:nvSpPr>
          <p:cNvPr id="32" name="Arrow"/>
          <p:cNvSpPr/>
          <p:nvPr/>
        </p:nvSpPr>
        <p:spPr>
          <a:xfrm>
            <a:off x="12192000" y="7515225"/>
            <a:ext cx="2476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Chip"/>
          <p:cNvSpPr/>
          <p:nvPr/>
        </p:nvSpPr>
        <p:spPr>
          <a:xfrm>
            <a:off x="12515850" y="7353300"/>
            <a:ext cx="742950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4" name="ChipText"/>
          <p:cNvSpPr txBox="1"/>
          <p:nvPr/>
        </p:nvSpPr>
        <p:spPr>
          <a:xfrm>
            <a:off x="12515850" y="7353300"/>
            <a:ext cx="742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경험치</a:t>
            </a:r>
            <a:endParaRPr lang="en-US" sz="1200" dirty="0"/>
          </a:p>
        </p:txBody>
      </p:sp>
      <p:sp>
        <p:nvSpPr>
          <p:cNvPr id="35" name="Arrow"/>
          <p:cNvSpPr/>
          <p:nvPr/>
        </p:nvSpPr>
        <p:spPr>
          <a:xfrm>
            <a:off x="13315950" y="7515225"/>
            <a:ext cx="2476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6" name="Chip"/>
          <p:cNvSpPr/>
          <p:nvPr/>
        </p:nvSpPr>
        <p:spPr>
          <a:xfrm>
            <a:off x="13639800" y="7353300"/>
            <a:ext cx="742950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7" name="ChipText"/>
          <p:cNvSpPr txBox="1"/>
          <p:nvPr/>
        </p:nvSpPr>
        <p:spPr>
          <a:xfrm>
            <a:off x="13639800" y="7353300"/>
            <a:ext cx="742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레벨업</a:t>
            </a:r>
            <a:endParaRPr lang="en-US" sz="1200" dirty="0"/>
          </a:p>
        </p:txBody>
      </p:sp>
      <p:sp>
        <p:nvSpPr>
          <p:cNvPr id="38" name="Arrow"/>
          <p:cNvSpPr/>
          <p:nvPr/>
        </p:nvSpPr>
        <p:spPr>
          <a:xfrm>
            <a:off x="14439900" y="7515225"/>
            <a:ext cx="2476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Chip"/>
          <p:cNvSpPr/>
          <p:nvPr/>
        </p:nvSpPr>
        <p:spPr>
          <a:xfrm>
            <a:off x="14763750" y="7353300"/>
            <a:ext cx="1095375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0" name="ChipText"/>
          <p:cNvSpPr txBox="1"/>
          <p:nvPr/>
        </p:nvSpPr>
        <p:spPr>
          <a:xfrm>
            <a:off x="14763750" y="7353300"/>
            <a:ext cx="10953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포인트</a:t>
            </a:r>
            <a:endParaRPr lang="en-US" sz="1200" dirty="0"/>
          </a:p>
        </p:txBody>
      </p:sp>
      <p:sp>
        <p:nvSpPr>
          <p:cNvPr id="41" name="Chip"/>
          <p:cNvSpPr/>
          <p:nvPr/>
        </p:nvSpPr>
        <p:spPr>
          <a:xfrm>
            <a:off x="11544300" y="8039100"/>
            <a:ext cx="942975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2" name="ChipText"/>
          <p:cNvSpPr txBox="1"/>
          <p:nvPr/>
        </p:nvSpPr>
        <p:spPr>
          <a:xfrm>
            <a:off x="11544300" y="8039100"/>
            <a:ext cx="9429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 달성</a:t>
            </a:r>
            <a:endParaRPr lang="en-US" sz="1200" dirty="0"/>
          </a:p>
        </p:txBody>
      </p:sp>
      <p:sp>
        <p:nvSpPr>
          <p:cNvPr id="43" name="Arrow"/>
          <p:cNvSpPr/>
          <p:nvPr/>
        </p:nvSpPr>
        <p:spPr>
          <a:xfrm>
            <a:off x="12544425" y="8201025"/>
            <a:ext cx="2476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4" name="Chip"/>
          <p:cNvSpPr/>
          <p:nvPr/>
        </p:nvSpPr>
        <p:spPr>
          <a:xfrm>
            <a:off x="12868275" y="8039100"/>
            <a:ext cx="1095375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5" name="ChipText"/>
          <p:cNvSpPr txBox="1"/>
          <p:nvPr/>
        </p:nvSpPr>
        <p:spPr>
          <a:xfrm>
            <a:off x="12868275" y="8039100"/>
            <a:ext cx="10953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 포인트</a:t>
            </a:r>
            <a:endParaRPr lang="en-US" sz="1200" dirty="0"/>
          </a:p>
        </p:txBody>
      </p:sp>
      <p:sp>
        <p:nvSpPr>
          <p:cNvPr id="46" name="Arrow"/>
          <p:cNvSpPr/>
          <p:nvPr/>
        </p:nvSpPr>
        <p:spPr>
          <a:xfrm>
            <a:off x="14020800" y="8201025"/>
            <a:ext cx="2476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7" name="Chip"/>
          <p:cNvSpPr/>
          <p:nvPr/>
        </p:nvSpPr>
        <p:spPr>
          <a:xfrm>
            <a:off x="14344650" y="8039100"/>
            <a:ext cx="942975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8" name="ChipText"/>
          <p:cNvSpPr txBox="1"/>
          <p:nvPr/>
        </p:nvSpPr>
        <p:spPr>
          <a:xfrm>
            <a:off x="14344650" y="8039100"/>
            <a:ext cx="9429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신격 트리</a:t>
            </a:r>
            <a:endParaRPr lang="en-US" sz="1200" dirty="0"/>
          </a:p>
        </p:txBody>
      </p:sp>
      <p:sp>
        <p:nvSpPr>
          <p:cNvPr id="49" name="Arrow"/>
          <p:cNvSpPr/>
          <p:nvPr/>
        </p:nvSpPr>
        <p:spPr>
          <a:xfrm>
            <a:off x="15344775" y="8201025"/>
            <a:ext cx="2476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50" name="Chip"/>
          <p:cNvSpPr/>
          <p:nvPr/>
        </p:nvSpPr>
        <p:spPr>
          <a:xfrm>
            <a:off x="15668625" y="8039100"/>
            <a:ext cx="790575" cy="323850"/>
          </a:xfrm>
          <a:prstGeom prst="roundRect">
            <a:avLst>
              <a:gd name="adj" fmla="val 141176"/>
            </a:avLst>
          </a:prstGeom>
          <a:solidFill>
            <a:srgbClr val="1C1B17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51" name="ChipText"/>
          <p:cNvSpPr txBox="1"/>
          <p:nvPr/>
        </p:nvSpPr>
        <p:spPr>
          <a:xfrm>
            <a:off x="15668625" y="8039100"/>
            <a:ext cx="7905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 돌파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11   GROWTH  II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빌드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포인트로 슬롯을 키우고, Lv 3에서 강화 분기를 골라 같은 기술도 다르게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11 / 23</a:t>
            </a:r>
            <a:endParaRPr lang="en-US" sz="1200" dirty="0"/>
          </a:p>
        </p:txBody>
      </p:sp>
      <p:sp>
        <p:nvSpPr>
          <p:cNvPr id="8" name="ScreenshotSlot"/>
          <p:cNvSpPr/>
          <p:nvPr/>
        </p:nvSpPr>
        <p:spPr>
          <a:xfrm>
            <a:off x="1047750" y="3048000"/>
            <a:ext cx="8382000" cy="4714875"/>
          </a:xfrm>
          <a:prstGeom prst="roundRect">
            <a:avLst>
              <a:gd name="adj" fmla="val 582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9" name="Diamond"/>
          <p:cNvSpPr/>
          <p:nvPr/>
        </p:nvSpPr>
        <p:spPr>
          <a:xfrm>
            <a:off x="5076825" y="4919663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0" name="Text 198"/>
          <p:cNvSpPr txBox="1"/>
          <p:nvPr/>
        </p:nvSpPr>
        <p:spPr>
          <a:xfrm>
            <a:off x="1047750" y="5443538"/>
            <a:ext cx="838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11" name="Text 199"/>
          <p:cNvSpPr txBox="1"/>
          <p:nvPr/>
        </p:nvSpPr>
        <p:spPr>
          <a:xfrm>
            <a:off x="1047750" y="5824538"/>
            <a:ext cx="838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창 (K) — 격 단계별 기술 열 · 강화 패널</a:t>
            </a:r>
            <a:endParaRPr lang="en-US" sz="1350" dirty="0"/>
          </a:p>
        </p:txBody>
      </p:sp>
      <p:sp>
        <p:nvSpPr>
          <p:cNvPr id="12" name="Chip"/>
          <p:cNvSpPr/>
          <p:nvPr/>
        </p:nvSpPr>
        <p:spPr>
          <a:xfrm>
            <a:off x="1047750" y="8001000"/>
            <a:ext cx="1524000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3" name="ChipText"/>
          <p:cNvSpPr txBox="1"/>
          <p:nvPr/>
        </p:nvSpPr>
        <p:spPr>
          <a:xfrm>
            <a:off x="1047750" y="80010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우클릭 = 강화 +1</a:t>
            </a:r>
            <a:endParaRPr lang="en-US" sz="1280" dirty="0"/>
          </a:p>
        </p:txBody>
      </p:sp>
      <p:sp>
        <p:nvSpPr>
          <p:cNvPr id="14" name="Chip"/>
          <p:cNvSpPr/>
          <p:nvPr/>
        </p:nvSpPr>
        <p:spPr>
          <a:xfrm>
            <a:off x="2686050" y="8001000"/>
            <a:ext cx="1943100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5" name="ChipText"/>
          <p:cNvSpPr txBox="1"/>
          <p:nvPr/>
        </p:nvSpPr>
        <p:spPr>
          <a:xfrm>
            <a:off x="2686050" y="8001000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끌어 놓아 키 순서 교체</a:t>
            </a:r>
            <a:endParaRPr lang="en-US" sz="1280" dirty="0"/>
          </a:p>
        </p:txBody>
      </p:sp>
      <p:sp>
        <p:nvSpPr>
          <p:cNvPr id="16" name="Chip"/>
          <p:cNvSpPr/>
          <p:nvPr/>
        </p:nvSpPr>
        <p:spPr>
          <a:xfrm>
            <a:off x="4743450" y="8001000"/>
            <a:ext cx="2362200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7" name="ChipText"/>
          <p:cNvSpPr txBox="1"/>
          <p:nvPr/>
        </p:nvSpPr>
        <p:spPr>
          <a:xfrm>
            <a:off x="4743450" y="8001000"/>
            <a:ext cx="236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비전투 초기화 · 포인트 환급</a:t>
            </a:r>
            <a:endParaRPr lang="en-US" sz="1280" dirty="0"/>
          </a:p>
        </p:txBody>
      </p:sp>
      <p:sp>
        <p:nvSpPr>
          <p:cNvPr id="18" name="Card"/>
          <p:cNvSpPr/>
          <p:nvPr/>
        </p:nvSpPr>
        <p:spPr>
          <a:xfrm>
            <a:off x="9810750" y="3048000"/>
            <a:ext cx="7429500" cy="1905000"/>
          </a:xfrm>
          <a:prstGeom prst="roundRect">
            <a:avLst>
              <a:gd name="adj" fmla="val 288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9" name="Text 200"/>
          <p:cNvSpPr txBox="1"/>
          <p:nvPr/>
        </p:nvSpPr>
        <p:spPr>
          <a:xfrm>
            <a:off x="10115550" y="32194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슬롯 레벨</a:t>
            </a:r>
            <a:endParaRPr lang="en-US" sz="1950" dirty="0"/>
          </a:p>
        </p:txBody>
      </p:sp>
      <p:sp>
        <p:nvSpPr>
          <p:cNvPr id="20" name="Text 201"/>
          <p:cNvSpPr txBox="1"/>
          <p:nvPr/>
        </p:nvSpPr>
        <p:spPr>
          <a:xfrm>
            <a:off x="10115550" y="361950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Lv 1 → 15</a:t>
            </a:r>
            <a:endParaRPr lang="en-US" sz="3000" dirty="0"/>
          </a:p>
        </p:txBody>
      </p:sp>
      <p:sp>
        <p:nvSpPr>
          <p:cNvPr id="21" name="LvPip"/>
          <p:cNvSpPr/>
          <p:nvPr/>
        </p:nvSpPr>
        <p:spPr>
          <a:xfrm>
            <a:off x="129540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2" name="LvPip"/>
          <p:cNvSpPr/>
          <p:nvPr/>
        </p:nvSpPr>
        <p:spPr>
          <a:xfrm>
            <a:off x="132207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3" name="LvPip"/>
          <p:cNvSpPr/>
          <p:nvPr/>
        </p:nvSpPr>
        <p:spPr>
          <a:xfrm>
            <a:off x="134874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4" name="LvPip"/>
          <p:cNvSpPr/>
          <p:nvPr/>
        </p:nvSpPr>
        <p:spPr>
          <a:xfrm>
            <a:off x="137541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5" name="LvPip"/>
          <p:cNvSpPr/>
          <p:nvPr/>
        </p:nvSpPr>
        <p:spPr>
          <a:xfrm>
            <a:off x="140208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6" name="LvPip"/>
          <p:cNvSpPr/>
          <p:nvPr/>
        </p:nvSpPr>
        <p:spPr>
          <a:xfrm>
            <a:off x="142875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7" name="LvPip"/>
          <p:cNvSpPr/>
          <p:nvPr/>
        </p:nvSpPr>
        <p:spPr>
          <a:xfrm>
            <a:off x="145542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8" name="LvPip"/>
          <p:cNvSpPr/>
          <p:nvPr/>
        </p:nvSpPr>
        <p:spPr>
          <a:xfrm>
            <a:off x="148209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29" name="LvPip"/>
          <p:cNvSpPr/>
          <p:nvPr/>
        </p:nvSpPr>
        <p:spPr>
          <a:xfrm>
            <a:off x="150876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30" name="LvPip"/>
          <p:cNvSpPr/>
          <p:nvPr/>
        </p:nvSpPr>
        <p:spPr>
          <a:xfrm>
            <a:off x="153543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20000"/>
            </a:srgbClr>
          </a:solidFill>
          <a:ln/>
        </p:spPr>
      </p:sp>
      <p:sp>
        <p:nvSpPr>
          <p:cNvPr id="31" name="LvPip"/>
          <p:cNvSpPr/>
          <p:nvPr/>
        </p:nvSpPr>
        <p:spPr>
          <a:xfrm>
            <a:off x="156210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20000"/>
            </a:srgbClr>
          </a:solidFill>
          <a:ln/>
        </p:spPr>
      </p:sp>
      <p:sp>
        <p:nvSpPr>
          <p:cNvPr id="32" name="LvPip"/>
          <p:cNvSpPr/>
          <p:nvPr/>
        </p:nvSpPr>
        <p:spPr>
          <a:xfrm>
            <a:off x="158877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20000"/>
            </a:srgbClr>
          </a:solidFill>
          <a:ln/>
        </p:spPr>
      </p:sp>
      <p:sp>
        <p:nvSpPr>
          <p:cNvPr id="33" name="LvPip"/>
          <p:cNvSpPr/>
          <p:nvPr/>
        </p:nvSpPr>
        <p:spPr>
          <a:xfrm>
            <a:off x="161544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20000"/>
            </a:srgbClr>
          </a:solidFill>
          <a:ln/>
        </p:spPr>
      </p:sp>
      <p:sp>
        <p:nvSpPr>
          <p:cNvPr id="34" name="LvPip"/>
          <p:cNvSpPr/>
          <p:nvPr/>
        </p:nvSpPr>
        <p:spPr>
          <a:xfrm>
            <a:off x="164211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20000"/>
            </a:srgbClr>
          </a:solidFill>
          <a:ln/>
        </p:spPr>
      </p:sp>
      <p:sp>
        <p:nvSpPr>
          <p:cNvPr id="35" name="LvPip"/>
          <p:cNvSpPr/>
          <p:nvPr/>
        </p:nvSpPr>
        <p:spPr>
          <a:xfrm>
            <a:off x="16687800" y="3790950"/>
            <a:ext cx="209550" cy="133350"/>
          </a:xfrm>
          <a:prstGeom prst="roundRect">
            <a:avLst>
              <a:gd name="adj" fmla="val 137143"/>
            </a:avLst>
          </a:prstGeom>
          <a:solidFill>
            <a:srgbClr val="E9B45A">
              <a:alpha val="20000"/>
            </a:srgbClr>
          </a:solidFill>
          <a:ln/>
        </p:spPr>
      </p:sp>
      <p:sp>
        <p:nvSpPr>
          <p:cNvPr id="36" name="Text 202"/>
          <p:cNvSpPr txBox="1"/>
          <p:nvPr/>
        </p:nvSpPr>
        <p:spPr>
          <a:xfrm>
            <a:off x="10115550" y="4305300"/>
            <a:ext cx="685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레벨당 피해 · 효과량 +5% (최대 +70%)  ·  레벨업마다 기술 포인트 +1</a:t>
            </a:r>
            <a:endParaRPr lang="en-US" sz="1350" dirty="0"/>
          </a:p>
        </p:txBody>
      </p:sp>
      <p:sp>
        <p:nvSpPr>
          <p:cNvPr id="37" name="Card"/>
          <p:cNvSpPr/>
          <p:nvPr/>
        </p:nvSpPr>
        <p:spPr>
          <a:xfrm>
            <a:off x="9810750" y="5143500"/>
            <a:ext cx="7429500" cy="2286000"/>
          </a:xfrm>
          <a:prstGeom prst="roundRect">
            <a:avLst>
              <a:gd name="adj" fmla="val 2400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38" name="Text 203"/>
          <p:cNvSpPr txBox="1"/>
          <p:nvPr/>
        </p:nvSpPr>
        <p:spPr>
          <a:xfrm>
            <a:off x="10115550" y="53149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강화 분기 (우클릭 슬롯 Lv 3)</a:t>
            </a:r>
            <a:endParaRPr lang="en-US" sz="1950" dirty="0"/>
          </a:p>
        </p:txBody>
      </p:sp>
      <p:sp>
        <p:nvSpPr>
          <p:cNvPr id="39" name="Card"/>
          <p:cNvSpPr/>
          <p:nvPr/>
        </p:nvSpPr>
        <p:spPr>
          <a:xfrm>
            <a:off x="10115550" y="5829300"/>
            <a:ext cx="3314700" cy="1409700"/>
          </a:xfrm>
          <a:prstGeom prst="roundRect">
            <a:avLst>
              <a:gd name="adj" fmla="val 3892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0" name="Text 204"/>
          <p:cNvSpPr txBox="1"/>
          <p:nvPr/>
        </p:nvSpPr>
        <p:spPr>
          <a:xfrm>
            <a:off x="10325100" y="594360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</a:t>
            </a:r>
            <a:endParaRPr lang="en-US" sz="2250" dirty="0"/>
          </a:p>
        </p:txBody>
      </p:sp>
      <p:sp>
        <p:nvSpPr>
          <p:cNvPr id="41" name="Text 205"/>
          <p:cNvSpPr txBox="1"/>
          <p:nvPr/>
        </p:nvSpPr>
        <p:spPr>
          <a:xfrm>
            <a:off x="10687050" y="59817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확산</a:t>
            </a:r>
            <a:endParaRPr lang="en-US" sz="1800" dirty="0"/>
          </a:p>
        </p:txBody>
      </p:sp>
      <p:sp>
        <p:nvSpPr>
          <p:cNvPr id="42" name="Text 206"/>
          <p:cNvSpPr txBox="1"/>
          <p:nvPr/>
        </p:nvSpPr>
        <p:spPr>
          <a:xfrm>
            <a:off x="10325100" y="6438900"/>
            <a:ext cx="2952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강타가 주변 적 3명까지 퍼짐</a:t>
            </a:r>
            <a:endParaRPr lang="en-US" sz="12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피해 최대 160%를 나눠 가짐</a:t>
            </a:r>
            <a:endParaRPr lang="en-US" sz="1280" dirty="0"/>
          </a:p>
        </p:txBody>
      </p:sp>
      <p:sp>
        <p:nvSpPr>
          <p:cNvPr id="43" name="Card"/>
          <p:cNvSpPr/>
          <p:nvPr/>
        </p:nvSpPr>
        <p:spPr>
          <a:xfrm>
            <a:off x="13620750" y="5829300"/>
            <a:ext cx="3314700" cy="1409700"/>
          </a:xfrm>
          <a:prstGeom prst="roundRect">
            <a:avLst>
              <a:gd name="adj" fmla="val 3892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4" name="Text 207"/>
          <p:cNvSpPr txBox="1"/>
          <p:nvPr/>
        </p:nvSpPr>
        <p:spPr>
          <a:xfrm>
            <a:off x="13830300" y="594360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</a:t>
            </a:r>
            <a:endParaRPr lang="en-US" sz="2250" dirty="0"/>
          </a:p>
        </p:txBody>
      </p:sp>
      <p:sp>
        <p:nvSpPr>
          <p:cNvPr id="45" name="Text 208"/>
          <p:cNvSpPr txBox="1"/>
          <p:nvPr/>
        </p:nvSpPr>
        <p:spPr>
          <a:xfrm>
            <a:off x="14192250" y="59817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CE6D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응징</a:t>
            </a:r>
            <a:endParaRPr lang="en-US" sz="1800" dirty="0"/>
          </a:p>
        </p:txBody>
      </p:sp>
      <p:sp>
        <p:nvSpPr>
          <p:cNvPr id="46" name="Text 209"/>
          <p:cNvSpPr txBox="1"/>
          <p:nvPr/>
        </p:nvSpPr>
        <p:spPr>
          <a:xfrm>
            <a:off x="13830300" y="6438900"/>
            <a:ext cx="2952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대상 피해 +20%</a:t>
            </a:r>
            <a:endParaRPr lang="en-US" sz="12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· 정예 집중용</a:t>
            </a:r>
            <a:endParaRPr lang="en-US" sz="1280" dirty="0"/>
          </a:p>
        </p:txBody>
      </p:sp>
      <p:sp>
        <p:nvSpPr>
          <p:cNvPr id="47" name="Card"/>
          <p:cNvSpPr/>
          <p:nvPr/>
        </p:nvSpPr>
        <p:spPr>
          <a:xfrm>
            <a:off x="9810750" y="7620000"/>
            <a:ext cx="7429500" cy="1295400"/>
          </a:xfrm>
          <a:prstGeom prst="roundRect">
            <a:avLst>
              <a:gd name="adj" fmla="val 423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8" name="Text 210"/>
          <p:cNvSpPr txBox="1"/>
          <p:nvPr/>
        </p:nvSpPr>
        <p:spPr>
          <a:xfrm>
            <a:off x="10115550" y="7772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습득형 · 숨김</a:t>
            </a:r>
            <a:endParaRPr lang="en-US" sz="1650" dirty="0"/>
          </a:p>
        </p:txBody>
      </p:sp>
      <p:sp>
        <p:nvSpPr>
          <p:cNvPr id="49" name="Text 211"/>
          <p:cNvSpPr txBox="1"/>
          <p:nvPr/>
        </p:nvSpPr>
        <p:spPr>
          <a:xfrm>
            <a:off x="10115550" y="81534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모드 전환 기술은 포인트 1로 습득 (0/1 → 1/1)  ·  아직 닿지 않은 격의 기술 열은 ???로 숨김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12   GROWTH  III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장비 · 드롭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 보상은 바닥에 떨어지고, 희귀도에 따라 자동 습득 · 클릭 줍기로 나뉨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12 / 23</a:t>
            </a:r>
            <a:endParaRPr lang="en-US" sz="1200" dirty="0"/>
          </a:p>
        </p:txBody>
      </p:sp>
      <p:sp>
        <p:nvSpPr>
          <p:cNvPr id="8" name="ScreenshotSlot"/>
          <p:cNvSpPr/>
          <p:nvPr/>
        </p:nvSpPr>
        <p:spPr>
          <a:xfrm>
            <a:off x="1047750" y="3048000"/>
            <a:ext cx="8382000" cy="4714875"/>
          </a:xfrm>
          <a:prstGeom prst="roundRect">
            <a:avLst>
              <a:gd name="adj" fmla="val 582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9" name="Diamond"/>
          <p:cNvSpPr/>
          <p:nvPr/>
        </p:nvSpPr>
        <p:spPr>
          <a:xfrm>
            <a:off x="5076825" y="4919663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0" name="Text 212"/>
          <p:cNvSpPr txBox="1"/>
          <p:nvPr/>
        </p:nvSpPr>
        <p:spPr>
          <a:xfrm>
            <a:off x="1047750" y="5443538"/>
            <a:ext cx="838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11" name="Text 213"/>
          <p:cNvSpPr txBox="1"/>
          <p:nvPr/>
        </p:nvSpPr>
        <p:spPr>
          <a:xfrm>
            <a:off x="1047750" y="5824538"/>
            <a:ext cx="838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인벤토리 (I) · 바닥 아이템 이름표</a:t>
            </a:r>
            <a:endParaRPr lang="en-US" sz="1350" dirty="0"/>
          </a:p>
        </p:txBody>
      </p:sp>
      <p:sp>
        <p:nvSpPr>
          <p:cNvPr id="12" name="Chip"/>
          <p:cNvSpPr/>
          <p:nvPr/>
        </p:nvSpPr>
        <p:spPr>
          <a:xfrm>
            <a:off x="1047750" y="8001000"/>
            <a:ext cx="199072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3" name="ChipText"/>
          <p:cNvSpPr txBox="1"/>
          <p:nvPr/>
        </p:nvSpPr>
        <p:spPr>
          <a:xfrm>
            <a:off x="1047750" y="8001000"/>
            <a:ext cx="1990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우클릭 · 더블클릭 장착</a:t>
            </a:r>
            <a:endParaRPr lang="en-US" sz="1280" dirty="0"/>
          </a:p>
        </p:txBody>
      </p:sp>
      <p:sp>
        <p:nvSpPr>
          <p:cNvPr id="14" name="Chip"/>
          <p:cNvSpPr/>
          <p:nvPr/>
        </p:nvSpPr>
        <p:spPr>
          <a:xfrm>
            <a:off x="3152775" y="8001000"/>
            <a:ext cx="210502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5" name="ChipText"/>
          <p:cNvSpPr txBox="1"/>
          <p:nvPr/>
        </p:nvSpPr>
        <p:spPr>
          <a:xfrm>
            <a:off x="3152775" y="8001000"/>
            <a:ext cx="2105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칸 어디든 끌어 놓기</a:t>
            </a:r>
            <a:endParaRPr lang="en-US" sz="1280" dirty="0"/>
          </a:p>
        </p:txBody>
      </p:sp>
      <p:sp>
        <p:nvSpPr>
          <p:cNvPr id="16" name="Chip"/>
          <p:cNvSpPr/>
          <p:nvPr/>
        </p:nvSpPr>
        <p:spPr>
          <a:xfrm>
            <a:off x="5372100" y="8001000"/>
            <a:ext cx="197167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7" name="ChipText"/>
          <p:cNvSpPr txBox="1"/>
          <p:nvPr/>
        </p:nvSpPr>
        <p:spPr>
          <a:xfrm>
            <a:off x="5372100" y="8001000"/>
            <a:ext cx="1971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착용 장비 비교 툴팁 ▲▼</a:t>
            </a:r>
            <a:endParaRPr lang="en-US" sz="1280" dirty="0"/>
          </a:p>
        </p:txBody>
      </p:sp>
      <p:sp>
        <p:nvSpPr>
          <p:cNvPr id="18" name="Card"/>
          <p:cNvSpPr/>
          <p:nvPr/>
        </p:nvSpPr>
        <p:spPr>
          <a:xfrm>
            <a:off x="9810750" y="3048000"/>
            <a:ext cx="3524250" cy="3810000"/>
          </a:xfrm>
          <a:prstGeom prst="roundRect">
            <a:avLst>
              <a:gd name="adj" fmla="val 1557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9" name="Text 214"/>
          <p:cNvSpPr txBox="1"/>
          <p:nvPr/>
        </p:nvSpPr>
        <p:spPr>
          <a:xfrm>
            <a:off x="10096500" y="32194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희귀도 5단계</a:t>
            </a:r>
            <a:endParaRPr lang="en-US" sz="1800" dirty="0"/>
          </a:p>
        </p:txBody>
      </p:sp>
      <p:sp>
        <p:nvSpPr>
          <p:cNvPr id="20" name="Shape 215"/>
          <p:cNvSpPr/>
          <p:nvPr/>
        </p:nvSpPr>
        <p:spPr>
          <a:xfrm>
            <a:off x="10096500" y="3752850"/>
            <a:ext cx="381000" cy="381000"/>
          </a:xfrm>
          <a:prstGeom prst="roundRect">
            <a:avLst>
              <a:gd name="adj" fmla="val 36000"/>
            </a:avLst>
          </a:prstGeom>
          <a:solidFill>
            <a:srgbClr val="9AA0AA">
              <a:alpha val="25000"/>
            </a:srgbClr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21" name="Diamond"/>
          <p:cNvSpPr/>
          <p:nvPr/>
        </p:nvSpPr>
        <p:spPr>
          <a:xfrm>
            <a:off x="10220325" y="3876675"/>
            <a:ext cx="133350" cy="133350"/>
          </a:xfrm>
          <a:prstGeom prst="diamond">
            <a:avLst/>
          </a:prstGeom>
          <a:solidFill>
            <a:srgbClr val="9AA0AA"/>
          </a:solidFill>
          <a:ln/>
        </p:spPr>
      </p:sp>
      <p:sp>
        <p:nvSpPr>
          <p:cNvPr id="22" name="Text 216"/>
          <p:cNvSpPr txBox="1"/>
          <p:nvPr/>
        </p:nvSpPr>
        <p:spPr>
          <a:xfrm>
            <a:off x="10629900" y="37909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</a:t>
            </a:r>
            <a:endParaRPr lang="en-US" sz="1650" dirty="0"/>
          </a:p>
        </p:txBody>
      </p:sp>
      <p:sp>
        <p:nvSpPr>
          <p:cNvPr id="23" name="Shape 217"/>
          <p:cNvSpPr/>
          <p:nvPr/>
        </p:nvSpPr>
        <p:spPr>
          <a:xfrm>
            <a:off x="11391900" y="3924300"/>
            <a:ext cx="1619250" cy="38100"/>
          </a:xfrm>
          <a:prstGeom prst="rect">
            <a:avLst/>
          </a:prstGeom>
          <a:solidFill>
            <a:srgbClr val="9AA0AA">
              <a:alpha val="70000"/>
            </a:srgbClr>
          </a:solidFill>
          <a:ln/>
        </p:spPr>
      </p:sp>
      <p:sp>
        <p:nvSpPr>
          <p:cNvPr id="24" name="Shape 218"/>
          <p:cNvSpPr/>
          <p:nvPr/>
        </p:nvSpPr>
        <p:spPr>
          <a:xfrm>
            <a:off x="10096500" y="4343400"/>
            <a:ext cx="381000" cy="381000"/>
          </a:xfrm>
          <a:prstGeom prst="roundRect">
            <a:avLst>
              <a:gd name="adj" fmla="val 36000"/>
            </a:avLst>
          </a:prstGeom>
          <a:solidFill>
            <a:srgbClr val="5FB36A">
              <a:alpha val="25000"/>
            </a:srgbClr>
          </a:solidFill>
          <a:ln w="12700">
            <a:solidFill>
              <a:srgbClr val="5FB36A"/>
            </a:solidFill>
            <a:prstDash val="solid"/>
          </a:ln>
        </p:spPr>
      </p:sp>
      <p:sp>
        <p:nvSpPr>
          <p:cNvPr id="25" name="Diamond"/>
          <p:cNvSpPr/>
          <p:nvPr/>
        </p:nvSpPr>
        <p:spPr>
          <a:xfrm>
            <a:off x="10220325" y="4467225"/>
            <a:ext cx="133350" cy="133350"/>
          </a:xfrm>
          <a:prstGeom prst="diamond">
            <a:avLst/>
          </a:prstGeom>
          <a:solidFill>
            <a:srgbClr val="5FB36A"/>
          </a:solidFill>
          <a:ln/>
        </p:spPr>
      </p:sp>
      <p:sp>
        <p:nvSpPr>
          <p:cNvPr id="26" name="Text 219"/>
          <p:cNvSpPr txBox="1"/>
          <p:nvPr/>
        </p:nvSpPr>
        <p:spPr>
          <a:xfrm>
            <a:off x="10629900" y="43815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5FB3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1650" dirty="0"/>
          </a:p>
        </p:txBody>
      </p:sp>
      <p:sp>
        <p:nvSpPr>
          <p:cNvPr id="27" name="Shape 220"/>
          <p:cNvSpPr/>
          <p:nvPr/>
        </p:nvSpPr>
        <p:spPr>
          <a:xfrm>
            <a:off x="11391900" y="4514850"/>
            <a:ext cx="1619250" cy="38100"/>
          </a:xfrm>
          <a:prstGeom prst="rect">
            <a:avLst/>
          </a:prstGeom>
          <a:solidFill>
            <a:srgbClr val="5FB36A">
              <a:alpha val="70000"/>
            </a:srgbClr>
          </a:solidFill>
          <a:ln/>
        </p:spPr>
      </p:sp>
      <p:sp>
        <p:nvSpPr>
          <p:cNvPr id="28" name="Shape 221"/>
          <p:cNvSpPr/>
          <p:nvPr/>
        </p:nvSpPr>
        <p:spPr>
          <a:xfrm>
            <a:off x="10096500" y="4933950"/>
            <a:ext cx="381000" cy="381000"/>
          </a:xfrm>
          <a:prstGeom prst="roundRect">
            <a:avLst>
              <a:gd name="adj" fmla="val 36000"/>
            </a:avLst>
          </a:prstGeom>
          <a:solidFill>
            <a:srgbClr val="4A90E2">
              <a:alpha val="25000"/>
            </a:srgbClr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9" name="Diamond"/>
          <p:cNvSpPr/>
          <p:nvPr/>
        </p:nvSpPr>
        <p:spPr>
          <a:xfrm>
            <a:off x="10220325" y="5057775"/>
            <a:ext cx="133350" cy="133350"/>
          </a:xfrm>
          <a:prstGeom prst="diamond">
            <a:avLst/>
          </a:prstGeom>
          <a:solidFill>
            <a:srgbClr val="4A90E2"/>
          </a:solidFill>
          <a:ln/>
        </p:spPr>
      </p:sp>
      <p:sp>
        <p:nvSpPr>
          <p:cNvPr id="30" name="Text 222"/>
          <p:cNvSpPr txBox="1"/>
          <p:nvPr/>
        </p:nvSpPr>
        <p:spPr>
          <a:xfrm>
            <a:off x="10629900" y="49720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90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</a:t>
            </a:r>
            <a:endParaRPr lang="en-US" sz="1650" dirty="0"/>
          </a:p>
        </p:txBody>
      </p:sp>
      <p:sp>
        <p:nvSpPr>
          <p:cNvPr id="31" name="Shape 223"/>
          <p:cNvSpPr/>
          <p:nvPr/>
        </p:nvSpPr>
        <p:spPr>
          <a:xfrm>
            <a:off x="11391900" y="5105400"/>
            <a:ext cx="1619250" cy="38100"/>
          </a:xfrm>
          <a:prstGeom prst="rect">
            <a:avLst/>
          </a:prstGeom>
          <a:solidFill>
            <a:srgbClr val="4A90E2">
              <a:alpha val="70000"/>
            </a:srgbClr>
          </a:solidFill>
          <a:ln/>
        </p:spPr>
      </p:sp>
      <p:sp>
        <p:nvSpPr>
          <p:cNvPr id="32" name="Shape 224"/>
          <p:cNvSpPr/>
          <p:nvPr/>
        </p:nvSpPr>
        <p:spPr>
          <a:xfrm>
            <a:off x="10096500" y="5524500"/>
            <a:ext cx="381000" cy="381000"/>
          </a:xfrm>
          <a:prstGeom prst="roundRect">
            <a:avLst>
              <a:gd name="adj" fmla="val 36000"/>
            </a:avLst>
          </a:prstGeom>
          <a:solidFill>
            <a:srgbClr val="B48CFF">
              <a:alpha val="25000"/>
            </a:srgbClr>
          </a:solidFill>
          <a:ln w="12700">
            <a:solidFill>
              <a:srgbClr val="B48CFF"/>
            </a:solidFill>
            <a:prstDash val="solid"/>
          </a:ln>
        </p:spPr>
      </p:sp>
      <p:sp>
        <p:nvSpPr>
          <p:cNvPr id="33" name="Diamond"/>
          <p:cNvSpPr/>
          <p:nvPr/>
        </p:nvSpPr>
        <p:spPr>
          <a:xfrm>
            <a:off x="10220325" y="5648325"/>
            <a:ext cx="133350" cy="133350"/>
          </a:xfrm>
          <a:prstGeom prst="diamond">
            <a:avLst/>
          </a:prstGeom>
          <a:solidFill>
            <a:srgbClr val="B48CFF"/>
          </a:solidFill>
          <a:ln/>
        </p:spPr>
      </p:sp>
      <p:sp>
        <p:nvSpPr>
          <p:cNvPr id="34" name="Text 225"/>
          <p:cNvSpPr txBox="1"/>
          <p:nvPr/>
        </p:nvSpPr>
        <p:spPr>
          <a:xfrm>
            <a:off x="10629900" y="55626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B48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</a:t>
            </a:r>
            <a:endParaRPr lang="en-US" sz="1650" dirty="0"/>
          </a:p>
        </p:txBody>
      </p:sp>
      <p:sp>
        <p:nvSpPr>
          <p:cNvPr id="35" name="Shape 226"/>
          <p:cNvSpPr/>
          <p:nvPr/>
        </p:nvSpPr>
        <p:spPr>
          <a:xfrm>
            <a:off x="11391900" y="5695950"/>
            <a:ext cx="1619250" cy="38100"/>
          </a:xfrm>
          <a:prstGeom prst="rect">
            <a:avLst/>
          </a:prstGeom>
          <a:solidFill>
            <a:srgbClr val="B48CFF">
              <a:alpha val="70000"/>
            </a:srgbClr>
          </a:solidFill>
          <a:ln/>
        </p:spPr>
      </p:sp>
      <p:sp>
        <p:nvSpPr>
          <p:cNvPr id="36" name="Shape 227"/>
          <p:cNvSpPr/>
          <p:nvPr/>
        </p:nvSpPr>
        <p:spPr>
          <a:xfrm>
            <a:off x="10096500" y="6115050"/>
            <a:ext cx="381000" cy="381000"/>
          </a:xfrm>
          <a:prstGeom prst="roundRect">
            <a:avLst>
              <a:gd name="adj" fmla="val 36000"/>
            </a:avLst>
          </a:prstGeom>
          <a:solidFill>
            <a:srgbClr val="E9B45A">
              <a:alpha val="25000"/>
            </a:srgbClr>
          </a:solidFill>
          <a:ln w="12700">
            <a:solidFill>
              <a:srgbClr val="E9B45A"/>
            </a:solidFill>
            <a:prstDash val="solid"/>
          </a:ln>
        </p:spPr>
      </p:sp>
      <p:sp>
        <p:nvSpPr>
          <p:cNvPr id="37" name="Diamond"/>
          <p:cNvSpPr/>
          <p:nvPr/>
        </p:nvSpPr>
        <p:spPr>
          <a:xfrm>
            <a:off x="10220325" y="623887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8" name="Text 228"/>
          <p:cNvSpPr txBox="1"/>
          <p:nvPr/>
        </p:nvSpPr>
        <p:spPr>
          <a:xfrm>
            <a:off x="10629900" y="61531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전설</a:t>
            </a:r>
            <a:endParaRPr lang="en-US" sz="1650" dirty="0"/>
          </a:p>
        </p:txBody>
      </p:sp>
      <p:sp>
        <p:nvSpPr>
          <p:cNvPr id="39" name="Shape 229"/>
          <p:cNvSpPr/>
          <p:nvPr/>
        </p:nvSpPr>
        <p:spPr>
          <a:xfrm>
            <a:off x="11391900" y="6286500"/>
            <a:ext cx="1619250" cy="38100"/>
          </a:xfrm>
          <a:prstGeom prst="rect">
            <a:avLst/>
          </a:prstGeom>
          <a:solidFill>
            <a:srgbClr val="E9B45A">
              <a:alpha val="70000"/>
            </a:srgbClr>
          </a:solidFill>
          <a:ln/>
        </p:spPr>
      </p:sp>
      <p:sp>
        <p:nvSpPr>
          <p:cNvPr id="40" name="Card"/>
          <p:cNvSpPr/>
          <p:nvPr/>
        </p:nvSpPr>
        <p:spPr>
          <a:xfrm>
            <a:off x="13525500" y="3048000"/>
            <a:ext cx="3714750" cy="3810000"/>
          </a:xfrm>
          <a:prstGeom prst="roundRect">
            <a:avLst>
              <a:gd name="adj" fmla="val 1477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41" name="Text 230"/>
          <p:cNvSpPr txBox="1"/>
          <p:nvPr/>
        </p:nvSpPr>
        <p:spPr>
          <a:xfrm>
            <a:off x="13811250" y="32194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바닥 드롭 규칙</a:t>
            </a:r>
            <a:endParaRPr lang="en-US" sz="1800" dirty="0"/>
          </a:p>
        </p:txBody>
      </p:sp>
      <p:sp>
        <p:nvSpPr>
          <p:cNvPr id="42" name="Diamond"/>
          <p:cNvSpPr/>
          <p:nvPr/>
        </p:nvSpPr>
        <p:spPr>
          <a:xfrm>
            <a:off x="13839825" y="384810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3" name="Text 231"/>
          <p:cNvSpPr txBox="1"/>
          <p:nvPr/>
        </p:nvSpPr>
        <p:spPr>
          <a:xfrm>
            <a:off x="14058900" y="37719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습득</a:t>
            </a:r>
            <a:endParaRPr lang="en-US" sz="1430" dirty="0"/>
          </a:p>
        </p:txBody>
      </p:sp>
      <p:sp>
        <p:nvSpPr>
          <p:cNvPr id="44" name="Text 232"/>
          <p:cNvSpPr txBox="1"/>
          <p:nvPr/>
        </p:nvSpPr>
        <p:spPr>
          <a:xfrm>
            <a:off x="14058900" y="4076700"/>
            <a:ext cx="2952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금화 · 희귀 이하 소모품 · 재료</a:t>
            </a:r>
            <a:endParaRPr lang="en-US" sz="1200" dirty="0"/>
          </a:p>
        </p:txBody>
      </p:sp>
      <p:sp>
        <p:nvSpPr>
          <p:cNvPr id="45" name="Diamond"/>
          <p:cNvSpPr/>
          <p:nvPr/>
        </p:nvSpPr>
        <p:spPr>
          <a:xfrm>
            <a:off x="13839825" y="483870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6" name="Text 233"/>
          <p:cNvSpPr txBox="1"/>
          <p:nvPr/>
        </p:nvSpPr>
        <p:spPr>
          <a:xfrm>
            <a:off x="14058900" y="47625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줍기</a:t>
            </a:r>
            <a:endParaRPr lang="en-US" sz="1430" dirty="0"/>
          </a:p>
        </p:txBody>
      </p:sp>
      <p:sp>
        <p:nvSpPr>
          <p:cNvPr id="47" name="Text 234"/>
          <p:cNvSpPr txBox="1"/>
          <p:nvPr/>
        </p:nvSpPr>
        <p:spPr>
          <a:xfrm>
            <a:off x="14058900" y="5067300"/>
            <a:ext cx="2952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· 영웅 이상 재료 → 이름표 클릭 → 걸어가서 줍기</a:t>
            </a:r>
            <a:endParaRPr lang="en-US" sz="1200" dirty="0"/>
          </a:p>
        </p:txBody>
      </p:sp>
      <p:sp>
        <p:nvSpPr>
          <p:cNvPr id="48" name="Diamond"/>
          <p:cNvSpPr/>
          <p:nvPr/>
        </p:nvSpPr>
        <p:spPr>
          <a:xfrm>
            <a:off x="13839825" y="5829300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9" name="Text 235"/>
          <p:cNvSpPr txBox="1"/>
          <p:nvPr/>
        </p:nvSpPr>
        <p:spPr>
          <a:xfrm>
            <a:off x="14058900" y="57531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이름표</a:t>
            </a:r>
            <a:endParaRPr lang="en-US" sz="1430" dirty="0"/>
          </a:p>
        </p:txBody>
      </p:sp>
      <p:sp>
        <p:nvSpPr>
          <p:cNvPr id="50" name="Text 236"/>
          <p:cNvSpPr txBox="1"/>
          <p:nvPr/>
        </p:nvSpPr>
        <p:spPr>
          <a:xfrm>
            <a:off x="14058900" y="6057900"/>
            <a:ext cx="2952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겹치면 위로 정리 · 마우스를 올리면 강조</a:t>
            </a:r>
            <a:endParaRPr lang="en-US" sz="1200" dirty="0"/>
          </a:p>
        </p:txBody>
      </p:sp>
      <p:sp>
        <p:nvSpPr>
          <p:cNvPr id="51" name="Card"/>
          <p:cNvSpPr/>
          <p:nvPr/>
        </p:nvSpPr>
        <p:spPr>
          <a:xfrm>
            <a:off x="9810750" y="7048500"/>
            <a:ext cx="7429500" cy="1866900"/>
          </a:xfrm>
          <a:prstGeom prst="roundRect">
            <a:avLst>
              <a:gd name="adj" fmla="val 2939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52" name="Text 237"/>
          <p:cNvSpPr txBox="1"/>
          <p:nvPr/>
        </p:nvSpPr>
        <p:spPr>
          <a:xfrm>
            <a:off x="10096500" y="72009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인벤토리 (I)</a:t>
            </a:r>
            <a:endParaRPr lang="en-US" sz="1800" dirty="0"/>
          </a:p>
        </p:txBody>
      </p:sp>
      <p:sp>
        <p:nvSpPr>
          <p:cNvPr id="53" name="Diamond"/>
          <p:cNvSpPr/>
          <p:nvPr/>
        </p:nvSpPr>
        <p:spPr>
          <a:xfrm>
            <a:off x="10129838" y="7700963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4" name="Text 238"/>
          <p:cNvSpPr txBox="1"/>
          <p:nvPr/>
        </p:nvSpPr>
        <p:spPr>
          <a:xfrm>
            <a:off x="10344150" y="7620000"/>
            <a:ext cx="676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6칸 + 장비 효과 합계 · 상세 정보창에 능력치 증감 "(+64)" 표시</a:t>
            </a:r>
            <a:endParaRPr lang="en-US" sz="1280" dirty="0"/>
          </a:p>
        </p:txBody>
      </p:sp>
      <p:sp>
        <p:nvSpPr>
          <p:cNvPr id="55" name="Diamond"/>
          <p:cNvSpPr/>
          <p:nvPr/>
        </p:nvSpPr>
        <p:spPr>
          <a:xfrm>
            <a:off x="10129838" y="8062913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6" name="Text 239"/>
          <p:cNvSpPr txBox="1"/>
          <p:nvPr/>
        </p:nvSpPr>
        <p:spPr>
          <a:xfrm>
            <a:off x="10344150" y="7981950"/>
            <a:ext cx="676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분류별 가방 (장비 · 소모품 · 재료) 각 12 × 8칸 · 정렬</a:t>
            </a:r>
            <a:endParaRPr lang="en-US" sz="1280" dirty="0"/>
          </a:p>
        </p:txBody>
      </p:sp>
      <p:sp>
        <p:nvSpPr>
          <p:cNvPr id="57" name="Diamond"/>
          <p:cNvSpPr/>
          <p:nvPr/>
        </p:nvSpPr>
        <p:spPr>
          <a:xfrm>
            <a:off x="10129838" y="8424863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8" name="Text 240"/>
          <p:cNvSpPr txBox="1"/>
          <p:nvPr/>
        </p:nvSpPr>
        <p:spPr>
          <a:xfrm>
            <a:off x="10344150" y="8343900"/>
            <a:ext cx="676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물약 아이템 → 물약 칸 충전 · 금화 표시</a:t>
            </a:r>
            <a:endParaRPr lang="en-US" sz="12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13   GROWTH  IV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업적 · 신격 트리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업적으로 얻은 포인트를 반신부터 열리는 신격 트리(파라곤형)에 투자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13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7620000" cy="5867400"/>
          </a:xfrm>
          <a:prstGeom prst="roundRect">
            <a:avLst>
              <a:gd name="adj" fmla="val 93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9" name="Text 241"/>
          <p:cNvSpPr txBox="1"/>
          <p:nvPr/>
        </p:nvSpPr>
        <p:spPr>
          <a:xfrm>
            <a:off x="1390650" y="321945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업적 27종</a:t>
            </a:r>
            <a:endParaRPr lang="en-US" sz="2100" dirty="0"/>
          </a:p>
        </p:txBody>
      </p:sp>
      <p:sp>
        <p:nvSpPr>
          <p:cNvPr id="10" name="Text 242"/>
          <p:cNvSpPr txBox="1"/>
          <p:nvPr/>
        </p:nvSpPr>
        <p:spPr>
          <a:xfrm>
            <a:off x="2857500" y="33337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 창 (J)</a:t>
            </a:r>
            <a:endParaRPr lang="en-US" sz="1280" dirty="0"/>
          </a:p>
        </p:txBody>
      </p:sp>
      <p:sp>
        <p:nvSpPr>
          <p:cNvPr id="11" name="Shape 243"/>
          <p:cNvSpPr/>
          <p:nvPr/>
        </p:nvSpPr>
        <p:spPr>
          <a:xfrm>
            <a:off x="1390650" y="3829050"/>
            <a:ext cx="6934200" cy="60960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12" name="Text 244"/>
          <p:cNvSpPr txBox="1"/>
          <p:nvPr/>
        </p:nvSpPr>
        <p:spPr>
          <a:xfrm>
            <a:off x="1524000" y="38862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245"/>
          <p:cNvSpPr txBox="1"/>
          <p:nvPr/>
        </p:nvSpPr>
        <p:spPr>
          <a:xfrm>
            <a:off x="2152650" y="390525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시련</a:t>
            </a:r>
            <a:endParaRPr lang="en-US" sz="1500" dirty="0"/>
          </a:p>
        </p:txBody>
      </p:sp>
      <p:sp>
        <p:nvSpPr>
          <p:cNvPr id="14" name="Text 246"/>
          <p:cNvSpPr txBox="1"/>
          <p:nvPr/>
        </p:nvSpPr>
        <p:spPr>
          <a:xfrm>
            <a:off x="2152650" y="417195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 돌파 · 이랑진군 토벌</a:t>
            </a:r>
            <a:endParaRPr lang="en-US" sz="1130" dirty="0"/>
          </a:p>
        </p:txBody>
      </p:sp>
      <p:sp>
        <p:nvSpPr>
          <p:cNvPr id="15" name="Chip"/>
          <p:cNvSpPr/>
          <p:nvPr/>
        </p:nvSpPr>
        <p:spPr>
          <a:xfrm>
            <a:off x="7724775" y="3981450"/>
            <a:ext cx="466725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6" name="ChipText"/>
          <p:cNvSpPr txBox="1"/>
          <p:nvPr/>
        </p:nvSpPr>
        <p:spPr>
          <a:xfrm>
            <a:off x="7724775" y="3981450"/>
            <a:ext cx="466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+3P</a:t>
            </a:r>
            <a:endParaRPr lang="en-US" sz="1050" dirty="0"/>
          </a:p>
        </p:txBody>
      </p:sp>
      <p:sp>
        <p:nvSpPr>
          <p:cNvPr id="17" name="Shape 247"/>
          <p:cNvSpPr/>
          <p:nvPr/>
        </p:nvSpPr>
        <p:spPr>
          <a:xfrm>
            <a:off x="1390650" y="4572000"/>
            <a:ext cx="6934200" cy="60960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18" name="Text 248"/>
          <p:cNvSpPr txBox="1"/>
          <p:nvPr/>
        </p:nvSpPr>
        <p:spPr>
          <a:xfrm>
            <a:off x="1524000" y="462915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</a:t>
            </a:r>
            <a:endParaRPr lang="en-US" sz="2700" dirty="0"/>
          </a:p>
        </p:txBody>
      </p:sp>
      <p:sp>
        <p:nvSpPr>
          <p:cNvPr id="19" name="Text 249"/>
          <p:cNvSpPr txBox="1"/>
          <p:nvPr/>
        </p:nvSpPr>
        <p:spPr>
          <a:xfrm>
            <a:off x="2152650" y="46482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</a:t>
            </a:r>
            <a:endParaRPr lang="en-US" sz="1500" dirty="0"/>
          </a:p>
        </p:txBody>
      </p:sp>
      <p:sp>
        <p:nvSpPr>
          <p:cNvPr id="20" name="Text 250"/>
          <p:cNvSpPr txBox="1"/>
          <p:nvPr/>
        </p:nvSpPr>
        <p:spPr>
          <a:xfrm>
            <a:off x="2152650" y="491490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 · 정예 · 치명타 · 일격 · 회피 · 페이즈</a:t>
            </a:r>
            <a:endParaRPr lang="en-US" sz="1130" dirty="0"/>
          </a:p>
        </p:txBody>
      </p:sp>
      <p:sp>
        <p:nvSpPr>
          <p:cNvPr id="21" name="Chip"/>
          <p:cNvSpPr/>
          <p:nvPr/>
        </p:nvSpPr>
        <p:spPr>
          <a:xfrm>
            <a:off x="7296150" y="4724400"/>
            <a:ext cx="8953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2" name="ChipText"/>
          <p:cNvSpPr txBox="1"/>
          <p:nvPr/>
        </p:nvSpPr>
        <p:spPr>
          <a:xfrm>
            <a:off x="7296150" y="4724400"/>
            <a:ext cx="895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+1P · 스탯</a:t>
            </a:r>
            <a:endParaRPr lang="en-US" sz="1050" dirty="0"/>
          </a:p>
        </p:txBody>
      </p:sp>
      <p:sp>
        <p:nvSpPr>
          <p:cNvPr id="23" name="Shape 251"/>
          <p:cNvSpPr/>
          <p:nvPr/>
        </p:nvSpPr>
        <p:spPr>
          <a:xfrm>
            <a:off x="1390650" y="5314950"/>
            <a:ext cx="6934200" cy="60960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24" name="Text 252"/>
          <p:cNvSpPr txBox="1"/>
          <p:nvPr/>
        </p:nvSpPr>
        <p:spPr>
          <a:xfrm>
            <a:off x="1524000" y="53721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2700" dirty="0"/>
          </a:p>
        </p:txBody>
      </p:sp>
      <p:sp>
        <p:nvSpPr>
          <p:cNvPr id="25" name="Text 253"/>
          <p:cNvSpPr txBox="1"/>
          <p:nvPr/>
        </p:nvSpPr>
        <p:spPr>
          <a:xfrm>
            <a:off x="2152650" y="539115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</a:t>
            </a:r>
            <a:endParaRPr lang="en-US" sz="1500" dirty="0"/>
          </a:p>
        </p:txBody>
      </p:sp>
      <p:sp>
        <p:nvSpPr>
          <p:cNvPr id="26" name="Text 254"/>
          <p:cNvSpPr txBox="1"/>
          <p:nvPr/>
        </p:nvSpPr>
        <p:spPr>
          <a:xfrm>
            <a:off x="2152650" y="565785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웨이포인트 · 금화 · 영웅/전설 아이템</a:t>
            </a:r>
            <a:endParaRPr lang="en-US" sz="1130" dirty="0"/>
          </a:p>
        </p:txBody>
      </p:sp>
      <p:sp>
        <p:nvSpPr>
          <p:cNvPr id="27" name="Chip"/>
          <p:cNvSpPr/>
          <p:nvPr/>
        </p:nvSpPr>
        <p:spPr>
          <a:xfrm>
            <a:off x="7296150" y="5467350"/>
            <a:ext cx="8953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8" name="ChipText"/>
          <p:cNvSpPr txBox="1"/>
          <p:nvPr/>
        </p:nvSpPr>
        <p:spPr>
          <a:xfrm>
            <a:off x="7296150" y="5467350"/>
            <a:ext cx="895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+1P · 스탯</a:t>
            </a:r>
            <a:endParaRPr lang="en-US" sz="1050" dirty="0"/>
          </a:p>
        </p:txBody>
      </p:sp>
      <p:sp>
        <p:nvSpPr>
          <p:cNvPr id="29" name="Shape 255"/>
          <p:cNvSpPr/>
          <p:nvPr/>
        </p:nvSpPr>
        <p:spPr>
          <a:xfrm>
            <a:off x="1390650" y="6057900"/>
            <a:ext cx="6934200" cy="60960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0" name="Text 256"/>
          <p:cNvSpPr txBox="1"/>
          <p:nvPr/>
        </p:nvSpPr>
        <p:spPr>
          <a:xfrm>
            <a:off x="1524000" y="611505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2700" dirty="0"/>
          </a:p>
        </p:txBody>
      </p:sp>
      <p:sp>
        <p:nvSpPr>
          <p:cNvPr id="31" name="Text 257"/>
          <p:cNvSpPr txBox="1"/>
          <p:nvPr/>
        </p:nvSpPr>
        <p:spPr>
          <a:xfrm>
            <a:off x="2152650" y="61341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500" dirty="0"/>
          </a:p>
        </p:txBody>
      </p:sp>
      <p:sp>
        <p:nvSpPr>
          <p:cNvPr id="32" name="Text 258"/>
          <p:cNvSpPr txBox="1"/>
          <p:nvPr/>
        </p:nvSpPr>
        <p:spPr>
          <a:xfrm>
            <a:off x="2152650" y="640080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 · 성물 · 신격 노드 · 물약</a:t>
            </a:r>
            <a:endParaRPr lang="en-US" sz="1130" dirty="0"/>
          </a:p>
        </p:txBody>
      </p:sp>
      <p:sp>
        <p:nvSpPr>
          <p:cNvPr id="33" name="Chip"/>
          <p:cNvSpPr/>
          <p:nvPr/>
        </p:nvSpPr>
        <p:spPr>
          <a:xfrm>
            <a:off x="7296150" y="6210300"/>
            <a:ext cx="8953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4" name="ChipText"/>
          <p:cNvSpPr txBox="1"/>
          <p:nvPr/>
        </p:nvSpPr>
        <p:spPr>
          <a:xfrm>
            <a:off x="7296150" y="6210300"/>
            <a:ext cx="895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+1P · 스탯</a:t>
            </a:r>
            <a:endParaRPr lang="en-US" sz="1050" dirty="0"/>
          </a:p>
        </p:txBody>
      </p:sp>
      <p:sp>
        <p:nvSpPr>
          <p:cNvPr id="35" name="Shape 259"/>
          <p:cNvSpPr/>
          <p:nvPr/>
        </p:nvSpPr>
        <p:spPr>
          <a:xfrm>
            <a:off x="1390650" y="6800850"/>
            <a:ext cx="6934200" cy="60960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36" name="Text 260"/>
          <p:cNvSpPr txBox="1"/>
          <p:nvPr/>
        </p:nvSpPr>
        <p:spPr>
          <a:xfrm>
            <a:off x="1524000" y="68580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2700" dirty="0"/>
          </a:p>
        </p:txBody>
      </p:sp>
      <p:sp>
        <p:nvSpPr>
          <p:cNvPr id="37" name="Text 261"/>
          <p:cNvSpPr txBox="1"/>
          <p:nvPr/>
        </p:nvSpPr>
        <p:spPr>
          <a:xfrm>
            <a:off x="2152650" y="687705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특수</a:t>
            </a:r>
            <a:endParaRPr lang="en-US" sz="1500" dirty="0"/>
          </a:p>
        </p:txBody>
      </p:sp>
      <p:sp>
        <p:nvSpPr>
          <p:cNvPr id="38" name="Text 262"/>
          <p:cNvSpPr txBox="1"/>
          <p:nvPr/>
        </p:nvSpPr>
        <p:spPr>
          <a:xfrm>
            <a:off x="2152650" y="714375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부활 · 보스 처치 · 체력 절반 이상 보스 처치</a:t>
            </a:r>
            <a:endParaRPr lang="en-US" sz="1130" dirty="0"/>
          </a:p>
        </p:txBody>
      </p:sp>
      <p:sp>
        <p:nvSpPr>
          <p:cNvPr id="39" name="Chip"/>
          <p:cNvSpPr/>
          <p:nvPr/>
        </p:nvSpPr>
        <p:spPr>
          <a:xfrm>
            <a:off x="7696200" y="6953250"/>
            <a:ext cx="49530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0" name="ChipText"/>
          <p:cNvSpPr txBox="1"/>
          <p:nvPr/>
        </p:nvSpPr>
        <p:spPr>
          <a:xfrm>
            <a:off x="7696200" y="6953250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칭호</a:t>
            </a:r>
            <a:endParaRPr lang="en-US" sz="1050" dirty="0"/>
          </a:p>
        </p:txBody>
      </p:sp>
      <p:sp>
        <p:nvSpPr>
          <p:cNvPr id="41" name="Text 263"/>
          <p:cNvSpPr txBox="1"/>
          <p:nvPr/>
        </p:nvSpPr>
        <p:spPr>
          <a:xfrm>
            <a:off x="1390650" y="7620000"/>
            <a:ext cx="6934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 팝업 클릭 → 업적 창  ·  시작 상태가 아닌 플레이 중 행동으로만 진행</a:t>
            </a:r>
            <a:endParaRPr lang="en-US" sz="1200" dirty="0"/>
          </a:p>
        </p:txBody>
      </p:sp>
      <p:sp>
        <p:nvSpPr>
          <p:cNvPr id="42" name="Shape 264"/>
          <p:cNvSpPr/>
          <p:nvPr/>
        </p:nvSpPr>
        <p:spPr>
          <a:xfrm>
            <a:off x="1390650" y="8001000"/>
            <a:ext cx="6934200" cy="685800"/>
          </a:xfrm>
          <a:prstGeom prst="roundRect">
            <a:avLst>
              <a:gd name="adj" fmla="val 13333"/>
            </a:avLst>
          </a:prstGeom>
          <a:solidFill>
            <a:srgbClr val="B48CFF">
              <a:alpha val="10000"/>
            </a:srgbClr>
          </a:solidFill>
          <a:ln w="9525">
            <a:solidFill>
              <a:srgbClr val="B48CFF">
                <a:alpha val="45000"/>
              </a:srgbClr>
            </a:solidFill>
            <a:prstDash val="solid"/>
          </a:ln>
        </p:spPr>
      </p:sp>
      <p:sp>
        <p:nvSpPr>
          <p:cNvPr id="43" name="Text 265"/>
          <p:cNvSpPr txBox="1"/>
          <p:nvPr/>
        </p:nvSpPr>
        <p:spPr>
          <a:xfrm>
            <a:off x="1619250" y="80962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9C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 포인트</a:t>
            </a:r>
            <a:endParaRPr lang="en-US" sz="1350" dirty="0"/>
          </a:p>
        </p:txBody>
      </p:sp>
      <p:sp>
        <p:nvSpPr>
          <p:cNvPr id="44" name="Text 266"/>
          <p:cNvSpPr txBox="1"/>
          <p:nvPr/>
        </p:nvSpPr>
        <p:spPr>
          <a:xfrm>
            <a:off x="1619250" y="8362950"/>
            <a:ext cx="647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신격 트리 노드 활성화에 사용 (업적이 곧 성장 재화)</a:t>
            </a:r>
            <a:endParaRPr lang="en-US" sz="1200" dirty="0"/>
          </a:p>
        </p:txBody>
      </p:sp>
      <p:sp>
        <p:nvSpPr>
          <p:cNvPr id="45" name="ScreenshotSlot"/>
          <p:cNvSpPr/>
          <p:nvPr/>
        </p:nvSpPr>
        <p:spPr>
          <a:xfrm>
            <a:off x="9048750" y="3048000"/>
            <a:ext cx="8191500" cy="4610100"/>
          </a:xfrm>
          <a:prstGeom prst="roundRect">
            <a:avLst>
              <a:gd name="adj" fmla="val 595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46" name="Diamond"/>
          <p:cNvSpPr/>
          <p:nvPr/>
        </p:nvSpPr>
        <p:spPr>
          <a:xfrm>
            <a:off x="12982575" y="4867275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47" name="Text 267"/>
          <p:cNvSpPr txBox="1"/>
          <p:nvPr/>
        </p:nvSpPr>
        <p:spPr>
          <a:xfrm>
            <a:off x="9048750" y="5391150"/>
            <a:ext cx="819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48" name="Text 268"/>
          <p:cNvSpPr txBox="1"/>
          <p:nvPr/>
        </p:nvSpPr>
        <p:spPr>
          <a:xfrm>
            <a:off x="9048750" y="5772150"/>
            <a:ext cx="819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신격 트리 (G) — 줄기 · 공용 · 영웅 · 반신 가지</a:t>
            </a:r>
            <a:endParaRPr lang="en-US" sz="1350" dirty="0"/>
          </a:p>
        </p:txBody>
      </p:sp>
      <p:sp>
        <p:nvSpPr>
          <p:cNvPr id="49" name="Chip"/>
          <p:cNvSpPr/>
          <p:nvPr/>
        </p:nvSpPr>
        <p:spPr>
          <a:xfrm>
            <a:off x="9048750" y="7829550"/>
            <a:ext cx="2000250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50" name="ChipText"/>
          <p:cNvSpPr txBox="1"/>
          <p:nvPr/>
        </p:nvSpPr>
        <p:spPr>
          <a:xfrm>
            <a:off x="9048750" y="7829550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 30개 · 4가지 가지</a:t>
            </a:r>
            <a:endParaRPr lang="en-US" sz="1280" dirty="0"/>
          </a:p>
        </p:txBody>
      </p:sp>
      <p:sp>
        <p:nvSpPr>
          <p:cNvPr id="51" name="Chip"/>
          <p:cNvSpPr/>
          <p:nvPr/>
        </p:nvSpPr>
        <p:spPr>
          <a:xfrm>
            <a:off x="11163300" y="7829550"/>
            <a:ext cx="157162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52" name="ChipText"/>
          <p:cNvSpPr txBox="1"/>
          <p:nvPr/>
        </p:nvSpPr>
        <p:spPr>
          <a:xfrm>
            <a:off x="11163300" y="7829550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반신 돌파 시 개방</a:t>
            </a:r>
            <a:endParaRPr lang="en-US" sz="1280" dirty="0"/>
          </a:p>
        </p:txBody>
      </p:sp>
      <p:sp>
        <p:nvSpPr>
          <p:cNvPr id="53" name="Chip"/>
          <p:cNvSpPr/>
          <p:nvPr/>
        </p:nvSpPr>
        <p:spPr>
          <a:xfrm>
            <a:off x="12849225" y="7829550"/>
            <a:ext cx="1733550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54" name="ChipText"/>
          <p:cNvSpPr txBox="1"/>
          <p:nvPr/>
        </p:nvSpPr>
        <p:spPr>
          <a:xfrm>
            <a:off x="12849225" y="7829550"/>
            <a:ext cx="1733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영웅의 길 변경 가능</a:t>
            </a:r>
            <a:endParaRPr lang="en-US" sz="1280" dirty="0"/>
          </a:p>
        </p:txBody>
      </p:sp>
      <p:sp>
        <p:nvSpPr>
          <p:cNvPr id="55" name="Text 269"/>
          <p:cNvSpPr txBox="1"/>
          <p:nvPr/>
        </p:nvSpPr>
        <p:spPr>
          <a:xfrm>
            <a:off x="9048750" y="83629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영웅별 가지 배치 시안(Figma 20-A/B) 검토 중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14   BOSS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보스 — 이랑진군(二郎眞君)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『서유기』에서 손오공을 사로잡은 천계의 무신 · 3페이즈 하위 신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14 / 23</a:t>
            </a:r>
            <a:endParaRPr lang="en-US" sz="1200" dirty="0"/>
          </a:p>
        </p:txBody>
      </p:sp>
      <p:sp>
        <p:nvSpPr>
          <p:cNvPr id="8" name="ScreenshotSlot"/>
          <p:cNvSpPr/>
          <p:nvPr/>
        </p:nvSpPr>
        <p:spPr>
          <a:xfrm>
            <a:off x="1047750" y="3048000"/>
            <a:ext cx="9525000" cy="5353050"/>
          </a:xfrm>
          <a:prstGeom prst="roundRect">
            <a:avLst>
              <a:gd name="adj" fmla="val 512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9" name="Diamond"/>
          <p:cNvSpPr/>
          <p:nvPr/>
        </p:nvSpPr>
        <p:spPr>
          <a:xfrm>
            <a:off x="5648325" y="5238750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0" name="Text 270"/>
          <p:cNvSpPr txBox="1"/>
          <p:nvPr/>
        </p:nvSpPr>
        <p:spPr>
          <a:xfrm>
            <a:off x="1047750" y="5762625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11" name="Text 271"/>
          <p:cNvSpPr txBox="1"/>
          <p:nvPr/>
        </p:nvSpPr>
        <p:spPr>
          <a:xfrm>
            <a:off x="1047750" y="6143625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이랑진군 보스전 장면</a:t>
            </a:r>
            <a:endParaRPr lang="en-US" sz="1350" dirty="0"/>
          </a:p>
        </p:txBody>
      </p:sp>
      <p:sp>
        <p:nvSpPr>
          <p:cNvPr id="12" name="Card"/>
          <p:cNvSpPr/>
          <p:nvPr/>
        </p:nvSpPr>
        <p:spPr>
          <a:xfrm>
            <a:off x="10953750" y="3048000"/>
            <a:ext cx="6286500" cy="2381250"/>
          </a:xfrm>
          <a:prstGeom prst="roundRect">
            <a:avLst>
              <a:gd name="adj" fmla="val 2304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3" name="Text 272"/>
          <p:cNvSpPr txBox="1"/>
          <p:nvPr/>
        </p:nvSpPr>
        <p:spPr>
          <a:xfrm>
            <a:off x="11258550" y="32004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페이즈 (체력 기준)</a:t>
            </a:r>
            <a:endParaRPr lang="en-US" sz="1800" dirty="0"/>
          </a:p>
        </p:txBody>
      </p:sp>
      <p:sp>
        <p:nvSpPr>
          <p:cNvPr id="14" name="Shape 273"/>
          <p:cNvSpPr/>
          <p:nvPr/>
        </p:nvSpPr>
        <p:spPr>
          <a:xfrm>
            <a:off x="11258550" y="3733800"/>
            <a:ext cx="1866900" cy="76200"/>
          </a:xfrm>
          <a:prstGeom prst="roundRect">
            <a:avLst>
              <a:gd name="adj" fmla="val 600000"/>
            </a:avLst>
          </a:prstGeom>
          <a:solidFill>
            <a:srgbClr val="E9B45A">
              <a:alpha val="90000"/>
            </a:srgbClr>
          </a:solidFill>
          <a:ln/>
        </p:spPr>
      </p:sp>
      <p:sp>
        <p:nvSpPr>
          <p:cNvPr id="15" name="Text 274"/>
          <p:cNvSpPr txBox="1"/>
          <p:nvPr/>
        </p:nvSpPr>
        <p:spPr>
          <a:xfrm>
            <a:off x="11258550" y="3905250"/>
            <a:ext cx="1866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PHASE 1</a:t>
            </a:r>
            <a:endParaRPr lang="en-US" sz="1350" dirty="0"/>
          </a:p>
        </p:txBody>
      </p:sp>
      <p:sp>
        <p:nvSpPr>
          <p:cNvPr id="16" name="Text 275"/>
          <p:cNvSpPr txBox="1"/>
          <p:nvPr/>
        </p:nvSpPr>
        <p:spPr>
          <a:xfrm>
            <a:off x="11258550" y="4171950"/>
            <a:ext cx="1866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 ~ 70%</a:t>
            </a:r>
            <a:endParaRPr lang="en-US" sz="1350" dirty="0"/>
          </a:p>
        </p:txBody>
      </p:sp>
      <p:sp>
        <p:nvSpPr>
          <p:cNvPr id="17" name="Text 276"/>
          <p:cNvSpPr txBox="1"/>
          <p:nvPr/>
        </p:nvSpPr>
        <p:spPr>
          <a:xfrm>
            <a:off x="11258550" y="4457700"/>
            <a:ext cx="1828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패턴</a:t>
            </a:r>
            <a:endParaRPr lang="en-US" sz="1200" dirty="0"/>
          </a:p>
        </p:txBody>
      </p:sp>
      <p:sp>
        <p:nvSpPr>
          <p:cNvPr id="18" name="Shape 277"/>
          <p:cNvSpPr/>
          <p:nvPr/>
        </p:nvSpPr>
        <p:spPr>
          <a:xfrm>
            <a:off x="13201650" y="3733800"/>
            <a:ext cx="1866900" cy="76200"/>
          </a:xfrm>
          <a:prstGeom prst="roundRect">
            <a:avLst>
              <a:gd name="adj" fmla="val 600000"/>
            </a:avLst>
          </a:prstGeom>
          <a:solidFill>
            <a:srgbClr val="F0C25A">
              <a:alpha val="90000"/>
            </a:srgbClr>
          </a:solidFill>
          <a:ln/>
        </p:spPr>
      </p:sp>
      <p:sp>
        <p:nvSpPr>
          <p:cNvPr id="19" name="Text 278"/>
          <p:cNvSpPr txBox="1"/>
          <p:nvPr/>
        </p:nvSpPr>
        <p:spPr>
          <a:xfrm>
            <a:off x="13201650" y="3905250"/>
            <a:ext cx="1866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0C2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PHASE 2</a:t>
            </a:r>
            <a:endParaRPr lang="en-US" sz="1350" dirty="0"/>
          </a:p>
        </p:txBody>
      </p:sp>
      <p:sp>
        <p:nvSpPr>
          <p:cNvPr id="20" name="Text 279"/>
          <p:cNvSpPr txBox="1"/>
          <p:nvPr/>
        </p:nvSpPr>
        <p:spPr>
          <a:xfrm>
            <a:off x="13201650" y="4171950"/>
            <a:ext cx="1866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 ~ 35%</a:t>
            </a:r>
            <a:endParaRPr lang="en-US" sz="1350" dirty="0"/>
          </a:p>
        </p:txBody>
      </p:sp>
      <p:sp>
        <p:nvSpPr>
          <p:cNvPr id="21" name="Text 280"/>
          <p:cNvSpPr txBox="1"/>
          <p:nvPr/>
        </p:nvSpPr>
        <p:spPr>
          <a:xfrm>
            <a:off x="13201650" y="4457700"/>
            <a:ext cx="1828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도약 내려찍기</a:t>
            </a:r>
            <a:endParaRPr lang="en-US" sz="1200" dirty="0"/>
          </a:p>
        </p:txBody>
      </p:sp>
      <p:sp>
        <p:nvSpPr>
          <p:cNvPr id="22" name="Shape 281"/>
          <p:cNvSpPr/>
          <p:nvPr/>
        </p:nvSpPr>
        <p:spPr>
          <a:xfrm>
            <a:off x="15144750" y="3733800"/>
            <a:ext cx="1866900" cy="76200"/>
          </a:xfrm>
          <a:prstGeom prst="roundRect">
            <a:avLst>
              <a:gd name="adj" fmla="val 600000"/>
            </a:avLst>
          </a:prstGeom>
          <a:solidFill>
            <a:srgbClr val="D23A2C">
              <a:alpha val="90000"/>
            </a:srgbClr>
          </a:solidFill>
          <a:ln/>
        </p:spPr>
      </p:sp>
      <p:sp>
        <p:nvSpPr>
          <p:cNvPr id="23" name="Text 282"/>
          <p:cNvSpPr txBox="1"/>
          <p:nvPr/>
        </p:nvSpPr>
        <p:spPr>
          <a:xfrm>
            <a:off x="15144750" y="3905250"/>
            <a:ext cx="1866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23A2C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PHASE 3</a:t>
            </a:r>
            <a:endParaRPr lang="en-US" sz="1350" dirty="0"/>
          </a:p>
        </p:txBody>
      </p:sp>
      <p:sp>
        <p:nvSpPr>
          <p:cNvPr id="24" name="Text 283"/>
          <p:cNvSpPr txBox="1"/>
          <p:nvPr/>
        </p:nvSpPr>
        <p:spPr>
          <a:xfrm>
            <a:off x="15144750" y="4171950"/>
            <a:ext cx="1866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35% ~</a:t>
            </a:r>
            <a:endParaRPr lang="en-US" sz="1350" dirty="0"/>
          </a:p>
        </p:txBody>
      </p:sp>
      <p:sp>
        <p:nvSpPr>
          <p:cNvPr id="25" name="Text 284"/>
          <p:cNvSpPr txBox="1"/>
          <p:nvPr/>
        </p:nvSpPr>
        <p:spPr>
          <a:xfrm>
            <a:off x="15144750" y="4457700"/>
            <a:ext cx="1828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효천견 돌진 · 패턴 2연속</a:t>
            </a:r>
            <a:endParaRPr lang="en-US" sz="1200" dirty="0"/>
          </a:p>
        </p:txBody>
      </p:sp>
      <p:sp>
        <p:nvSpPr>
          <p:cNvPr id="26" name="Text 285"/>
          <p:cNvSpPr txBox="1"/>
          <p:nvPr/>
        </p:nvSpPr>
        <p:spPr>
          <a:xfrm>
            <a:off x="11258550" y="50292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시 무적 · 번개 · 배너 연출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10953750" y="5638800"/>
            <a:ext cx="3048000" cy="1295400"/>
          </a:xfrm>
          <a:prstGeom prst="roundRect">
            <a:avLst>
              <a:gd name="adj" fmla="val 423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8" name="Diamond"/>
          <p:cNvSpPr/>
          <p:nvPr/>
        </p:nvSpPr>
        <p:spPr>
          <a:xfrm>
            <a:off x="11182350" y="5905500"/>
            <a:ext cx="114300" cy="11430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9" name="Text 286"/>
          <p:cNvSpPr txBox="1"/>
          <p:nvPr/>
        </p:nvSpPr>
        <p:spPr>
          <a:xfrm>
            <a:off x="11410950" y="58293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삼첨양인도 3연 베기</a:t>
            </a:r>
            <a:endParaRPr lang="en-US" sz="1500" dirty="0"/>
          </a:p>
        </p:txBody>
      </p:sp>
      <p:sp>
        <p:nvSpPr>
          <p:cNvPr id="30" name="Text 287"/>
          <p:cNvSpPr txBox="1"/>
          <p:nvPr/>
        </p:nvSpPr>
        <p:spPr>
          <a:xfrm>
            <a:off x="11201400" y="62484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부채꼴 예고 후 전진하며 3연타</a:t>
            </a:r>
            <a:endParaRPr lang="en-US" sz="1280" dirty="0"/>
          </a:p>
        </p:txBody>
      </p:sp>
      <p:sp>
        <p:nvSpPr>
          <p:cNvPr id="31" name="Card"/>
          <p:cNvSpPr/>
          <p:nvPr/>
        </p:nvSpPr>
        <p:spPr>
          <a:xfrm>
            <a:off x="14192250" y="5638800"/>
            <a:ext cx="3048000" cy="1295400"/>
          </a:xfrm>
          <a:prstGeom prst="roundRect">
            <a:avLst>
              <a:gd name="adj" fmla="val 423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2" name="Diamond"/>
          <p:cNvSpPr/>
          <p:nvPr/>
        </p:nvSpPr>
        <p:spPr>
          <a:xfrm>
            <a:off x="14420850" y="5905500"/>
            <a:ext cx="114300" cy="11430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3" name="Text 288"/>
          <p:cNvSpPr txBox="1"/>
          <p:nvPr/>
        </p:nvSpPr>
        <p:spPr>
          <a:xfrm>
            <a:off x="14649450" y="58293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제3의 눈 광선</a:t>
            </a:r>
            <a:endParaRPr lang="en-US" sz="1500" dirty="0"/>
          </a:p>
        </p:txBody>
      </p:sp>
      <p:sp>
        <p:nvSpPr>
          <p:cNvPr id="34" name="Text 289"/>
          <p:cNvSpPr txBox="1"/>
          <p:nvPr/>
        </p:nvSpPr>
        <p:spPr>
          <a:xfrm>
            <a:off x="14439900" y="62484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이마에 빛이 모인 뒤 직선 빛줄기</a:t>
            </a:r>
            <a:endParaRPr lang="en-US" sz="1280" dirty="0"/>
          </a:p>
        </p:txBody>
      </p:sp>
      <p:sp>
        <p:nvSpPr>
          <p:cNvPr id="35" name="Card"/>
          <p:cNvSpPr/>
          <p:nvPr/>
        </p:nvSpPr>
        <p:spPr>
          <a:xfrm>
            <a:off x="10953750" y="7067550"/>
            <a:ext cx="3048000" cy="1295400"/>
          </a:xfrm>
          <a:prstGeom prst="roundRect">
            <a:avLst>
              <a:gd name="adj" fmla="val 423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6" name="Diamond"/>
          <p:cNvSpPr/>
          <p:nvPr/>
        </p:nvSpPr>
        <p:spPr>
          <a:xfrm>
            <a:off x="11182350" y="7334250"/>
            <a:ext cx="114300" cy="11430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7" name="Text 290"/>
          <p:cNvSpPr txBox="1"/>
          <p:nvPr/>
        </p:nvSpPr>
        <p:spPr>
          <a:xfrm>
            <a:off x="11410950" y="725805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도약 내려찍기</a:t>
            </a:r>
            <a:endParaRPr lang="en-US" sz="1500" dirty="0"/>
          </a:p>
        </p:txBody>
      </p:sp>
      <p:sp>
        <p:nvSpPr>
          <p:cNvPr id="38" name="Text 291"/>
          <p:cNvSpPr txBox="1"/>
          <p:nvPr/>
        </p:nvSpPr>
        <p:spPr>
          <a:xfrm>
            <a:off x="11201400" y="767715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착지 원 표시 → 1초 뒤 번개 + 충격파</a:t>
            </a:r>
            <a:endParaRPr lang="en-US" sz="1280" dirty="0"/>
          </a:p>
        </p:txBody>
      </p:sp>
      <p:sp>
        <p:nvSpPr>
          <p:cNvPr id="39" name="Card"/>
          <p:cNvSpPr/>
          <p:nvPr/>
        </p:nvSpPr>
        <p:spPr>
          <a:xfrm>
            <a:off x="14192250" y="7067550"/>
            <a:ext cx="3048000" cy="1295400"/>
          </a:xfrm>
          <a:prstGeom prst="roundRect">
            <a:avLst>
              <a:gd name="adj" fmla="val 423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0" name="Diamond"/>
          <p:cNvSpPr/>
          <p:nvPr/>
        </p:nvSpPr>
        <p:spPr>
          <a:xfrm>
            <a:off x="14420850" y="7334250"/>
            <a:ext cx="114300" cy="11430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1" name="Text 292"/>
          <p:cNvSpPr txBox="1"/>
          <p:nvPr/>
        </p:nvSpPr>
        <p:spPr>
          <a:xfrm>
            <a:off x="14649450" y="725805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효천견 돌진</a:t>
            </a:r>
            <a:endParaRPr lang="en-US" sz="1500" dirty="0"/>
          </a:p>
        </p:txBody>
      </p:sp>
      <p:sp>
        <p:nvSpPr>
          <p:cNvPr id="42" name="Text 293"/>
          <p:cNvSpPr txBox="1"/>
          <p:nvPr/>
        </p:nvSpPr>
        <p:spPr>
          <a:xfrm>
            <a:off x="14439900" y="767715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3갈래 직선 예고 후 신견이 질주</a:t>
            </a:r>
            <a:endParaRPr lang="en-US" sz="1280" dirty="0"/>
          </a:p>
        </p:txBody>
      </p:sp>
      <p:sp>
        <p:nvSpPr>
          <p:cNvPr id="43" name="Chip"/>
          <p:cNvSpPr/>
          <p:nvPr/>
        </p:nvSpPr>
        <p:spPr>
          <a:xfrm>
            <a:off x="1047750" y="8629650"/>
            <a:ext cx="189547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4" name="ChipText"/>
          <p:cNvSpPr txBox="1"/>
          <p:nvPr/>
        </p:nvSpPr>
        <p:spPr>
          <a:xfrm>
            <a:off x="1047750" y="8629650"/>
            <a:ext cx="1895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예고 범위로 회피 유도</a:t>
            </a:r>
            <a:endParaRPr lang="en-US" sz="1280" dirty="0"/>
          </a:p>
        </p:txBody>
      </p:sp>
      <p:sp>
        <p:nvSpPr>
          <p:cNvPr id="45" name="Chip"/>
          <p:cNvSpPr/>
          <p:nvPr/>
        </p:nvSpPr>
        <p:spPr>
          <a:xfrm>
            <a:off x="3057525" y="8629650"/>
            <a:ext cx="2457450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6" name="ChipText"/>
          <p:cNvSpPr txBox="1"/>
          <p:nvPr/>
        </p:nvSpPr>
        <p:spPr>
          <a:xfrm>
            <a:off x="3057525" y="8629650"/>
            <a:ext cx="2457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분쇄 · 기절 시 패턴 즉시 중단</a:t>
            </a:r>
            <a:endParaRPr lang="en-US" sz="1280" dirty="0"/>
          </a:p>
        </p:txBody>
      </p:sp>
      <p:sp>
        <p:nvSpPr>
          <p:cNvPr id="47" name="Chip"/>
          <p:cNvSpPr/>
          <p:nvPr/>
        </p:nvSpPr>
        <p:spPr>
          <a:xfrm>
            <a:off x="5629275" y="8629650"/>
            <a:ext cx="1838325" cy="342900"/>
          </a:xfrm>
          <a:prstGeom prst="roundRect">
            <a:avLst>
              <a:gd name="adj" fmla="val 133333"/>
            </a:avLst>
          </a:prstGeom>
          <a:solidFill>
            <a:srgbClr val="1C1D24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8" name="ChipText"/>
          <p:cNvSpPr txBox="1"/>
          <p:nvPr/>
        </p:nvSpPr>
        <p:spPr>
          <a:xfrm>
            <a:off x="5629275" y="8629650"/>
            <a:ext cx="1838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HUD · 격파 배너</a:t>
            </a:r>
            <a:endParaRPr lang="en-US" sz="12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15   WORLD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월드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1km 계곡 오픈 필드 · 성벽 마을 · 지도와 이동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15 / 23</a:t>
            </a:r>
            <a:endParaRPr lang="en-US" sz="1200" dirty="0"/>
          </a:p>
        </p:txBody>
      </p:sp>
      <p:sp>
        <p:nvSpPr>
          <p:cNvPr id="8" name="ScreenshotSlot"/>
          <p:cNvSpPr/>
          <p:nvPr/>
        </p:nvSpPr>
        <p:spPr>
          <a:xfrm>
            <a:off x="1047750" y="3048000"/>
            <a:ext cx="7905750" cy="4448175"/>
          </a:xfrm>
          <a:prstGeom prst="roundRect">
            <a:avLst>
              <a:gd name="adj" fmla="val 617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9" name="Diamond"/>
          <p:cNvSpPr/>
          <p:nvPr/>
        </p:nvSpPr>
        <p:spPr>
          <a:xfrm>
            <a:off x="4838700" y="4786313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0" name="Text 294"/>
          <p:cNvSpPr txBox="1"/>
          <p:nvPr/>
        </p:nvSpPr>
        <p:spPr>
          <a:xfrm>
            <a:off x="1047750" y="5310188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11" name="Text 295"/>
          <p:cNvSpPr txBox="1"/>
          <p:nvPr/>
        </p:nvSpPr>
        <p:spPr>
          <a:xfrm>
            <a:off x="1047750" y="5691188"/>
            <a:ext cx="790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 필드 · 마을</a:t>
            </a:r>
            <a:endParaRPr lang="en-US" sz="1350" dirty="0"/>
          </a:p>
        </p:txBody>
      </p:sp>
      <p:sp>
        <p:nvSpPr>
          <p:cNvPr id="12" name="ScreenshotSlot"/>
          <p:cNvSpPr/>
          <p:nvPr/>
        </p:nvSpPr>
        <p:spPr>
          <a:xfrm>
            <a:off x="9334500" y="3048000"/>
            <a:ext cx="7905750" cy="4448175"/>
          </a:xfrm>
          <a:prstGeom prst="roundRect">
            <a:avLst>
              <a:gd name="adj" fmla="val 617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13" name="Diamond"/>
          <p:cNvSpPr/>
          <p:nvPr/>
        </p:nvSpPr>
        <p:spPr>
          <a:xfrm>
            <a:off x="13125450" y="4786313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4" name="Text 296"/>
          <p:cNvSpPr txBox="1"/>
          <p:nvPr/>
        </p:nvSpPr>
        <p:spPr>
          <a:xfrm>
            <a:off x="9334500" y="5310188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15" name="Text 297"/>
          <p:cNvSpPr txBox="1"/>
          <p:nvPr/>
        </p:nvSpPr>
        <p:spPr>
          <a:xfrm>
            <a:off x="9334500" y="5691188"/>
            <a:ext cx="790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마을 · 전체 지도</a:t>
            </a:r>
            <a:endParaRPr lang="en-US" sz="1350" dirty="0"/>
          </a:p>
        </p:txBody>
      </p:sp>
      <p:sp>
        <p:nvSpPr>
          <p:cNvPr id="16" name="Card"/>
          <p:cNvSpPr/>
          <p:nvPr/>
        </p:nvSpPr>
        <p:spPr>
          <a:xfrm>
            <a:off x="1047750" y="7677150"/>
            <a:ext cx="7905750" cy="1181100"/>
          </a:xfrm>
          <a:prstGeom prst="roundRect">
            <a:avLst>
              <a:gd name="adj" fmla="val 464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7" name="Text 298"/>
          <p:cNvSpPr txBox="1"/>
          <p:nvPr/>
        </p:nvSpPr>
        <p:spPr>
          <a:xfrm>
            <a:off x="1333500" y="77914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월드</a:t>
            </a:r>
            <a:endParaRPr lang="en-US" sz="1800" dirty="0"/>
          </a:p>
        </p:txBody>
      </p:sp>
      <p:sp>
        <p:nvSpPr>
          <p:cNvPr id="18" name="Text 299"/>
          <p:cNvSpPr txBox="1"/>
          <p:nvPr/>
        </p:nvSpPr>
        <p:spPr>
          <a:xfrm>
            <a:off x="1333500" y="8172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1km 계곡 분지 · 가운데 마을(상점 3 · 웨이포인트) · 전투 구역 2곳 · 해안 절벽 보스 제단</a:t>
            </a:r>
            <a:endParaRPr lang="en-US" sz="12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걷기 영역 NavMesh · 산 · 강은 진입 불가</a:t>
            </a:r>
            <a:endParaRPr lang="en-US" sz="1280" dirty="0"/>
          </a:p>
        </p:txBody>
      </p:sp>
      <p:sp>
        <p:nvSpPr>
          <p:cNvPr id="19" name="Card"/>
          <p:cNvSpPr/>
          <p:nvPr/>
        </p:nvSpPr>
        <p:spPr>
          <a:xfrm>
            <a:off x="9334500" y="7677150"/>
            <a:ext cx="7905750" cy="1181100"/>
          </a:xfrm>
          <a:prstGeom prst="roundRect">
            <a:avLst>
              <a:gd name="adj" fmla="val 464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0" name="Text 300"/>
          <p:cNvSpPr txBox="1"/>
          <p:nvPr/>
        </p:nvSpPr>
        <p:spPr>
          <a:xfrm>
            <a:off x="9620250" y="77914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지도 · 이동</a:t>
            </a:r>
            <a:endParaRPr lang="en-US" sz="1800" dirty="0"/>
          </a:p>
        </p:txBody>
      </p:sp>
      <p:sp>
        <p:nvSpPr>
          <p:cNvPr id="21" name="Text 301"/>
          <p:cNvSpPr txBox="1"/>
          <p:nvPr/>
        </p:nvSpPr>
        <p:spPr>
          <a:xfrm>
            <a:off x="9620250" y="8172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위 미니맵(주변 120m) + Tab 전체 지도 · M 오버레이</a:t>
            </a:r>
            <a:endParaRPr lang="en-US" sz="12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우클릭 자동 이동 · 핀 포인트 · 웨이포인트 순간 이동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16   UI  I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UI ① HUD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전투에 필요한 정보만 화면 가장자리에 — 어두운 금속판 테마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16 / 23</a:t>
            </a:r>
            <a:endParaRPr lang="en-US" sz="1200" dirty="0"/>
          </a:p>
        </p:txBody>
      </p:sp>
      <p:sp>
        <p:nvSpPr>
          <p:cNvPr id="8" name="ScreenshotSlot"/>
          <p:cNvSpPr/>
          <p:nvPr/>
        </p:nvSpPr>
        <p:spPr>
          <a:xfrm>
            <a:off x="1047750" y="3048000"/>
            <a:ext cx="10477500" cy="5895975"/>
          </a:xfrm>
          <a:prstGeom prst="roundRect">
            <a:avLst>
              <a:gd name="adj" fmla="val 465"/>
            </a:avLst>
          </a:prstGeom>
          <a:solidFill>
            <a:srgbClr val="101116"/>
          </a:solidFill>
          <a:ln w="12700">
            <a:solidFill>
              <a:srgbClr val="E9B45A">
                <a:alpha val="55000"/>
              </a:srgbClr>
            </a:solidFill>
            <a:prstDash val="dash"/>
          </a:ln>
        </p:spPr>
      </p:sp>
      <p:sp>
        <p:nvSpPr>
          <p:cNvPr id="9" name="Diamond"/>
          <p:cNvSpPr/>
          <p:nvPr/>
        </p:nvSpPr>
        <p:spPr>
          <a:xfrm>
            <a:off x="6124575" y="5510213"/>
            <a:ext cx="323850" cy="323850"/>
          </a:xfrm>
          <a:prstGeom prst="diamond">
            <a:avLst/>
          </a:prstGeom>
          <a:ln w="1905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0" name="Text 302"/>
          <p:cNvSpPr txBox="1"/>
          <p:nvPr/>
        </p:nvSpPr>
        <p:spPr>
          <a:xfrm>
            <a:off x="1047750" y="6034088"/>
            <a:ext cx="1047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화면 캡처 자리</a:t>
            </a:r>
            <a:endParaRPr lang="en-US" sz="1800" dirty="0"/>
          </a:p>
        </p:txBody>
      </p:sp>
      <p:sp>
        <p:nvSpPr>
          <p:cNvPr id="11" name="Text 303"/>
          <p:cNvSpPr txBox="1"/>
          <p:nvPr/>
        </p:nvSpPr>
        <p:spPr>
          <a:xfrm>
            <a:off x="1047750" y="6415088"/>
            <a:ext cx="1047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중 HUD 전체 화면</a:t>
            </a:r>
            <a:endParaRPr lang="en-US" sz="1350" dirty="0"/>
          </a:p>
        </p:txBody>
      </p:sp>
      <p:sp>
        <p:nvSpPr>
          <p:cNvPr id="12" name="Card"/>
          <p:cNvSpPr/>
          <p:nvPr/>
        </p:nvSpPr>
        <p:spPr>
          <a:xfrm>
            <a:off x="11811000" y="3048000"/>
            <a:ext cx="5429250" cy="742950"/>
          </a:xfrm>
          <a:prstGeom prst="roundRect">
            <a:avLst>
              <a:gd name="adj" fmla="val 738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3" name="NumCircle"/>
          <p:cNvSpPr/>
          <p:nvPr/>
        </p:nvSpPr>
        <p:spPr>
          <a:xfrm>
            <a:off x="11982450" y="3238500"/>
            <a:ext cx="361950" cy="361950"/>
          </a:xfrm>
          <a:prstGeom prst="ellipse">
            <a:avLst/>
          </a:prstGeom>
          <a:solidFill>
            <a:srgbClr val="2A2418"/>
          </a:solidFill>
          <a:ln w="1270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4" name="Text 304"/>
          <p:cNvSpPr txBox="1"/>
          <p:nvPr/>
        </p:nvSpPr>
        <p:spPr>
          <a:xfrm>
            <a:off x="11982450" y="32385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305"/>
          <p:cNvSpPr txBox="1"/>
          <p:nvPr/>
        </p:nvSpPr>
        <p:spPr>
          <a:xfrm>
            <a:off x="12496800" y="314325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체력 · 기력 구슬</a:t>
            </a:r>
            <a:endParaRPr lang="en-US" sz="1500" dirty="0"/>
          </a:p>
        </p:txBody>
      </p:sp>
      <p:sp>
        <p:nvSpPr>
          <p:cNvPr id="16" name="Text 306"/>
          <p:cNvSpPr txBox="1"/>
          <p:nvPr/>
        </p:nvSpPr>
        <p:spPr>
          <a:xfrm>
            <a:off x="12496800" y="34671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바 양옆, 남은 양을 액체 높이로</a:t>
            </a:r>
            <a:endParaRPr lang="en-US" sz="1130" dirty="0"/>
          </a:p>
        </p:txBody>
      </p:sp>
      <p:sp>
        <p:nvSpPr>
          <p:cNvPr id="17" name="Card"/>
          <p:cNvSpPr/>
          <p:nvPr/>
        </p:nvSpPr>
        <p:spPr>
          <a:xfrm>
            <a:off x="11811000" y="3895725"/>
            <a:ext cx="5429250" cy="742950"/>
          </a:xfrm>
          <a:prstGeom prst="roundRect">
            <a:avLst>
              <a:gd name="adj" fmla="val 738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8" name="NumCircle"/>
          <p:cNvSpPr/>
          <p:nvPr/>
        </p:nvSpPr>
        <p:spPr>
          <a:xfrm>
            <a:off x="11982450" y="4086225"/>
            <a:ext cx="361950" cy="361950"/>
          </a:xfrm>
          <a:prstGeom prst="ellipse">
            <a:avLst/>
          </a:prstGeom>
          <a:solidFill>
            <a:srgbClr val="2A2418"/>
          </a:solidFill>
          <a:ln w="1270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19" name="Text 307"/>
          <p:cNvSpPr txBox="1"/>
          <p:nvPr/>
        </p:nvSpPr>
        <p:spPr>
          <a:xfrm>
            <a:off x="11982450" y="40862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308"/>
          <p:cNvSpPr txBox="1"/>
          <p:nvPr/>
        </p:nvSpPr>
        <p:spPr>
          <a:xfrm>
            <a:off x="12496800" y="3990975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신앙 막대</a:t>
            </a:r>
            <a:endParaRPr lang="en-US" sz="1500" dirty="0"/>
          </a:p>
        </p:txBody>
      </p:sp>
      <p:sp>
        <p:nvSpPr>
          <p:cNvPr id="21" name="Text 309"/>
          <p:cNvSpPr txBox="1"/>
          <p:nvPr/>
        </p:nvSpPr>
        <p:spPr>
          <a:xfrm>
            <a:off x="12496800" y="431482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 자원 · 충만 시 금빛 강조</a:t>
            </a:r>
            <a:endParaRPr lang="en-US" sz="1130" dirty="0"/>
          </a:p>
        </p:txBody>
      </p:sp>
      <p:sp>
        <p:nvSpPr>
          <p:cNvPr id="22" name="Card"/>
          <p:cNvSpPr/>
          <p:nvPr/>
        </p:nvSpPr>
        <p:spPr>
          <a:xfrm>
            <a:off x="11811000" y="4743450"/>
            <a:ext cx="5429250" cy="742950"/>
          </a:xfrm>
          <a:prstGeom prst="roundRect">
            <a:avLst>
              <a:gd name="adj" fmla="val 738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3" name="NumCircle"/>
          <p:cNvSpPr/>
          <p:nvPr/>
        </p:nvSpPr>
        <p:spPr>
          <a:xfrm>
            <a:off x="11982450" y="4933950"/>
            <a:ext cx="361950" cy="361950"/>
          </a:xfrm>
          <a:prstGeom prst="ellipse">
            <a:avLst/>
          </a:prstGeom>
          <a:solidFill>
            <a:srgbClr val="2A2418"/>
          </a:solidFill>
          <a:ln w="1270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24" name="Text 310"/>
          <p:cNvSpPr txBox="1"/>
          <p:nvPr/>
        </p:nvSpPr>
        <p:spPr>
          <a:xfrm>
            <a:off x="11982450" y="49339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311"/>
          <p:cNvSpPr txBox="1"/>
          <p:nvPr/>
        </p:nvSpPr>
        <p:spPr>
          <a:xfrm>
            <a:off x="12496800" y="48387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바</a:t>
            </a:r>
            <a:endParaRPr lang="en-US" sz="1500" dirty="0"/>
          </a:p>
        </p:txBody>
      </p:sp>
      <p:sp>
        <p:nvSpPr>
          <p:cNvPr id="26" name="Text 312"/>
          <p:cNvSpPr txBox="1"/>
          <p:nvPr/>
        </p:nvSpPr>
        <p:spPr>
          <a:xfrm>
            <a:off x="12496800" y="516255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 방향 재사용 대기 · 준비 반짝임 · 툴팁</a:t>
            </a:r>
            <a:endParaRPr lang="en-US" sz="1130" dirty="0"/>
          </a:p>
        </p:txBody>
      </p:sp>
      <p:sp>
        <p:nvSpPr>
          <p:cNvPr id="27" name="Card"/>
          <p:cNvSpPr/>
          <p:nvPr/>
        </p:nvSpPr>
        <p:spPr>
          <a:xfrm>
            <a:off x="11811000" y="5591175"/>
            <a:ext cx="5429250" cy="742950"/>
          </a:xfrm>
          <a:prstGeom prst="roundRect">
            <a:avLst>
              <a:gd name="adj" fmla="val 738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8" name="NumCircle"/>
          <p:cNvSpPr/>
          <p:nvPr/>
        </p:nvSpPr>
        <p:spPr>
          <a:xfrm>
            <a:off x="11982450" y="5781675"/>
            <a:ext cx="361950" cy="361950"/>
          </a:xfrm>
          <a:prstGeom prst="ellipse">
            <a:avLst/>
          </a:prstGeom>
          <a:solidFill>
            <a:srgbClr val="2A2418"/>
          </a:solidFill>
          <a:ln w="1270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29" name="Text 313"/>
          <p:cNvSpPr txBox="1"/>
          <p:nvPr/>
        </p:nvSpPr>
        <p:spPr>
          <a:xfrm>
            <a:off x="11982450" y="578167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314"/>
          <p:cNvSpPr txBox="1"/>
          <p:nvPr/>
        </p:nvSpPr>
        <p:spPr>
          <a:xfrm>
            <a:off x="12496800" y="5686425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미니맵</a:t>
            </a:r>
            <a:endParaRPr lang="en-US" sz="1500" dirty="0"/>
          </a:p>
        </p:txBody>
      </p:sp>
      <p:sp>
        <p:nvSpPr>
          <p:cNvPr id="31" name="Text 315"/>
          <p:cNvSpPr txBox="1"/>
          <p:nvPr/>
        </p:nvSpPr>
        <p:spPr>
          <a:xfrm>
            <a:off x="12496800" y="601027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위 주변 120m · 핀 · 웨이포인트</a:t>
            </a:r>
            <a:endParaRPr lang="en-US" sz="1130" dirty="0"/>
          </a:p>
        </p:txBody>
      </p:sp>
      <p:sp>
        <p:nvSpPr>
          <p:cNvPr id="32" name="Card"/>
          <p:cNvSpPr/>
          <p:nvPr/>
        </p:nvSpPr>
        <p:spPr>
          <a:xfrm>
            <a:off x="11811000" y="6438900"/>
            <a:ext cx="5429250" cy="742950"/>
          </a:xfrm>
          <a:prstGeom prst="roundRect">
            <a:avLst>
              <a:gd name="adj" fmla="val 738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3" name="NumCircle"/>
          <p:cNvSpPr/>
          <p:nvPr/>
        </p:nvSpPr>
        <p:spPr>
          <a:xfrm>
            <a:off x="11982450" y="6629400"/>
            <a:ext cx="361950" cy="361950"/>
          </a:xfrm>
          <a:prstGeom prst="ellipse">
            <a:avLst/>
          </a:prstGeom>
          <a:solidFill>
            <a:srgbClr val="2A2418"/>
          </a:solidFill>
          <a:ln w="1270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34" name="Text 316"/>
          <p:cNvSpPr txBox="1"/>
          <p:nvPr/>
        </p:nvSpPr>
        <p:spPr>
          <a:xfrm>
            <a:off x="11982450" y="66294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17"/>
          <p:cNvSpPr txBox="1"/>
          <p:nvPr/>
        </p:nvSpPr>
        <p:spPr>
          <a:xfrm>
            <a:off x="12496800" y="653415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· 보스 게이지</a:t>
            </a:r>
            <a:endParaRPr lang="en-US" sz="1500" dirty="0"/>
          </a:p>
        </p:txBody>
      </p:sp>
      <p:sp>
        <p:nvSpPr>
          <p:cNvPr id="36" name="Text 318"/>
          <p:cNvSpPr txBox="1"/>
          <p:nvPr/>
        </p:nvSpPr>
        <p:spPr>
          <a:xfrm>
            <a:off x="12496800" y="6858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보호막 · 버팀 · 페이즈 표식</a:t>
            </a:r>
            <a:endParaRPr lang="en-US" sz="1130" dirty="0"/>
          </a:p>
        </p:txBody>
      </p:sp>
      <p:sp>
        <p:nvSpPr>
          <p:cNvPr id="37" name="Card"/>
          <p:cNvSpPr/>
          <p:nvPr/>
        </p:nvSpPr>
        <p:spPr>
          <a:xfrm>
            <a:off x="11811000" y="7286625"/>
            <a:ext cx="5429250" cy="742950"/>
          </a:xfrm>
          <a:prstGeom prst="roundRect">
            <a:avLst>
              <a:gd name="adj" fmla="val 738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8" name="NumCircle"/>
          <p:cNvSpPr/>
          <p:nvPr/>
        </p:nvSpPr>
        <p:spPr>
          <a:xfrm>
            <a:off x="11982450" y="7477125"/>
            <a:ext cx="361950" cy="361950"/>
          </a:xfrm>
          <a:prstGeom prst="ellipse">
            <a:avLst/>
          </a:prstGeom>
          <a:solidFill>
            <a:srgbClr val="2A2418"/>
          </a:solidFill>
          <a:ln w="1270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39" name="Text 319"/>
          <p:cNvSpPr txBox="1"/>
          <p:nvPr/>
        </p:nvSpPr>
        <p:spPr>
          <a:xfrm>
            <a:off x="11982450" y="7477125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20"/>
          <p:cNvSpPr txBox="1"/>
          <p:nvPr/>
        </p:nvSpPr>
        <p:spPr>
          <a:xfrm>
            <a:off x="12496800" y="7381875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 숫자</a:t>
            </a:r>
            <a:endParaRPr lang="en-US" sz="1500" dirty="0"/>
          </a:p>
        </p:txBody>
      </p:sp>
      <p:sp>
        <p:nvSpPr>
          <p:cNvPr id="41" name="Text 321"/>
          <p:cNvSpPr txBox="1"/>
          <p:nvPr/>
        </p:nvSpPr>
        <p:spPr>
          <a:xfrm>
            <a:off x="12496800" y="770572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흰 = 준 피해 · 노랑 = 치명타 · 빨강 = 받은 피해</a:t>
            </a:r>
            <a:endParaRPr lang="en-US" sz="1130" dirty="0"/>
          </a:p>
        </p:txBody>
      </p:sp>
      <p:sp>
        <p:nvSpPr>
          <p:cNvPr id="42" name="Card"/>
          <p:cNvSpPr/>
          <p:nvPr/>
        </p:nvSpPr>
        <p:spPr>
          <a:xfrm>
            <a:off x="11811000" y="8134350"/>
            <a:ext cx="5429250" cy="742950"/>
          </a:xfrm>
          <a:prstGeom prst="roundRect">
            <a:avLst>
              <a:gd name="adj" fmla="val 7385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3" name="NumCircle"/>
          <p:cNvSpPr/>
          <p:nvPr/>
        </p:nvSpPr>
        <p:spPr>
          <a:xfrm>
            <a:off x="11982450" y="8324850"/>
            <a:ext cx="361950" cy="361950"/>
          </a:xfrm>
          <a:prstGeom prst="ellipse">
            <a:avLst/>
          </a:prstGeom>
          <a:solidFill>
            <a:srgbClr val="2A2418"/>
          </a:solidFill>
          <a:ln w="12700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44" name="Text 322"/>
          <p:cNvSpPr txBox="1"/>
          <p:nvPr/>
        </p:nvSpPr>
        <p:spPr>
          <a:xfrm>
            <a:off x="11982450" y="832485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D58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7</a:t>
            </a:r>
            <a:endParaRPr lang="en-US" sz="1500" dirty="0"/>
          </a:p>
        </p:txBody>
      </p:sp>
      <p:sp>
        <p:nvSpPr>
          <p:cNvPr id="45" name="Text 323"/>
          <p:cNvSpPr txBox="1"/>
          <p:nvPr/>
        </p:nvSpPr>
        <p:spPr>
          <a:xfrm>
            <a:off x="12496800" y="82296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endParaRPr lang="en-US" sz="1500" dirty="0"/>
          </a:p>
        </p:txBody>
      </p:sp>
      <p:sp>
        <p:nvSpPr>
          <p:cNvPr id="46" name="Text 324"/>
          <p:cNvSpPr txBox="1"/>
          <p:nvPr/>
        </p:nvSpPr>
        <p:spPr>
          <a:xfrm>
            <a:off x="12496800" y="855345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 팝업(클릭 → 업적 창) · 상태 알림 1초</a:t>
            </a:r>
            <a:endParaRPr lang="en-US" sz="11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17   UI  II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UI ② 주요 창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 하나로 여는 창들 — 같은 판 · 제목 탭 · 닫기 규칙으로 통일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17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5267325" cy="2743200"/>
          </a:xfrm>
          <a:prstGeom prst="roundRect">
            <a:avLst>
              <a:gd name="adj" fmla="val 2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9" name="ScreenshotSlot"/>
          <p:cNvSpPr/>
          <p:nvPr/>
        </p:nvSpPr>
        <p:spPr>
          <a:xfrm>
            <a:off x="1219200" y="3219450"/>
            <a:ext cx="4924425" cy="1619250"/>
          </a:xfrm>
          <a:prstGeom prst="roundRect">
            <a:avLst>
              <a:gd name="adj" fmla="val 2259"/>
            </a:avLst>
          </a:prstGeom>
          <a:solidFill>
            <a:srgbClr val="101116"/>
          </a:solidFill>
          <a:ln w="12700">
            <a:solidFill>
              <a:srgbClr val="E9B45A">
                <a:alpha val="45000"/>
              </a:srgbClr>
            </a:solidFill>
            <a:prstDash val="dash"/>
          </a:ln>
        </p:spPr>
      </p:sp>
      <p:sp>
        <p:nvSpPr>
          <p:cNvPr id="10" name="Diamond"/>
          <p:cNvSpPr/>
          <p:nvPr/>
        </p:nvSpPr>
        <p:spPr>
          <a:xfrm>
            <a:off x="3571875" y="3829050"/>
            <a:ext cx="209550" cy="209550"/>
          </a:xfrm>
          <a:prstGeom prst="diamond">
            <a:avLst/>
          </a:prstGeom>
          <a:ln w="1587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11" name="Text 325"/>
          <p:cNvSpPr txBox="1"/>
          <p:nvPr/>
        </p:nvSpPr>
        <p:spPr>
          <a:xfrm>
            <a:off x="1219200" y="407670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130" dirty="0"/>
          </a:p>
        </p:txBody>
      </p:sp>
      <p:sp>
        <p:nvSpPr>
          <p:cNvPr id="12" name="Text 326"/>
          <p:cNvSpPr txBox="1"/>
          <p:nvPr/>
        </p:nvSpPr>
        <p:spPr>
          <a:xfrm>
            <a:off x="1257300" y="4953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인벤토리</a:t>
            </a:r>
            <a:endParaRPr lang="en-US" sz="1800" dirty="0"/>
          </a:p>
        </p:txBody>
      </p:sp>
      <p:sp>
        <p:nvSpPr>
          <p:cNvPr id="13" name="Chip"/>
          <p:cNvSpPr/>
          <p:nvPr/>
        </p:nvSpPr>
        <p:spPr>
          <a:xfrm>
            <a:off x="5743575" y="4991100"/>
            <a:ext cx="3619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4" name="ChipText"/>
          <p:cNvSpPr txBox="1"/>
          <p:nvPr/>
        </p:nvSpPr>
        <p:spPr>
          <a:xfrm>
            <a:off x="5743575" y="4991100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15" name="Text 327"/>
          <p:cNvSpPr txBox="1"/>
          <p:nvPr/>
        </p:nvSpPr>
        <p:spPr>
          <a:xfrm>
            <a:off x="1257300" y="53911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6칸 · 분류별 가방 · 비교 툴팁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572250" y="3048000"/>
            <a:ext cx="5267325" cy="2743200"/>
          </a:xfrm>
          <a:prstGeom prst="roundRect">
            <a:avLst>
              <a:gd name="adj" fmla="val 2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7" name="ScreenshotSlot"/>
          <p:cNvSpPr/>
          <p:nvPr/>
        </p:nvSpPr>
        <p:spPr>
          <a:xfrm>
            <a:off x="6743700" y="3219450"/>
            <a:ext cx="4924425" cy="1619250"/>
          </a:xfrm>
          <a:prstGeom prst="roundRect">
            <a:avLst>
              <a:gd name="adj" fmla="val 2259"/>
            </a:avLst>
          </a:prstGeom>
          <a:solidFill>
            <a:srgbClr val="101116"/>
          </a:solidFill>
          <a:ln w="12700">
            <a:solidFill>
              <a:srgbClr val="E9B45A">
                <a:alpha val="45000"/>
              </a:srgbClr>
            </a:solidFill>
            <a:prstDash val="dash"/>
          </a:ln>
        </p:spPr>
      </p:sp>
      <p:sp>
        <p:nvSpPr>
          <p:cNvPr id="18" name="Diamond"/>
          <p:cNvSpPr/>
          <p:nvPr/>
        </p:nvSpPr>
        <p:spPr>
          <a:xfrm>
            <a:off x="9096375" y="3829050"/>
            <a:ext cx="209550" cy="209550"/>
          </a:xfrm>
          <a:prstGeom prst="diamond">
            <a:avLst/>
          </a:prstGeom>
          <a:ln w="1587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19" name="Text 328"/>
          <p:cNvSpPr txBox="1"/>
          <p:nvPr/>
        </p:nvSpPr>
        <p:spPr>
          <a:xfrm>
            <a:off x="6743700" y="407670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130" dirty="0"/>
          </a:p>
        </p:txBody>
      </p:sp>
      <p:sp>
        <p:nvSpPr>
          <p:cNvPr id="20" name="Text 329"/>
          <p:cNvSpPr txBox="1"/>
          <p:nvPr/>
        </p:nvSpPr>
        <p:spPr>
          <a:xfrm>
            <a:off x="6781800" y="4953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캐릭터 · 성물</a:t>
            </a:r>
            <a:endParaRPr lang="en-US" sz="1800" dirty="0"/>
          </a:p>
        </p:txBody>
      </p:sp>
      <p:sp>
        <p:nvSpPr>
          <p:cNvPr id="21" name="Chip"/>
          <p:cNvSpPr/>
          <p:nvPr/>
        </p:nvSpPr>
        <p:spPr>
          <a:xfrm>
            <a:off x="11268075" y="4991100"/>
            <a:ext cx="3619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2" name="ChipText"/>
          <p:cNvSpPr txBox="1"/>
          <p:nvPr/>
        </p:nvSpPr>
        <p:spPr>
          <a:xfrm>
            <a:off x="11268075" y="4991100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Text 330"/>
          <p:cNvSpPr txBox="1"/>
          <p:nvPr/>
        </p:nvSpPr>
        <p:spPr>
          <a:xfrm>
            <a:off x="6781800" y="53911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 카드 · 성물 단계 · 능력치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12096750" y="3048000"/>
            <a:ext cx="5267325" cy="2743200"/>
          </a:xfrm>
          <a:prstGeom prst="roundRect">
            <a:avLst>
              <a:gd name="adj" fmla="val 2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5" name="ScreenshotSlot"/>
          <p:cNvSpPr/>
          <p:nvPr/>
        </p:nvSpPr>
        <p:spPr>
          <a:xfrm>
            <a:off x="12268200" y="3219450"/>
            <a:ext cx="4924425" cy="1619250"/>
          </a:xfrm>
          <a:prstGeom prst="roundRect">
            <a:avLst>
              <a:gd name="adj" fmla="val 2259"/>
            </a:avLst>
          </a:prstGeom>
          <a:solidFill>
            <a:srgbClr val="101116"/>
          </a:solidFill>
          <a:ln w="12700">
            <a:solidFill>
              <a:srgbClr val="E9B45A">
                <a:alpha val="45000"/>
              </a:srgbClr>
            </a:solidFill>
            <a:prstDash val="dash"/>
          </a:ln>
        </p:spPr>
      </p:sp>
      <p:sp>
        <p:nvSpPr>
          <p:cNvPr id="26" name="Diamond"/>
          <p:cNvSpPr/>
          <p:nvPr/>
        </p:nvSpPr>
        <p:spPr>
          <a:xfrm>
            <a:off x="14620875" y="3829050"/>
            <a:ext cx="209550" cy="209550"/>
          </a:xfrm>
          <a:prstGeom prst="diamond">
            <a:avLst/>
          </a:prstGeom>
          <a:ln w="1587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27" name="Text 331"/>
          <p:cNvSpPr txBox="1"/>
          <p:nvPr/>
        </p:nvSpPr>
        <p:spPr>
          <a:xfrm>
            <a:off x="12268200" y="407670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130" dirty="0"/>
          </a:p>
        </p:txBody>
      </p:sp>
      <p:sp>
        <p:nvSpPr>
          <p:cNvPr id="28" name="Text 332"/>
          <p:cNvSpPr txBox="1"/>
          <p:nvPr/>
        </p:nvSpPr>
        <p:spPr>
          <a:xfrm>
            <a:off x="12306300" y="4953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</a:t>
            </a:r>
            <a:endParaRPr lang="en-US" sz="1800" dirty="0"/>
          </a:p>
        </p:txBody>
      </p:sp>
      <p:sp>
        <p:nvSpPr>
          <p:cNvPr id="29" name="Chip"/>
          <p:cNvSpPr/>
          <p:nvPr/>
        </p:nvSpPr>
        <p:spPr>
          <a:xfrm>
            <a:off x="16792575" y="4991100"/>
            <a:ext cx="3619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0" name="ChipText"/>
          <p:cNvSpPr txBox="1"/>
          <p:nvPr/>
        </p:nvSpPr>
        <p:spPr>
          <a:xfrm>
            <a:off x="16792575" y="4991100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endParaRPr lang="en-US" sz="1200" dirty="0"/>
          </a:p>
        </p:txBody>
      </p:sp>
      <p:sp>
        <p:nvSpPr>
          <p:cNvPr id="31" name="Text 333"/>
          <p:cNvSpPr txBox="1"/>
          <p:nvPr/>
        </p:nvSpPr>
        <p:spPr>
          <a:xfrm>
            <a:off x="12306300" y="53911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 단계 열 · 슬롯 레벨 · 강화 분기</a:t>
            </a:r>
            <a:endParaRPr lang="en-US" sz="1200" dirty="0"/>
          </a:p>
        </p:txBody>
      </p:sp>
      <p:sp>
        <p:nvSpPr>
          <p:cNvPr id="32" name="Card"/>
          <p:cNvSpPr/>
          <p:nvPr/>
        </p:nvSpPr>
        <p:spPr>
          <a:xfrm>
            <a:off x="1047750" y="5953125"/>
            <a:ext cx="5267325" cy="2743200"/>
          </a:xfrm>
          <a:prstGeom prst="roundRect">
            <a:avLst>
              <a:gd name="adj" fmla="val 2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3" name="ScreenshotSlot"/>
          <p:cNvSpPr/>
          <p:nvPr/>
        </p:nvSpPr>
        <p:spPr>
          <a:xfrm>
            <a:off x="1219200" y="6124575"/>
            <a:ext cx="4924425" cy="1619250"/>
          </a:xfrm>
          <a:prstGeom prst="roundRect">
            <a:avLst>
              <a:gd name="adj" fmla="val 2259"/>
            </a:avLst>
          </a:prstGeom>
          <a:solidFill>
            <a:srgbClr val="101116"/>
          </a:solidFill>
          <a:ln w="12700">
            <a:solidFill>
              <a:srgbClr val="E9B45A">
                <a:alpha val="45000"/>
              </a:srgbClr>
            </a:solidFill>
            <a:prstDash val="dash"/>
          </a:ln>
        </p:spPr>
      </p:sp>
      <p:sp>
        <p:nvSpPr>
          <p:cNvPr id="34" name="Diamond"/>
          <p:cNvSpPr/>
          <p:nvPr/>
        </p:nvSpPr>
        <p:spPr>
          <a:xfrm>
            <a:off x="3571875" y="6734175"/>
            <a:ext cx="209550" cy="209550"/>
          </a:xfrm>
          <a:prstGeom prst="diamond">
            <a:avLst/>
          </a:prstGeom>
          <a:ln w="1587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35" name="Text 334"/>
          <p:cNvSpPr txBox="1"/>
          <p:nvPr/>
        </p:nvSpPr>
        <p:spPr>
          <a:xfrm>
            <a:off x="1219200" y="6981825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130" dirty="0"/>
          </a:p>
        </p:txBody>
      </p:sp>
      <p:sp>
        <p:nvSpPr>
          <p:cNvPr id="36" name="Text 335"/>
          <p:cNvSpPr txBox="1"/>
          <p:nvPr/>
        </p:nvSpPr>
        <p:spPr>
          <a:xfrm>
            <a:off x="1257300" y="7858125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신격 트리</a:t>
            </a:r>
            <a:endParaRPr lang="en-US" sz="1800" dirty="0"/>
          </a:p>
        </p:txBody>
      </p:sp>
      <p:sp>
        <p:nvSpPr>
          <p:cNvPr id="37" name="Chip"/>
          <p:cNvSpPr/>
          <p:nvPr/>
        </p:nvSpPr>
        <p:spPr>
          <a:xfrm>
            <a:off x="5743575" y="7896225"/>
            <a:ext cx="3619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8" name="ChipText"/>
          <p:cNvSpPr txBox="1"/>
          <p:nvPr/>
        </p:nvSpPr>
        <p:spPr>
          <a:xfrm>
            <a:off x="5743575" y="7896225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</a:t>
            </a:r>
            <a:endParaRPr lang="en-US" sz="1200" dirty="0"/>
          </a:p>
        </p:txBody>
      </p:sp>
      <p:sp>
        <p:nvSpPr>
          <p:cNvPr id="39" name="Text 336"/>
          <p:cNvSpPr txBox="1"/>
          <p:nvPr/>
        </p:nvSpPr>
        <p:spPr>
          <a:xfrm>
            <a:off x="1257300" y="8296275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업적 포인트로 노드 활성화</a:t>
            </a:r>
            <a:endParaRPr lang="en-US" sz="1200" dirty="0"/>
          </a:p>
        </p:txBody>
      </p:sp>
      <p:sp>
        <p:nvSpPr>
          <p:cNvPr id="40" name="Card"/>
          <p:cNvSpPr/>
          <p:nvPr/>
        </p:nvSpPr>
        <p:spPr>
          <a:xfrm>
            <a:off x="6572250" y="5953125"/>
            <a:ext cx="5267325" cy="2743200"/>
          </a:xfrm>
          <a:prstGeom prst="roundRect">
            <a:avLst>
              <a:gd name="adj" fmla="val 2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1" name="ScreenshotSlot"/>
          <p:cNvSpPr/>
          <p:nvPr/>
        </p:nvSpPr>
        <p:spPr>
          <a:xfrm>
            <a:off x="6743700" y="6124575"/>
            <a:ext cx="4924425" cy="1619250"/>
          </a:xfrm>
          <a:prstGeom prst="roundRect">
            <a:avLst>
              <a:gd name="adj" fmla="val 2259"/>
            </a:avLst>
          </a:prstGeom>
          <a:solidFill>
            <a:srgbClr val="101116"/>
          </a:solidFill>
          <a:ln w="12700">
            <a:solidFill>
              <a:srgbClr val="E9B45A">
                <a:alpha val="45000"/>
              </a:srgbClr>
            </a:solidFill>
            <a:prstDash val="dash"/>
          </a:ln>
        </p:spPr>
      </p:sp>
      <p:sp>
        <p:nvSpPr>
          <p:cNvPr id="42" name="Diamond"/>
          <p:cNvSpPr/>
          <p:nvPr/>
        </p:nvSpPr>
        <p:spPr>
          <a:xfrm>
            <a:off x="9096375" y="6734175"/>
            <a:ext cx="209550" cy="209550"/>
          </a:xfrm>
          <a:prstGeom prst="diamond">
            <a:avLst/>
          </a:prstGeom>
          <a:ln w="1587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43" name="Text 337"/>
          <p:cNvSpPr txBox="1"/>
          <p:nvPr/>
        </p:nvSpPr>
        <p:spPr>
          <a:xfrm>
            <a:off x="6743700" y="6981825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130" dirty="0"/>
          </a:p>
        </p:txBody>
      </p:sp>
      <p:sp>
        <p:nvSpPr>
          <p:cNvPr id="44" name="Text 338"/>
          <p:cNvSpPr txBox="1"/>
          <p:nvPr/>
        </p:nvSpPr>
        <p:spPr>
          <a:xfrm>
            <a:off x="6781800" y="7858125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업적</a:t>
            </a:r>
            <a:endParaRPr lang="en-US" sz="1800" dirty="0"/>
          </a:p>
        </p:txBody>
      </p:sp>
      <p:sp>
        <p:nvSpPr>
          <p:cNvPr id="45" name="Chip"/>
          <p:cNvSpPr/>
          <p:nvPr/>
        </p:nvSpPr>
        <p:spPr>
          <a:xfrm>
            <a:off x="11268075" y="7896225"/>
            <a:ext cx="36195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46" name="ChipText"/>
          <p:cNvSpPr txBox="1"/>
          <p:nvPr/>
        </p:nvSpPr>
        <p:spPr>
          <a:xfrm>
            <a:off x="11268075" y="7896225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</a:t>
            </a:r>
            <a:endParaRPr lang="en-US" sz="1200" dirty="0"/>
          </a:p>
        </p:txBody>
      </p:sp>
      <p:sp>
        <p:nvSpPr>
          <p:cNvPr id="47" name="Text 339"/>
          <p:cNvSpPr txBox="1"/>
          <p:nvPr/>
        </p:nvSpPr>
        <p:spPr>
          <a:xfrm>
            <a:off x="6781800" y="8296275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분류별 진행도 · 최근 달성 · 칭호</a:t>
            </a:r>
            <a:endParaRPr lang="en-US" sz="1200" dirty="0"/>
          </a:p>
        </p:txBody>
      </p:sp>
      <p:sp>
        <p:nvSpPr>
          <p:cNvPr id="48" name="Card"/>
          <p:cNvSpPr/>
          <p:nvPr/>
        </p:nvSpPr>
        <p:spPr>
          <a:xfrm>
            <a:off x="12096750" y="5953125"/>
            <a:ext cx="5267325" cy="2743200"/>
          </a:xfrm>
          <a:prstGeom prst="roundRect">
            <a:avLst>
              <a:gd name="adj" fmla="val 2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49" name="ScreenshotSlot"/>
          <p:cNvSpPr/>
          <p:nvPr/>
        </p:nvSpPr>
        <p:spPr>
          <a:xfrm>
            <a:off x="12268200" y="6124575"/>
            <a:ext cx="4924425" cy="1619250"/>
          </a:xfrm>
          <a:prstGeom prst="roundRect">
            <a:avLst>
              <a:gd name="adj" fmla="val 2259"/>
            </a:avLst>
          </a:prstGeom>
          <a:solidFill>
            <a:srgbClr val="101116"/>
          </a:solidFill>
          <a:ln w="12700">
            <a:solidFill>
              <a:srgbClr val="E9B45A">
                <a:alpha val="45000"/>
              </a:srgbClr>
            </a:solidFill>
            <a:prstDash val="dash"/>
          </a:ln>
        </p:spPr>
      </p:sp>
      <p:sp>
        <p:nvSpPr>
          <p:cNvPr id="50" name="Diamond"/>
          <p:cNvSpPr/>
          <p:nvPr/>
        </p:nvSpPr>
        <p:spPr>
          <a:xfrm>
            <a:off x="14620875" y="6734175"/>
            <a:ext cx="209550" cy="209550"/>
          </a:xfrm>
          <a:prstGeom prst="diamond">
            <a:avLst/>
          </a:prstGeom>
          <a:ln w="15875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51" name="Text 340"/>
          <p:cNvSpPr txBox="1"/>
          <p:nvPr/>
        </p:nvSpPr>
        <p:spPr>
          <a:xfrm>
            <a:off x="12268200" y="6981825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130" dirty="0"/>
          </a:p>
        </p:txBody>
      </p:sp>
      <p:sp>
        <p:nvSpPr>
          <p:cNvPr id="52" name="Text 341"/>
          <p:cNvSpPr txBox="1"/>
          <p:nvPr/>
        </p:nvSpPr>
        <p:spPr>
          <a:xfrm>
            <a:off x="12306300" y="7858125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지도</a:t>
            </a:r>
            <a:endParaRPr lang="en-US" sz="1800" dirty="0"/>
          </a:p>
        </p:txBody>
      </p:sp>
      <p:sp>
        <p:nvSpPr>
          <p:cNvPr id="53" name="Chip"/>
          <p:cNvSpPr/>
          <p:nvPr/>
        </p:nvSpPr>
        <p:spPr>
          <a:xfrm>
            <a:off x="16621125" y="7896225"/>
            <a:ext cx="533400" cy="304800"/>
          </a:xfrm>
          <a:prstGeom prst="roundRect">
            <a:avLst>
              <a:gd name="adj" fmla="val 15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54" name="ChipText"/>
          <p:cNvSpPr txBox="1"/>
          <p:nvPr/>
        </p:nvSpPr>
        <p:spPr>
          <a:xfrm>
            <a:off x="16621125" y="7896225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</a:t>
            </a:r>
            <a:endParaRPr lang="en-US" sz="1200" dirty="0"/>
          </a:p>
        </p:txBody>
      </p:sp>
      <p:sp>
        <p:nvSpPr>
          <p:cNvPr id="55" name="Text 342"/>
          <p:cNvSpPr txBox="1"/>
          <p:nvPr/>
        </p:nvSpPr>
        <p:spPr>
          <a:xfrm>
            <a:off x="12306300" y="8296275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지도 · 자동 이동 · 핀</a:t>
            </a:r>
            <a:endParaRPr lang="en-US" sz="1200" dirty="0"/>
          </a:p>
        </p:txBody>
      </p:sp>
      <p:sp>
        <p:nvSpPr>
          <p:cNvPr id="56" name="Diamond"/>
          <p:cNvSpPr/>
          <p:nvPr/>
        </p:nvSpPr>
        <p:spPr>
          <a:xfrm>
            <a:off x="1076325" y="898207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7" name="Text 343"/>
          <p:cNvSpPr txBox="1"/>
          <p:nvPr/>
        </p:nvSpPr>
        <p:spPr>
          <a:xfrm>
            <a:off x="1276350" y="8905875"/>
            <a:ext cx="1571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(Esc): 음량 · 화면 · 피해 숫자 · 마우스 감도 — [적용] 전 확인 팝업  ·  오른쪽 아래 메뉴 버튼으로도 모든 창 열기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18   UI  III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UI ③ 디자인 과정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디아블로를 닮지 않은 '부서진 격' 콘셉트를 찾기까지 — 시안 먼저, 구현은 나중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18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3762375" cy="2762250"/>
          </a:xfrm>
          <a:prstGeom prst="roundRect">
            <a:avLst>
              <a:gd name="adj" fmla="val 198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30000"/>
              </a:srgbClr>
            </a:solidFill>
            <a:prstDash val="solid"/>
          </a:ln>
        </p:spPr>
      </p:sp>
      <p:sp>
        <p:nvSpPr>
          <p:cNvPr id="9" name="Text 344"/>
          <p:cNvSpPr txBox="1"/>
          <p:nvPr/>
        </p:nvSpPr>
        <p:spPr>
          <a:xfrm>
            <a:off x="1314450" y="3238500"/>
            <a:ext cx="95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2550" dirty="0"/>
          </a:p>
        </p:txBody>
      </p:sp>
      <p:sp>
        <p:nvSpPr>
          <p:cNvPr id="10" name="Chip"/>
          <p:cNvSpPr/>
          <p:nvPr/>
        </p:nvSpPr>
        <p:spPr>
          <a:xfrm>
            <a:off x="3952875" y="3314700"/>
            <a:ext cx="495300" cy="285750"/>
          </a:xfrm>
          <a:prstGeom prst="roundRect">
            <a:avLst>
              <a:gd name="adj" fmla="val 160000"/>
            </a:avLst>
          </a:prstGeom>
          <a:solidFill>
            <a:srgbClr val="2A1A18"/>
          </a:solidFill>
          <a:ln w="9525">
            <a:solidFill>
              <a:srgbClr val="D23A2C">
                <a:alpha val="60000"/>
              </a:srgbClr>
            </a:solidFill>
            <a:prstDash val="solid"/>
          </a:ln>
        </p:spPr>
      </p:sp>
      <p:sp>
        <p:nvSpPr>
          <p:cNvPr id="11" name="ChipText"/>
          <p:cNvSpPr txBox="1"/>
          <p:nvPr/>
        </p:nvSpPr>
        <p:spPr>
          <a:xfrm>
            <a:off x="3952875" y="3314700"/>
            <a:ext cx="49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A7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폐기</a:t>
            </a:r>
            <a:endParaRPr lang="en-US" sz="1050" dirty="0"/>
          </a:p>
        </p:txBody>
      </p:sp>
      <p:sp>
        <p:nvSpPr>
          <p:cNvPr id="12" name="Text 345"/>
          <p:cNvSpPr txBox="1"/>
          <p:nvPr/>
        </p:nvSpPr>
        <p:spPr>
          <a:xfrm>
            <a:off x="1314450" y="37909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9AA0A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디아블로풍 초안</a:t>
            </a:r>
            <a:endParaRPr lang="en-US" sz="1950" dirty="0"/>
          </a:p>
        </p:txBody>
      </p:sp>
      <p:sp>
        <p:nvSpPr>
          <p:cNvPr id="13" name="Text 346"/>
          <p:cNvSpPr txBox="1"/>
          <p:nvPr/>
        </p:nvSpPr>
        <p:spPr>
          <a:xfrm>
            <a:off x="1314450" y="43053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디아블로 4와 너무 비슷해 폐기</a:t>
            </a:r>
            <a:endParaRPr lang="en-US" sz="1280" dirty="0"/>
          </a:p>
        </p:txBody>
      </p:sp>
      <p:sp>
        <p:nvSpPr>
          <p:cNvPr id="14" name="Arrow"/>
          <p:cNvSpPr/>
          <p:nvPr/>
        </p:nvSpPr>
        <p:spPr>
          <a:xfrm>
            <a:off x="4838700" y="4429125"/>
            <a:ext cx="2857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5" name="Card"/>
          <p:cNvSpPr/>
          <p:nvPr/>
        </p:nvSpPr>
        <p:spPr>
          <a:xfrm>
            <a:off x="5143500" y="3048000"/>
            <a:ext cx="3762375" cy="2762250"/>
          </a:xfrm>
          <a:prstGeom prst="roundRect">
            <a:avLst>
              <a:gd name="adj" fmla="val 198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6" name="Text 347"/>
          <p:cNvSpPr txBox="1"/>
          <p:nvPr/>
        </p:nvSpPr>
        <p:spPr>
          <a:xfrm>
            <a:off x="5410200" y="3238500"/>
            <a:ext cx="95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2550" dirty="0"/>
          </a:p>
        </p:txBody>
      </p:sp>
      <p:sp>
        <p:nvSpPr>
          <p:cNvPr id="17" name="Text 348"/>
          <p:cNvSpPr txBox="1"/>
          <p:nvPr/>
        </p:nvSpPr>
        <p:spPr>
          <a:xfrm>
            <a:off x="5410200" y="37909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 · B 시안 비교</a:t>
            </a:r>
            <a:endParaRPr lang="en-US" sz="1950" dirty="0"/>
          </a:p>
        </p:txBody>
      </p:sp>
      <p:sp>
        <p:nvSpPr>
          <p:cNvPr id="18" name="Text 349"/>
          <p:cNvSpPr txBox="1"/>
          <p:nvPr/>
        </p:nvSpPr>
        <p:spPr>
          <a:xfrm>
            <a:off x="5410200" y="43053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천계 백옥 / B 어두운 금속판</a:t>
            </a:r>
            <a:endParaRPr lang="en-US" sz="1280" dirty="0"/>
          </a:p>
        </p:txBody>
      </p:sp>
      <p:sp>
        <p:nvSpPr>
          <p:cNvPr id="19" name="Arrow"/>
          <p:cNvSpPr/>
          <p:nvPr/>
        </p:nvSpPr>
        <p:spPr>
          <a:xfrm>
            <a:off x="8934450" y="4429125"/>
            <a:ext cx="2857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0" name="Card"/>
          <p:cNvSpPr/>
          <p:nvPr/>
        </p:nvSpPr>
        <p:spPr>
          <a:xfrm>
            <a:off x="9239250" y="3048000"/>
            <a:ext cx="3762375" cy="2762250"/>
          </a:xfrm>
          <a:prstGeom prst="roundRect">
            <a:avLst>
              <a:gd name="adj" fmla="val 198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1" name="Text 350"/>
          <p:cNvSpPr txBox="1"/>
          <p:nvPr/>
        </p:nvSpPr>
        <p:spPr>
          <a:xfrm>
            <a:off x="9505950" y="3238500"/>
            <a:ext cx="95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2550" dirty="0"/>
          </a:p>
        </p:txBody>
      </p:sp>
      <p:sp>
        <p:nvSpPr>
          <p:cNvPr id="22" name="Text 351"/>
          <p:cNvSpPr txBox="1"/>
          <p:nvPr/>
        </p:nvSpPr>
        <p:spPr>
          <a:xfrm>
            <a:off x="9505950" y="37909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B안 채택 · 검토 반영</a:t>
            </a:r>
            <a:endParaRPr lang="en-US" sz="1950" dirty="0"/>
          </a:p>
        </p:txBody>
      </p:sp>
      <p:sp>
        <p:nvSpPr>
          <p:cNvPr id="23" name="Text 352"/>
          <p:cNvSpPr txBox="1"/>
          <p:nvPr/>
        </p:nvSpPr>
        <p:spPr>
          <a:xfrm>
            <a:off x="9505950" y="43053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균열 효과 · 격 인장 제거</a:t>
            </a:r>
            <a:endParaRPr lang="en-US" sz="12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체력 · 기력 구슬 복원</a:t>
            </a:r>
            <a:endParaRPr lang="en-US" sz="1280" dirty="0"/>
          </a:p>
        </p:txBody>
      </p:sp>
      <p:sp>
        <p:nvSpPr>
          <p:cNvPr id="24" name="Arrow"/>
          <p:cNvSpPr/>
          <p:nvPr/>
        </p:nvSpPr>
        <p:spPr>
          <a:xfrm>
            <a:off x="13030200" y="4429125"/>
            <a:ext cx="28575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5" name="Card"/>
          <p:cNvSpPr/>
          <p:nvPr/>
        </p:nvSpPr>
        <p:spPr>
          <a:xfrm>
            <a:off x="13335000" y="3048000"/>
            <a:ext cx="3762375" cy="2762250"/>
          </a:xfrm>
          <a:prstGeom prst="roundRect">
            <a:avLst>
              <a:gd name="adj" fmla="val 1986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80000"/>
              </a:srgbClr>
            </a:solidFill>
            <a:prstDash val="solid"/>
          </a:ln>
        </p:spPr>
      </p:sp>
      <p:sp>
        <p:nvSpPr>
          <p:cNvPr id="26" name="Text 353"/>
          <p:cNvSpPr txBox="1"/>
          <p:nvPr/>
        </p:nvSpPr>
        <p:spPr>
          <a:xfrm>
            <a:off x="13601700" y="3238500"/>
            <a:ext cx="95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2550" dirty="0"/>
          </a:p>
        </p:txBody>
      </p:sp>
      <p:sp>
        <p:nvSpPr>
          <p:cNvPr id="27" name="Text 354"/>
          <p:cNvSpPr txBox="1"/>
          <p:nvPr/>
        </p:nvSpPr>
        <p:spPr>
          <a:xfrm>
            <a:off x="13601700" y="37909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Figma → 구현</a:t>
            </a:r>
            <a:endParaRPr lang="en-US" sz="1950" dirty="0"/>
          </a:p>
        </p:txBody>
      </p:sp>
      <p:sp>
        <p:nvSpPr>
          <p:cNvPr id="28" name="Text 355"/>
          <p:cNvSpPr txBox="1"/>
          <p:nvPr/>
        </p:nvSpPr>
        <p:spPr>
          <a:xfrm>
            <a:off x="13601700" y="43053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창마다 시안 A/B/C 비교 후 선택</a:t>
            </a:r>
            <a:endParaRPr lang="en-US" sz="12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기반 uGUI로 구현</a:t>
            </a:r>
            <a:endParaRPr lang="en-US" sz="1280" dirty="0"/>
          </a:p>
        </p:txBody>
      </p:sp>
      <p:sp>
        <p:nvSpPr>
          <p:cNvPr id="29" name="Card"/>
          <p:cNvSpPr/>
          <p:nvPr/>
        </p:nvSpPr>
        <p:spPr>
          <a:xfrm>
            <a:off x="1047750" y="6096000"/>
            <a:ext cx="7810500" cy="2819400"/>
          </a:xfrm>
          <a:prstGeom prst="roundRect">
            <a:avLst>
              <a:gd name="adj" fmla="val 194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0" name="Text 356"/>
          <p:cNvSpPr txBox="1"/>
          <p:nvPr/>
        </p:nvSpPr>
        <p:spPr>
          <a:xfrm>
            <a:off x="1390650" y="62484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색 · 글꼴</a:t>
            </a:r>
            <a:endParaRPr lang="en-US" sz="1800" dirty="0"/>
          </a:p>
        </p:txBody>
      </p:sp>
      <p:sp>
        <p:nvSpPr>
          <p:cNvPr id="31" name="Shape 357"/>
          <p:cNvSpPr/>
          <p:nvPr/>
        </p:nvSpPr>
        <p:spPr>
          <a:xfrm>
            <a:off x="1390650" y="6781800"/>
            <a:ext cx="914400" cy="609600"/>
          </a:xfrm>
          <a:prstGeom prst="roundRect">
            <a:avLst>
              <a:gd name="adj" fmla="val 15000"/>
            </a:avLst>
          </a:prstGeom>
          <a:solidFill>
            <a:srgbClr val="2E3038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Text 358"/>
          <p:cNvSpPr txBox="1"/>
          <p:nvPr/>
        </p:nvSpPr>
        <p:spPr>
          <a:xfrm>
            <a:off x="1390650" y="746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</a:t>
            </a:r>
            <a:endParaRPr lang="en-US" sz="1130" dirty="0"/>
          </a:p>
        </p:txBody>
      </p:sp>
      <p:sp>
        <p:nvSpPr>
          <p:cNvPr id="33" name="Text 359"/>
          <p:cNvSpPr txBox="1"/>
          <p:nvPr/>
        </p:nvSpPr>
        <p:spPr>
          <a:xfrm>
            <a:off x="1390650" y="76962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#2E3038</a:t>
            </a:r>
            <a:endParaRPr lang="en-US" sz="900" dirty="0"/>
          </a:p>
        </p:txBody>
      </p:sp>
      <p:sp>
        <p:nvSpPr>
          <p:cNvPr id="34" name="Shape 360"/>
          <p:cNvSpPr/>
          <p:nvPr/>
        </p:nvSpPr>
        <p:spPr>
          <a:xfrm>
            <a:off x="2590800" y="6781800"/>
            <a:ext cx="914400" cy="609600"/>
          </a:xfrm>
          <a:prstGeom prst="roundRect">
            <a:avLst>
              <a:gd name="adj" fmla="val 15000"/>
            </a:avLst>
          </a:prstGeom>
          <a:solidFill>
            <a:srgbClr val="6A6E7A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Text 361"/>
          <p:cNvSpPr txBox="1"/>
          <p:nvPr/>
        </p:nvSpPr>
        <p:spPr>
          <a:xfrm>
            <a:off x="2590800" y="746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테두리</a:t>
            </a:r>
            <a:endParaRPr lang="en-US" sz="1130" dirty="0"/>
          </a:p>
        </p:txBody>
      </p:sp>
      <p:sp>
        <p:nvSpPr>
          <p:cNvPr id="36" name="Text 362"/>
          <p:cNvSpPr txBox="1"/>
          <p:nvPr/>
        </p:nvSpPr>
        <p:spPr>
          <a:xfrm>
            <a:off x="2590800" y="76962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#6A6E7A</a:t>
            </a:r>
            <a:endParaRPr lang="en-US" sz="900" dirty="0"/>
          </a:p>
        </p:txBody>
      </p:sp>
      <p:sp>
        <p:nvSpPr>
          <p:cNvPr id="37" name="Shape 363"/>
          <p:cNvSpPr/>
          <p:nvPr/>
        </p:nvSpPr>
        <p:spPr>
          <a:xfrm>
            <a:off x="3790950" y="6781800"/>
            <a:ext cx="914400" cy="609600"/>
          </a:xfrm>
          <a:prstGeom prst="roundRect">
            <a:avLst>
              <a:gd name="adj" fmla="val 15000"/>
            </a:avLst>
          </a:prstGeom>
          <a:solidFill>
            <a:srgbClr val="FFD58A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Text 364"/>
          <p:cNvSpPr txBox="1"/>
          <p:nvPr/>
        </p:nvSpPr>
        <p:spPr>
          <a:xfrm>
            <a:off x="3790950" y="746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endParaRPr lang="en-US" sz="1130" dirty="0"/>
          </a:p>
        </p:txBody>
      </p:sp>
      <p:sp>
        <p:nvSpPr>
          <p:cNvPr id="39" name="Text 365"/>
          <p:cNvSpPr txBox="1"/>
          <p:nvPr/>
        </p:nvSpPr>
        <p:spPr>
          <a:xfrm>
            <a:off x="3790950" y="76962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#FFD58A</a:t>
            </a:r>
            <a:endParaRPr lang="en-US" sz="900" dirty="0"/>
          </a:p>
        </p:txBody>
      </p:sp>
      <p:sp>
        <p:nvSpPr>
          <p:cNvPr id="40" name="Shape 366"/>
          <p:cNvSpPr/>
          <p:nvPr/>
        </p:nvSpPr>
        <p:spPr>
          <a:xfrm>
            <a:off x="4991100" y="6781800"/>
            <a:ext cx="914400" cy="609600"/>
          </a:xfrm>
          <a:prstGeom prst="roundRect">
            <a:avLst>
              <a:gd name="adj" fmla="val 15000"/>
            </a:avLst>
          </a:prstGeom>
          <a:solidFill>
            <a:srgbClr val="E9B45A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Text 367"/>
          <p:cNvSpPr txBox="1"/>
          <p:nvPr/>
        </p:nvSpPr>
        <p:spPr>
          <a:xfrm>
            <a:off x="4991100" y="746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</a:t>
            </a:r>
            <a:endParaRPr lang="en-US" sz="1130" dirty="0"/>
          </a:p>
        </p:txBody>
      </p:sp>
      <p:sp>
        <p:nvSpPr>
          <p:cNvPr id="42" name="Text 368"/>
          <p:cNvSpPr txBox="1"/>
          <p:nvPr/>
        </p:nvSpPr>
        <p:spPr>
          <a:xfrm>
            <a:off x="4991100" y="76962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#E9B45A</a:t>
            </a:r>
            <a:endParaRPr lang="en-US" sz="900" dirty="0"/>
          </a:p>
        </p:txBody>
      </p:sp>
      <p:sp>
        <p:nvSpPr>
          <p:cNvPr id="43" name="Shape 369"/>
          <p:cNvSpPr/>
          <p:nvPr/>
        </p:nvSpPr>
        <p:spPr>
          <a:xfrm>
            <a:off x="6191250" y="6781800"/>
            <a:ext cx="914400" cy="609600"/>
          </a:xfrm>
          <a:prstGeom prst="roundRect">
            <a:avLst>
              <a:gd name="adj" fmla="val 15000"/>
            </a:avLst>
          </a:prstGeom>
          <a:solidFill>
            <a:srgbClr val="D23A2C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Text 370"/>
          <p:cNvSpPr txBox="1"/>
          <p:nvPr/>
        </p:nvSpPr>
        <p:spPr>
          <a:xfrm>
            <a:off x="6191250" y="746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체력</a:t>
            </a:r>
            <a:endParaRPr lang="en-US" sz="1130" dirty="0"/>
          </a:p>
        </p:txBody>
      </p:sp>
      <p:sp>
        <p:nvSpPr>
          <p:cNvPr id="45" name="Text 371"/>
          <p:cNvSpPr txBox="1"/>
          <p:nvPr/>
        </p:nvSpPr>
        <p:spPr>
          <a:xfrm>
            <a:off x="6191250" y="76962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#D23A2C</a:t>
            </a:r>
            <a:endParaRPr lang="en-US" sz="900" dirty="0"/>
          </a:p>
        </p:txBody>
      </p:sp>
      <p:sp>
        <p:nvSpPr>
          <p:cNvPr id="46" name="Shape 372"/>
          <p:cNvSpPr/>
          <p:nvPr/>
        </p:nvSpPr>
        <p:spPr>
          <a:xfrm>
            <a:off x="7391400" y="6781800"/>
            <a:ext cx="914400" cy="609600"/>
          </a:xfrm>
          <a:prstGeom prst="roundRect">
            <a:avLst>
              <a:gd name="adj" fmla="val 15000"/>
            </a:avLst>
          </a:prstGeom>
          <a:solidFill>
            <a:srgbClr val="F0C25A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Text 373"/>
          <p:cNvSpPr txBox="1"/>
          <p:nvPr/>
        </p:nvSpPr>
        <p:spPr>
          <a:xfrm>
            <a:off x="7391400" y="746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기력</a:t>
            </a:r>
            <a:endParaRPr lang="en-US" sz="1130" dirty="0"/>
          </a:p>
        </p:txBody>
      </p:sp>
      <p:sp>
        <p:nvSpPr>
          <p:cNvPr id="48" name="Text 374"/>
          <p:cNvSpPr txBox="1"/>
          <p:nvPr/>
        </p:nvSpPr>
        <p:spPr>
          <a:xfrm>
            <a:off x="7391400" y="76962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#F0C25A</a:t>
            </a:r>
            <a:endParaRPr lang="en-US" sz="900" dirty="0"/>
          </a:p>
        </p:txBody>
      </p:sp>
      <p:sp>
        <p:nvSpPr>
          <p:cNvPr id="49" name="Text 375"/>
          <p:cNvSpPr txBox="1"/>
          <p:nvPr/>
        </p:nvSpPr>
        <p:spPr>
          <a:xfrm>
            <a:off x="1390650" y="81153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Noto Serif KR  제목</a:t>
            </a:r>
            <a:endParaRPr lang="en-US" sz="1800" dirty="0"/>
          </a:p>
        </p:txBody>
      </p:sp>
      <p:sp>
        <p:nvSpPr>
          <p:cNvPr id="50" name="Text 376"/>
          <p:cNvSpPr txBox="1"/>
          <p:nvPr/>
        </p:nvSpPr>
        <p:spPr>
          <a:xfrm>
            <a:off x="4476750" y="81724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Noto Sans KR  본문</a:t>
            </a:r>
            <a:endParaRPr lang="en-US" sz="1500" dirty="0"/>
          </a:p>
        </p:txBody>
      </p:sp>
      <p:sp>
        <p:nvSpPr>
          <p:cNvPr id="51" name="Card"/>
          <p:cNvSpPr/>
          <p:nvPr/>
        </p:nvSpPr>
        <p:spPr>
          <a:xfrm>
            <a:off x="9144000" y="6096000"/>
            <a:ext cx="8096250" cy="2819400"/>
          </a:xfrm>
          <a:prstGeom prst="roundRect">
            <a:avLst>
              <a:gd name="adj" fmla="val 194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52" name="Text 377"/>
          <p:cNvSpPr txBox="1"/>
          <p:nvPr/>
        </p:nvSpPr>
        <p:spPr>
          <a:xfrm>
            <a:off x="9486900" y="62484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공통 규칙</a:t>
            </a:r>
            <a:endParaRPr lang="en-US" sz="1800" dirty="0"/>
          </a:p>
        </p:txBody>
      </p:sp>
      <p:sp>
        <p:nvSpPr>
          <p:cNvPr id="53" name="Diamond"/>
          <p:cNvSpPr/>
          <p:nvPr/>
        </p:nvSpPr>
        <p:spPr>
          <a:xfrm>
            <a:off x="9520238" y="685323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4" name="Text 378"/>
          <p:cNvSpPr txBox="1"/>
          <p:nvPr/>
        </p:nvSpPr>
        <p:spPr>
          <a:xfrm>
            <a:off x="9734550" y="6762750"/>
            <a:ext cx="733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창: 왼쪽 위 제목 탭 · 오른쪽 위 × · 제목 탭을 끌어 이동</a:t>
            </a:r>
            <a:endParaRPr lang="en-US" sz="1280" dirty="0"/>
          </a:p>
        </p:txBody>
      </p:sp>
      <p:sp>
        <p:nvSpPr>
          <p:cNvPr id="55" name="Diamond"/>
          <p:cNvSpPr/>
          <p:nvPr/>
        </p:nvSpPr>
        <p:spPr>
          <a:xfrm>
            <a:off x="9520238" y="731043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6" name="Text 379"/>
          <p:cNvSpPr txBox="1"/>
          <p:nvPr/>
        </p:nvSpPr>
        <p:spPr>
          <a:xfrm>
            <a:off x="9734550" y="7219950"/>
            <a:ext cx="733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제목과 보조 글 사이 10px · 마우스를 올릴 때만 금빛 강조</a:t>
            </a:r>
            <a:endParaRPr lang="en-US" sz="1280" dirty="0"/>
          </a:p>
        </p:txBody>
      </p:sp>
      <p:sp>
        <p:nvSpPr>
          <p:cNvPr id="57" name="Diamond"/>
          <p:cNvSpPr/>
          <p:nvPr/>
        </p:nvSpPr>
        <p:spPr>
          <a:xfrm>
            <a:off x="9520238" y="7767637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8" name="Text 380"/>
          <p:cNvSpPr txBox="1"/>
          <p:nvPr/>
        </p:nvSpPr>
        <p:spPr>
          <a:xfrm>
            <a:off x="9734550" y="7677150"/>
            <a:ext cx="733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희귀도 5색 · 자원 색을 HUD · 창 · 툴팁에서 공통 사용</a:t>
            </a:r>
            <a:endParaRPr lang="en-US" sz="1280" dirty="0"/>
          </a:p>
        </p:txBody>
      </p:sp>
      <p:sp>
        <p:nvSpPr>
          <p:cNvPr id="59" name="Diamond"/>
          <p:cNvSpPr/>
          <p:nvPr/>
        </p:nvSpPr>
        <p:spPr>
          <a:xfrm>
            <a:off x="9520238" y="8224837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0" name="Text 381"/>
          <p:cNvSpPr txBox="1"/>
          <p:nvPr/>
        </p:nvSpPr>
        <p:spPr>
          <a:xfrm>
            <a:off x="9734550" y="8134350"/>
            <a:ext cx="733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시안 → 검토 → 구현 (기술 창 · 인벤토리 · 캐릭터 · 설정 등)</a:t>
            </a:r>
            <a:endParaRPr lang="en-US" sz="1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19   ARCHITECTURE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설계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확장을 전제로 한 데이터 중심 · 이벤트 연결 구조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19 / 23</a:t>
            </a:r>
            <a:endParaRPr lang="en-US" sz="1200" dirty="0"/>
          </a:p>
        </p:txBody>
      </p:sp>
      <p:sp>
        <p:nvSpPr>
          <p:cNvPr id="8" name="Text 382"/>
          <p:cNvSpPr txBox="1"/>
          <p:nvPr/>
        </p:nvSpPr>
        <p:spPr>
          <a:xfrm>
            <a:off x="1047750" y="30099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(ScriptableObject)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1047750" y="33909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10" name="Text 383"/>
          <p:cNvSpPr txBox="1"/>
          <p:nvPr/>
        </p:nvSpPr>
        <p:spPr>
          <a:xfrm>
            <a:off x="1257300" y="33909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JobDefinition</a:t>
            </a:r>
            <a:endParaRPr lang="en-US" sz="1430" dirty="0"/>
          </a:p>
        </p:txBody>
      </p:sp>
      <p:sp>
        <p:nvSpPr>
          <p:cNvPr id="11" name="Card"/>
          <p:cNvSpPr/>
          <p:nvPr/>
        </p:nvSpPr>
        <p:spPr>
          <a:xfrm>
            <a:off x="1047750" y="40767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12" name="Text 384"/>
          <p:cNvSpPr txBox="1"/>
          <p:nvPr/>
        </p:nvSpPr>
        <p:spPr>
          <a:xfrm>
            <a:off x="1257300" y="40767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SkillDefinition + SkillBehaviour</a:t>
            </a:r>
            <a:endParaRPr lang="en-US" sz="1430" dirty="0"/>
          </a:p>
        </p:txBody>
      </p:sp>
      <p:sp>
        <p:nvSpPr>
          <p:cNvPr id="13" name="Card"/>
          <p:cNvSpPr/>
          <p:nvPr/>
        </p:nvSpPr>
        <p:spPr>
          <a:xfrm>
            <a:off x="1047750" y="47625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14" name="Text 385"/>
          <p:cNvSpPr txBox="1"/>
          <p:nvPr/>
        </p:nvSpPr>
        <p:spPr>
          <a:xfrm>
            <a:off x="1257300" y="47625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HeroPathDefinition</a:t>
            </a:r>
            <a:endParaRPr lang="en-US" sz="1430" dirty="0"/>
          </a:p>
        </p:txBody>
      </p:sp>
      <p:sp>
        <p:nvSpPr>
          <p:cNvPr id="15" name="Card"/>
          <p:cNvSpPr/>
          <p:nvPr/>
        </p:nvSpPr>
        <p:spPr>
          <a:xfrm>
            <a:off x="1047750" y="54483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16" name="Text 386"/>
          <p:cNvSpPr txBox="1"/>
          <p:nvPr/>
        </p:nvSpPr>
        <p:spPr>
          <a:xfrm>
            <a:off x="1257300" y="54483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EnemyDefinition · BossPhaseProfile</a:t>
            </a:r>
            <a:endParaRPr lang="en-US" sz="1430" dirty="0"/>
          </a:p>
        </p:txBody>
      </p:sp>
      <p:sp>
        <p:nvSpPr>
          <p:cNvPr id="17" name="Card"/>
          <p:cNvSpPr/>
          <p:nvPr/>
        </p:nvSpPr>
        <p:spPr>
          <a:xfrm>
            <a:off x="1047750" y="61341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18" name="Text 387"/>
          <p:cNvSpPr txBox="1"/>
          <p:nvPr/>
        </p:nvSpPr>
        <p:spPr>
          <a:xfrm>
            <a:off x="1257300" y="61341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ItemDefinition · ItemCatalog</a:t>
            </a:r>
            <a:endParaRPr lang="en-US" sz="1430" dirty="0"/>
          </a:p>
        </p:txBody>
      </p:sp>
      <p:sp>
        <p:nvSpPr>
          <p:cNvPr id="19" name="Arrow"/>
          <p:cNvSpPr/>
          <p:nvPr/>
        </p:nvSpPr>
        <p:spPr>
          <a:xfrm>
            <a:off x="5734050" y="5334000"/>
            <a:ext cx="10287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0" name="Text 388"/>
          <p:cNvSpPr txBox="1"/>
          <p:nvPr/>
        </p:nvSpPr>
        <p:spPr>
          <a:xfrm>
            <a:off x="5772150" y="4991100"/>
            <a:ext cx="95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</a:t>
            </a:r>
            <a:endParaRPr lang="en-US" sz="1200" dirty="0"/>
          </a:p>
        </p:txBody>
      </p:sp>
      <p:sp>
        <p:nvSpPr>
          <p:cNvPr id="21" name="Text 389"/>
          <p:cNvSpPr txBox="1"/>
          <p:nvPr/>
        </p:nvSpPr>
        <p:spPr>
          <a:xfrm>
            <a:off x="6858000" y="30099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런타임 시스템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6858000" y="33909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3" name="Text 390"/>
          <p:cNvSpPr txBox="1"/>
          <p:nvPr/>
        </p:nvSpPr>
        <p:spPr>
          <a:xfrm>
            <a:off x="7067550" y="33909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PlayerController · ClickMover</a:t>
            </a:r>
            <a:endParaRPr lang="en-US" sz="1430" dirty="0"/>
          </a:p>
        </p:txBody>
      </p:sp>
      <p:sp>
        <p:nvSpPr>
          <p:cNvPr id="24" name="Card"/>
          <p:cNvSpPr/>
          <p:nvPr/>
        </p:nvSpPr>
        <p:spPr>
          <a:xfrm>
            <a:off x="6858000" y="40767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5" name="Text 391"/>
          <p:cNvSpPr txBox="1"/>
          <p:nvPr/>
        </p:nvSpPr>
        <p:spPr>
          <a:xfrm>
            <a:off x="7067550" y="40767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SkillCaster · SkillLoadout</a:t>
            </a:r>
            <a:endParaRPr lang="en-US" sz="1430" dirty="0"/>
          </a:p>
        </p:txBody>
      </p:sp>
      <p:sp>
        <p:nvSpPr>
          <p:cNvPr id="26" name="Card"/>
          <p:cNvSpPr/>
          <p:nvPr/>
        </p:nvSpPr>
        <p:spPr>
          <a:xfrm>
            <a:off x="6858000" y="47625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7" name="Text 392"/>
          <p:cNvSpPr txBox="1"/>
          <p:nvPr/>
        </p:nvSpPr>
        <p:spPr>
          <a:xfrm>
            <a:off x="7067550" y="47625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· DamageInfo</a:t>
            </a:r>
            <a:endParaRPr lang="en-US" sz="1430" dirty="0"/>
          </a:p>
        </p:txBody>
      </p:sp>
      <p:sp>
        <p:nvSpPr>
          <p:cNvPr id="28" name="Card"/>
          <p:cNvSpPr/>
          <p:nvPr/>
        </p:nvSpPr>
        <p:spPr>
          <a:xfrm>
            <a:off x="6858000" y="54483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9" name="Text 393"/>
          <p:cNvSpPr txBox="1"/>
          <p:nvPr/>
        </p:nvSpPr>
        <p:spPr>
          <a:xfrm>
            <a:off x="7067550" y="54483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EnemyController · ErlangBoss</a:t>
            </a:r>
            <a:endParaRPr lang="en-US" sz="1430" dirty="0"/>
          </a:p>
        </p:txBody>
      </p:sp>
      <p:sp>
        <p:nvSpPr>
          <p:cNvPr id="30" name="Card"/>
          <p:cNvSpPr/>
          <p:nvPr/>
        </p:nvSpPr>
        <p:spPr>
          <a:xfrm>
            <a:off x="6858000" y="61341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1" name="Text 394"/>
          <p:cNvSpPr txBox="1"/>
          <p:nvPr/>
        </p:nvSpPr>
        <p:spPr>
          <a:xfrm>
            <a:off x="7067550" y="61341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AttackImpactRunner</a:t>
            </a:r>
            <a:endParaRPr lang="en-US" sz="1430" dirty="0"/>
          </a:p>
        </p:txBody>
      </p:sp>
      <p:sp>
        <p:nvSpPr>
          <p:cNvPr id="32" name="Arrow"/>
          <p:cNvSpPr/>
          <p:nvPr/>
        </p:nvSpPr>
        <p:spPr>
          <a:xfrm>
            <a:off x="11544300" y="5334000"/>
            <a:ext cx="10287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Text 395"/>
          <p:cNvSpPr txBox="1"/>
          <p:nvPr/>
        </p:nvSpPr>
        <p:spPr>
          <a:xfrm>
            <a:off x="11582400" y="4991100"/>
            <a:ext cx="95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</a:t>
            </a:r>
            <a:endParaRPr lang="en-US" sz="1200" dirty="0"/>
          </a:p>
        </p:txBody>
      </p:sp>
      <p:sp>
        <p:nvSpPr>
          <p:cNvPr id="34" name="Text 396"/>
          <p:cNvSpPr txBox="1"/>
          <p:nvPr/>
        </p:nvSpPr>
        <p:spPr>
          <a:xfrm>
            <a:off x="12668250" y="30099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9B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· UI (이벤트 구독)</a:t>
            </a:r>
            <a:endParaRPr lang="en-US" sz="1500" dirty="0"/>
          </a:p>
        </p:txBody>
      </p:sp>
      <p:sp>
        <p:nvSpPr>
          <p:cNvPr id="35" name="Card"/>
          <p:cNvSpPr/>
          <p:nvPr/>
        </p:nvSpPr>
        <p:spPr>
          <a:xfrm>
            <a:off x="12668250" y="33909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36" name="Text 397"/>
          <p:cNvSpPr txBox="1"/>
          <p:nvPr/>
        </p:nvSpPr>
        <p:spPr>
          <a:xfrm>
            <a:off x="12877800" y="33909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PlayerProgression</a:t>
            </a:r>
            <a:endParaRPr lang="en-US" sz="1430" dirty="0"/>
          </a:p>
        </p:txBody>
      </p:sp>
      <p:sp>
        <p:nvSpPr>
          <p:cNvPr id="37" name="Card"/>
          <p:cNvSpPr/>
          <p:nvPr/>
        </p:nvSpPr>
        <p:spPr>
          <a:xfrm>
            <a:off x="12668250" y="40767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38" name="Text 398"/>
          <p:cNvSpPr txBox="1"/>
          <p:nvPr/>
        </p:nvSpPr>
        <p:spPr>
          <a:xfrm>
            <a:off x="12877800" y="40767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AchievementTracker</a:t>
            </a:r>
            <a:endParaRPr lang="en-US" sz="1430" dirty="0"/>
          </a:p>
        </p:txBody>
      </p:sp>
      <p:sp>
        <p:nvSpPr>
          <p:cNvPr id="39" name="Card"/>
          <p:cNvSpPr/>
          <p:nvPr/>
        </p:nvSpPr>
        <p:spPr>
          <a:xfrm>
            <a:off x="12668250" y="47625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40" name="Text 399"/>
          <p:cNvSpPr txBox="1"/>
          <p:nvPr/>
        </p:nvSpPr>
        <p:spPr>
          <a:xfrm>
            <a:off x="12877800" y="47625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GyeokTree</a:t>
            </a:r>
            <a:endParaRPr lang="en-US" sz="1430" dirty="0"/>
          </a:p>
        </p:txBody>
      </p:sp>
      <p:sp>
        <p:nvSpPr>
          <p:cNvPr id="41" name="Card"/>
          <p:cNvSpPr/>
          <p:nvPr/>
        </p:nvSpPr>
        <p:spPr>
          <a:xfrm>
            <a:off x="12668250" y="54483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42" name="Text 400"/>
          <p:cNvSpPr txBox="1"/>
          <p:nvPr/>
        </p:nvSpPr>
        <p:spPr>
          <a:xfrm>
            <a:off x="12877800" y="54483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GameEffects · GameSounds</a:t>
            </a:r>
            <a:endParaRPr lang="en-US" sz="1430" dirty="0"/>
          </a:p>
        </p:txBody>
      </p:sp>
      <p:sp>
        <p:nvSpPr>
          <p:cNvPr id="43" name="Card"/>
          <p:cNvSpPr/>
          <p:nvPr/>
        </p:nvSpPr>
        <p:spPr>
          <a:xfrm>
            <a:off x="12668250" y="6134100"/>
            <a:ext cx="4572000" cy="552450"/>
          </a:xfrm>
          <a:prstGeom prst="roundRect">
            <a:avLst>
              <a:gd name="adj" fmla="val 993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45000"/>
              </a:srgbClr>
            </a:solidFill>
            <a:prstDash val="solid"/>
          </a:ln>
        </p:spPr>
      </p:sp>
      <p:sp>
        <p:nvSpPr>
          <p:cNvPr id="44" name="Text 401"/>
          <p:cNvSpPr txBox="1"/>
          <p:nvPr/>
        </p:nvSpPr>
        <p:spPr>
          <a:xfrm>
            <a:off x="12877800" y="6134100"/>
            <a:ext cx="419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HudView · 창 UI</a:t>
            </a:r>
            <a:endParaRPr lang="en-US" sz="1430" dirty="0"/>
          </a:p>
        </p:txBody>
      </p:sp>
      <p:sp>
        <p:nvSpPr>
          <p:cNvPr id="45" name="Card"/>
          <p:cNvSpPr/>
          <p:nvPr/>
        </p:nvSpPr>
        <p:spPr>
          <a:xfrm>
            <a:off x="1047750" y="7010400"/>
            <a:ext cx="3905250" cy="1847850"/>
          </a:xfrm>
          <a:prstGeom prst="roundRect">
            <a:avLst>
              <a:gd name="adj" fmla="val 2969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45000"/>
              </a:srgbClr>
            </a:solidFill>
            <a:prstDash val="solid"/>
          </a:ln>
        </p:spPr>
      </p:sp>
      <p:sp>
        <p:nvSpPr>
          <p:cNvPr id="46" name="Text 402"/>
          <p:cNvSpPr txBox="1"/>
          <p:nvPr/>
        </p:nvSpPr>
        <p:spPr>
          <a:xfrm>
            <a:off x="1314450" y="72009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 중심</a:t>
            </a:r>
            <a:endParaRPr lang="en-US" sz="1950" dirty="0"/>
          </a:p>
        </p:txBody>
      </p:sp>
      <p:sp>
        <p:nvSpPr>
          <p:cNvPr id="47" name="Text 403"/>
          <p:cNvSpPr txBox="1"/>
          <p:nvPr/>
        </p:nvSpPr>
        <p:spPr>
          <a:xfrm>
            <a:off x="1314450" y="7734300"/>
            <a:ext cx="3371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 · 정의는 SO 데이터, 코드 수정 없이 추가 · 조정</a:t>
            </a:r>
            <a:endParaRPr lang="en-US" sz="1350" dirty="0"/>
          </a:p>
        </p:txBody>
      </p:sp>
      <p:sp>
        <p:nvSpPr>
          <p:cNvPr id="48" name="Card"/>
          <p:cNvSpPr/>
          <p:nvPr/>
        </p:nvSpPr>
        <p:spPr>
          <a:xfrm>
            <a:off x="5143500" y="7010400"/>
            <a:ext cx="3905250" cy="1847850"/>
          </a:xfrm>
          <a:prstGeom prst="roundRect">
            <a:avLst>
              <a:gd name="adj" fmla="val 2969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45000"/>
              </a:srgbClr>
            </a:solidFill>
            <a:prstDash val="solid"/>
          </a:ln>
        </p:spPr>
      </p:sp>
      <p:sp>
        <p:nvSpPr>
          <p:cNvPr id="49" name="Text 404"/>
          <p:cNvSpPr txBox="1"/>
          <p:nvPr/>
        </p:nvSpPr>
        <p:spPr>
          <a:xfrm>
            <a:off x="5410200" y="72009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규칙 분리</a:t>
            </a:r>
            <a:endParaRPr lang="en-US" sz="1950" dirty="0"/>
          </a:p>
        </p:txBody>
      </p:sp>
      <p:sp>
        <p:nvSpPr>
          <p:cNvPr id="50" name="Text 405"/>
          <p:cNvSpPr txBox="1"/>
          <p:nvPr/>
        </p:nvSpPr>
        <p:spPr>
          <a:xfrm>
            <a:off x="5410200" y="7734300"/>
            <a:ext cx="3371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영웅 메커니즘은 규칙 객체, 전투 코드에 영웅별 분기 금지</a:t>
            </a:r>
            <a:endParaRPr lang="en-US" sz="1350" dirty="0"/>
          </a:p>
        </p:txBody>
      </p:sp>
      <p:sp>
        <p:nvSpPr>
          <p:cNvPr id="51" name="Card"/>
          <p:cNvSpPr/>
          <p:nvPr/>
        </p:nvSpPr>
        <p:spPr>
          <a:xfrm>
            <a:off x="9239250" y="7010400"/>
            <a:ext cx="3905250" cy="1847850"/>
          </a:xfrm>
          <a:prstGeom prst="roundRect">
            <a:avLst>
              <a:gd name="adj" fmla="val 2969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45000"/>
              </a:srgbClr>
            </a:solidFill>
            <a:prstDash val="solid"/>
          </a:ln>
        </p:spPr>
      </p:sp>
      <p:sp>
        <p:nvSpPr>
          <p:cNvPr id="52" name="Text 406"/>
          <p:cNvSpPr txBox="1"/>
          <p:nvPr/>
        </p:nvSpPr>
        <p:spPr>
          <a:xfrm>
            <a:off x="9505950" y="72009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순수 계산</a:t>
            </a:r>
            <a:endParaRPr lang="en-US" sz="1950" dirty="0"/>
          </a:p>
        </p:txBody>
      </p:sp>
      <p:sp>
        <p:nvSpPr>
          <p:cNvPr id="53" name="Text 407"/>
          <p:cNvSpPr txBox="1"/>
          <p:nvPr/>
        </p:nvSpPr>
        <p:spPr>
          <a:xfrm>
            <a:off x="9505950" y="7734300"/>
            <a:ext cx="3371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 · 돌파 조건 · 자원 계산은 순수 클래스 (EditMode 테스트)</a:t>
            </a:r>
            <a:endParaRPr lang="en-US" sz="1350" dirty="0"/>
          </a:p>
        </p:txBody>
      </p:sp>
      <p:sp>
        <p:nvSpPr>
          <p:cNvPr id="54" name="Card"/>
          <p:cNvSpPr/>
          <p:nvPr/>
        </p:nvSpPr>
        <p:spPr>
          <a:xfrm>
            <a:off x="13335000" y="7010400"/>
            <a:ext cx="3905250" cy="1847850"/>
          </a:xfrm>
          <a:prstGeom prst="roundRect">
            <a:avLst>
              <a:gd name="adj" fmla="val 2969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45000"/>
              </a:srgbClr>
            </a:solidFill>
            <a:prstDash val="solid"/>
          </a:ln>
        </p:spPr>
      </p:sp>
      <p:sp>
        <p:nvSpPr>
          <p:cNvPr id="55" name="Text 408"/>
          <p:cNvSpPr txBox="1"/>
          <p:nvPr/>
        </p:nvSpPr>
        <p:spPr>
          <a:xfrm>
            <a:off x="13601700" y="72009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연결 지점</a:t>
            </a:r>
            <a:endParaRPr lang="en-US" sz="1950" dirty="0"/>
          </a:p>
        </p:txBody>
      </p:sp>
      <p:sp>
        <p:nvSpPr>
          <p:cNvPr id="56" name="Text 409"/>
          <p:cNvSpPr txBox="1"/>
          <p:nvPr/>
        </p:nvSpPr>
        <p:spPr>
          <a:xfrm>
            <a:off x="13601700" y="7734300"/>
            <a:ext cx="3371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시전 전 수치 변경은 ISkillParameterModifier · IBasicAttackModifier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20   AI PIPELINE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활용 파이프라인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초안과 반복 작업, 결정과 검수는 개발자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20 / 23</a:t>
            </a:r>
            <a:endParaRPr lang="en-US" sz="1200" dirty="0"/>
          </a:p>
        </p:txBody>
      </p:sp>
      <p:sp>
        <p:nvSpPr>
          <p:cNvPr id="8" name="Shape 410"/>
          <p:cNvSpPr/>
          <p:nvPr/>
        </p:nvSpPr>
        <p:spPr>
          <a:xfrm>
            <a:off x="1047750" y="3143250"/>
            <a:ext cx="161925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6A6E7A">
                <a:alpha val="25000"/>
              </a:srgbClr>
            </a:solidFill>
            <a:prstDash val="solid"/>
          </a:ln>
        </p:spPr>
      </p:sp>
      <p:sp>
        <p:nvSpPr>
          <p:cNvPr id="9" name="Text 411"/>
          <p:cNvSpPr txBox="1"/>
          <p:nvPr/>
        </p:nvSpPr>
        <p:spPr>
          <a:xfrm>
            <a:off x="1314450" y="314325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기획 · 문서</a:t>
            </a:r>
            <a:endParaRPr lang="en-US" sz="1950" dirty="0"/>
          </a:p>
        </p:txBody>
      </p:sp>
      <p:sp>
        <p:nvSpPr>
          <p:cNvPr id="10" name="Card"/>
          <p:cNvSpPr/>
          <p:nvPr/>
        </p:nvSpPr>
        <p:spPr>
          <a:xfrm>
            <a:off x="3524250" y="32575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11" name="Text 412"/>
          <p:cNvSpPr txBox="1"/>
          <p:nvPr/>
        </p:nvSpPr>
        <p:spPr>
          <a:xfrm>
            <a:off x="3733800" y="33528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</a:t>
            </a:r>
            <a:endParaRPr lang="en-US" sz="1580" dirty="0"/>
          </a:p>
        </p:txBody>
      </p:sp>
      <p:sp>
        <p:nvSpPr>
          <p:cNvPr id="12" name="Text 413"/>
          <p:cNvSpPr txBox="1"/>
          <p:nvPr/>
        </p:nvSpPr>
        <p:spPr>
          <a:xfrm>
            <a:off x="3733800" y="3695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GDD · 영웅 16인 · 빌드 설계안</a:t>
            </a:r>
            <a:endParaRPr lang="en-US" sz="1200" dirty="0"/>
          </a:p>
        </p:txBody>
      </p:sp>
      <p:sp>
        <p:nvSpPr>
          <p:cNvPr id="13" name="Arrow"/>
          <p:cNvSpPr/>
          <p:nvPr/>
        </p:nvSpPr>
        <p:spPr>
          <a:xfrm>
            <a:off x="6419850" y="37147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6953250" y="32575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E9B45A">
                <a:alpha val="90000"/>
              </a:srgbClr>
            </a:solidFill>
            <a:prstDash val="solid"/>
          </a:ln>
        </p:spPr>
      </p:sp>
      <p:sp>
        <p:nvSpPr>
          <p:cNvPr id="15" name="Text 414"/>
          <p:cNvSpPr txBox="1"/>
          <p:nvPr/>
        </p:nvSpPr>
        <p:spPr>
          <a:xfrm>
            <a:off x="7162800" y="33528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결정</a:t>
            </a:r>
            <a:endParaRPr lang="en-US" sz="1580" dirty="0"/>
          </a:p>
        </p:txBody>
      </p:sp>
      <p:sp>
        <p:nvSpPr>
          <p:cNvPr id="16" name="Text 415"/>
          <p:cNvSpPr txBox="1"/>
          <p:nvPr/>
        </p:nvSpPr>
        <p:spPr>
          <a:xfrm>
            <a:off x="7162800" y="3695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비교 후 채택 · 수정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9848850" y="37147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10382250" y="32575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19" name="Text 416"/>
          <p:cNvSpPr txBox="1"/>
          <p:nvPr/>
        </p:nvSpPr>
        <p:spPr>
          <a:xfrm>
            <a:off x="10591800" y="33528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· GitHub</a:t>
            </a:r>
            <a:endParaRPr lang="en-US" sz="1580" dirty="0"/>
          </a:p>
        </p:txBody>
      </p:sp>
      <p:sp>
        <p:nvSpPr>
          <p:cNvPr id="20" name="Text 417"/>
          <p:cNvSpPr txBox="1"/>
          <p:nvPr/>
        </p:nvSpPr>
        <p:spPr>
          <a:xfrm>
            <a:off x="10591800" y="3695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데일리 로그 · 이슈 · PR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13277850" y="37147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13811250" y="32575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23" name="Text 418"/>
          <p:cNvSpPr txBox="1"/>
          <p:nvPr/>
        </p:nvSpPr>
        <p:spPr>
          <a:xfrm>
            <a:off x="14020800" y="33528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Docs/</a:t>
            </a:r>
            <a:endParaRPr lang="en-US" sz="1580" dirty="0"/>
          </a:p>
        </p:txBody>
      </p:sp>
      <p:sp>
        <p:nvSpPr>
          <p:cNvPr id="24" name="Text 419"/>
          <p:cNvSpPr txBox="1"/>
          <p:nvPr/>
        </p:nvSpPr>
        <p:spPr>
          <a:xfrm>
            <a:off x="14020800" y="36957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GDD · 클래스 다이어그램 · QA</a:t>
            </a:r>
            <a:endParaRPr lang="en-US" sz="1200" dirty="0"/>
          </a:p>
        </p:txBody>
      </p:sp>
      <p:sp>
        <p:nvSpPr>
          <p:cNvPr id="25" name="Shape 420"/>
          <p:cNvSpPr/>
          <p:nvPr/>
        </p:nvSpPr>
        <p:spPr>
          <a:xfrm>
            <a:off x="1047750" y="4514850"/>
            <a:ext cx="161925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6A6E7A">
                <a:alpha val="25000"/>
              </a:srgbClr>
            </a:solidFill>
            <a:prstDash val="solid"/>
          </a:ln>
        </p:spPr>
      </p:sp>
      <p:sp>
        <p:nvSpPr>
          <p:cNvPr id="26" name="Text 421"/>
          <p:cNvSpPr txBox="1"/>
          <p:nvPr/>
        </p:nvSpPr>
        <p:spPr>
          <a:xfrm>
            <a:off x="1314450" y="451485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코드</a:t>
            </a:r>
            <a:endParaRPr lang="en-US" sz="1950" dirty="0"/>
          </a:p>
        </p:txBody>
      </p:sp>
      <p:sp>
        <p:nvSpPr>
          <p:cNvPr id="27" name="Card"/>
          <p:cNvSpPr/>
          <p:nvPr/>
        </p:nvSpPr>
        <p:spPr>
          <a:xfrm>
            <a:off x="3524250" y="46291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28" name="Text 422"/>
          <p:cNvSpPr txBox="1"/>
          <p:nvPr/>
        </p:nvSpPr>
        <p:spPr>
          <a:xfrm>
            <a:off x="3733800" y="47244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</a:t>
            </a:r>
            <a:endParaRPr lang="en-US" sz="1580" dirty="0"/>
          </a:p>
        </p:txBody>
      </p:sp>
      <p:sp>
        <p:nvSpPr>
          <p:cNvPr id="29" name="Text 423"/>
          <p:cNvSpPr txBox="1"/>
          <p:nvPr/>
        </p:nvSpPr>
        <p:spPr>
          <a:xfrm>
            <a:off x="3733800" y="50673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 · 리뷰 · 리팩터링</a:t>
            </a:r>
            <a:endParaRPr lang="en-US" sz="1200" dirty="0"/>
          </a:p>
        </p:txBody>
      </p:sp>
      <p:sp>
        <p:nvSpPr>
          <p:cNvPr id="30" name="Arrow"/>
          <p:cNvSpPr/>
          <p:nvPr/>
        </p:nvSpPr>
        <p:spPr>
          <a:xfrm>
            <a:off x="6419850" y="50863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1" name="Card"/>
          <p:cNvSpPr/>
          <p:nvPr/>
        </p:nvSpPr>
        <p:spPr>
          <a:xfrm>
            <a:off x="6953250" y="46291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32" name="Text 424"/>
          <p:cNvSpPr txBox="1"/>
          <p:nvPr/>
        </p:nvSpPr>
        <p:spPr>
          <a:xfrm>
            <a:off x="7162800" y="47244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Editor.log 확인</a:t>
            </a:r>
            <a:endParaRPr lang="en-US" sz="1580" dirty="0"/>
          </a:p>
        </p:txBody>
      </p:sp>
      <p:sp>
        <p:nvSpPr>
          <p:cNvPr id="33" name="Text 425"/>
          <p:cNvSpPr txBox="1"/>
          <p:nvPr/>
        </p:nvSpPr>
        <p:spPr>
          <a:xfrm>
            <a:off x="7162800" y="50673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 오류 · 경고 점검</a:t>
            </a:r>
            <a:endParaRPr lang="en-US" sz="1200" dirty="0"/>
          </a:p>
        </p:txBody>
      </p:sp>
      <p:sp>
        <p:nvSpPr>
          <p:cNvPr id="34" name="Arrow"/>
          <p:cNvSpPr/>
          <p:nvPr/>
        </p:nvSpPr>
        <p:spPr>
          <a:xfrm>
            <a:off x="9848850" y="50863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5" name="Card"/>
          <p:cNvSpPr/>
          <p:nvPr/>
        </p:nvSpPr>
        <p:spPr>
          <a:xfrm>
            <a:off x="10382250" y="46291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36" name="Text 426"/>
          <p:cNvSpPr txBox="1"/>
          <p:nvPr/>
        </p:nvSpPr>
        <p:spPr>
          <a:xfrm>
            <a:off x="10591800" y="47244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 자동 생성</a:t>
            </a:r>
            <a:endParaRPr lang="en-US" sz="1580" dirty="0"/>
          </a:p>
        </p:txBody>
      </p:sp>
      <p:sp>
        <p:nvSpPr>
          <p:cNvPr id="37" name="Text 427"/>
          <p:cNvSpPr txBox="1"/>
          <p:nvPr/>
        </p:nvSpPr>
        <p:spPr>
          <a:xfrm>
            <a:off x="10591800" y="50673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 · 프리팹 · 애니메이터</a:t>
            </a:r>
            <a:endParaRPr lang="en-US" sz="1200" dirty="0"/>
          </a:p>
        </p:txBody>
      </p:sp>
      <p:sp>
        <p:nvSpPr>
          <p:cNvPr id="38" name="Arrow"/>
          <p:cNvSpPr/>
          <p:nvPr/>
        </p:nvSpPr>
        <p:spPr>
          <a:xfrm>
            <a:off x="13277850" y="50863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Card"/>
          <p:cNvSpPr/>
          <p:nvPr/>
        </p:nvSpPr>
        <p:spPr>
          <a:xfrm>
            <a:off x="13811250" y="46291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40" name="Text 428"/>
          <p:cNvSpPr txBox="1"/>
          <p:nvPr/>
        </p:nvSpPr>
        <p:spPr>
          <a:xfrm>
            <a:off x="14020800" y="47244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체크리스트</a:t>
            </a:r>
            <a:endParaRPr lang="en-US" sz="1580" dirty="0"/>
          </a:p>
        </p:txBody>
      </p:sp>
      <p:sp>
        <p:nvSpPr>
          <p:cNvPr id="41" name="Text 429"/>
          <p:cNvSpPr txBox="1"/>
          <p:nvPr/>
        </p:nvSpPr>
        <p:spPr>
          <a:xfrm>
            <a:off x="14020800" y="50673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회차별 점검 → PR</a:t>
            </a:r>
            <a:endParaRPr lang="en-US" sz="1200" dirty="0"/>
          </a:p>
        </p:txBody>
      </p:sp>
      <p:sp>
        <p:nvSpPr>
          <p:cNvPr id="42" name="Shape 430"/>
          <p:cNvSpPr/>
          <p:nvPr/>
        </p:nvSpPr>
        <p:spPr>
          <a:xfrm>
            <a:off x="1047750" y="5886450"/>
            <a:ext cx="161925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6A6E7A">
                <a:alpha val="25000"/>
              </a:srgbClr>
            </a:solidFill>
            <a:prstDash val="solid"/>
          </a:ln>
        </p:spPr>
      </p:sp>
      <p:sp>
        <p:nvSpPr>
          <p:cNvPr id="43" name="Text 431"/>
          <p:cNvSpPr txBox="1"/>
          <p:nvPr/>
        </p:nvSpPr>
        <p:spPr>
          <a:xfrm>
            <a:off x="1314450" y="588645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3D 아트</a:t>
            </a:r>
            <a:endParaRPr lang="en-US" sz="1950" dirty="0"/>
          </a:p>
        </p:txBody>
      </p:sp>
      <p:sp>
        <p:nvSpPr>
          <p:cNvPr id="44" name="Card"/>
          <p:cNvSpPr/>
          <p:nvPr/>
        </p:nvSpPr>
        <p:spPr>
          <a:xfrm>
            <a:off x="3524250" y="60007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45" name="Text 432"/>
          <p:cNvSpPr txBox="1"/>
          <p:nvPr/>
        </p:nvSpPr>
        <p:spPr>
          <a:xfrm>
            <a:off x="3733800" y="60960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VARCO 3D</a:t>
            </a:r>
            <a:endParaRPr lang="en-US" sz="1580" dirty="0"/>
          </a:p>
        </p:txBody>
      </p:sp>
      <p:sp>
        <p:nvSpPr>
          <p:cNvPr id="46" name="Text 433"/>
          <p:cNvSpPr txBox="1"/>
          <p:nvPr/>
        </p:nvSpPr>
        <p:spPr>
          <a:xfrm>
            <a:off x="3733800" y="64389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→ 이미지 → 3D 모델</a:t>
            </a:r>
            <a:endParaRPr lang="en-US" sz="1200" dirty="0"/>
          </a:p>
        </p:txBody>
      </p:sp>
      <p:sp>
        <p:nvSpPr>
          <p:cNvPr id="47" name="Arrow"/>
          <p:cNvSpPr/>
          <p:nvPr/>
        </p:nvSpPr>
        <p:spPr>
          <a:xfrm>
            <a:off x="6419850" y="64579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8" name="Card"/>
          <p:cNvSpPr/>
          <p:nvPr/>
        </p:nvSpPr>
        <p:spPr>
          <a:xfrm>
            <a:off x="6953250" y="60007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49" name="Text 434"/>
          <p:cNvSpPr txBox="1"/>
          <p:nvPr/>
        </p:nvSpPr>
        <p:spPr>
          <a:xfrm>
            <a:off x="7162800" y="60960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Blender MCP</a:t>
            </a:r>
            <a:endParaRPr lang="en-US" sz="1580" dirty="0"/>
          </a:p>
        </p:txBody>
      </p:sp>
      <p:sp>
        <p:nvSpPr>
          <p:cNvPr id="50" name="Text 435"/>
          <p:cNvSpPr txBox="1"/>
          <p:nvPr/>
        </p:nvSpPr>
        <p:spPr>
          <a:xfrm>
            <a:off x="7162800" y="64389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폴리곤 · 피벗 · 손가락 본 이식</a:t>
            </a:r>
            <a:endParaRPr lang="en-US" sz="1200" dirty="0"/>
          </a:p>
        </p:txBody>
      </p:sp>
      <p:sp>
        <p:nvSpPr>
          <p:cNvPr id="51" name="Arrow"/>
          <p:cNvSpPr/>
          <p:nvPr/>
        </p:nvSpPr>
        <p:spPr>
          <a:xfrm>
            <a:off x="9848850" y="64579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52" name="Card"/>
          <p:cNvSpPr/>
          <p:nvPr/>
        </p:nvSpPr>
        <p:spPr>
          <a:xfrm>
            <a:off x="10382250" y="60007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53" name="Text 436"/>
          <p:cNvSpPr txBox="1"/>
          <p:nvPr/>
        </p:nvSpPr>
        <p:spPr>
          <a:xfrm>
            <a:off x="10591800" y="60960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Mixamo</a:t>
            </a:r>
            <a:endParaRPr lang="en-US" sz="1580" dirty="0"/>
          </a:p>
        </p:txBody>
      </p:sp>
      <p:sp>
        <p:nvSpPr>
          <p:cNvPr id="54" name="Text 437"/>
          <p:cNvSpPr txBox="1"/>
          <p:nvPr/>
        </p:nvSpPr>
        <p:spPr>
          <a:xfrm>
            <a:off x="10591800" y="64389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 리깅 · 모션</a:t>
            </a:r>
            <a:endParaRPr lang="en-US" sz="1200" dirty="0"/>
          </a:p>
        </p:txBody>
      </p:sp>
      <p:sp>
        <p:nvSpPr>
          <p:cNvPr id="55" name="Arrow"/>
          <p:cNvSpPr/>
          <p:nvPr/>
        </p:nvSpPr>
        <p:spPr>
          <a:xfrm>
            <a:off x="13277850" y="64579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56" name="Card"/>
          <p:cNvSpPr/>
          <p:nvPr/>
        </p:nvSpPr>
        <p:spPr>
          <a:xfrm>
            <a:off x="13811250" y="60007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57" name="Text 438"/>
          <p:cNvSpPr txBox="1"/>
          <p:nvPr/>
        </p:nvSpPr>
        <p:spPr>
          <a:xfrm>
            <a:off x="14020800" y="60960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</a:t>
            </a:r>
            <a:endParaRPr lang="en-US" sz="1580" dirty="0"/>
          </a:p>
        </p:txBody>
      </p:sp>
      <p:sp>
        <p:nvSpPr>
          <p:cNvPr id="58" name="Text 439"/>
          <p:cNvSpPr txBox="1"/>
          <p:nvPr/>
        </p:nvSpPr>
        <p:spPr>
          <a:xfrm>
            <a:off x="14020800" y="64389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머티리얼 · 프리팹</a:t>
            </a:r>
            <a:endParaRPr lang="en-US" sz="1200" dirty="0"/>
          </a:p>
        </p:txBody>
      </p:sp>
      <p:sp>
        <p:nvSpPr>
          <p:cNvPr id="59" name="Shape 440"/>
          <p:cNvSpPr/>
          <p:nvPr/>
        </p:nvSpPr>
        <p:spPr>
          <a:xfrm>
            <a:off x="1047750" y="7258050"/>
            <a:ext cx="161925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6A6E7A">
                <a:alpha val="25000"/>
              </a:srgbClr>
            </a:solidFill>
            <a:prstDash val="solid"/>
          </a:ln>
        </p:spPr>
      </p:sp>
      <p:sp>
        <p:nvSpPr>
          <p:cNvPr id="60" name="Text 441"/>
          <p:cNvSpPr txBox="1"/>
          <p:nvPr/>
        </p:nvSpPr>
        <p:spPr>
          <a:xfrm>
            <a:off x="1314450" y="725805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사운드 · UI</a:t>
            </a:r>
            <a:endParaRPr lang="en-US" sz="1950" dirty="0"/>
          </a:p>
        </p:txBody>
      </p:sp>
      <p:sp>
        <p:nvSpPr>
          <p:cNvPr id="61" name="Card"/>
          <p:cNvSpPr/>
          <p:nvPr/>
        </p:nvSpPr>
        <p:spPr>
          <a:xfrm>
            <a:off x="3524250" y="73723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62" name="Text 442"/>
          <p:cNvSpPr txBox="1"/>
          <p:nvPr/>
        </p:nvSpPr>
        <p:spPr>
          <a:xfrm>
            <a:off x="3733800" y="74676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VARCO Sound</a:t>
            </a:r>
            <a:endParaRPr lang="en-US" sz="1580" dirty="0"/>
          </a:p>
        </p:txBody>
      </p:sp>
      <p:sp>
        <p:nvSpPr>
          <p:cNvPr id="63" name="Text 443"/>
          <p:cNvSpPr txBox="1"/>
          <p:nvPr/>
        </p:nvSpPr>
        <p:spPr>
          <a:xfrm>
            <a:off x="3733800" y="78105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효과음 27종 (9기술 × 3)</a:t>
            </a:r>
            <a:endParaRPr lang="en-US" sz="1200" dirty="0"/>
          </a:p>
        </p:txBody>
      </p:sp>
      <p:sp>
        <p:nvSpPr>
          <p:cNvPr id="64" name="Arrow"/>
          <p:cNvSpPr/>
          <p:nvPr/>
        </p:nvSpPr>
        <p:spPr>
          <a:xfrm>
            <a:off x="6419850" y="78295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65" name="Card"/>
          <p:cNvSpPr/>
          <p:nvPr/>
        </p:nvSpPr>
        <p:spPr>
          <a:xfrm>
            <a:off x="6953250" y="73723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66" name="Text 444"/>
          <p:cNvSpPr txBox="1"/>
          <p:nvPr/>
        </p:nvSpPr>
        <p:spPr>
          <a:xfrm>
            <a:off x="7162800" y="74676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길이 · 음량 정리</a:t>
            </a:r>
            <a:endParaRPr lang="en-US" sz="1580" dirty="0"/>
          </a:p>
        </p:txBody>
      </p:sp>
      <p:sp>
        <p:nvSpPr>
          <p:cNvPr id="67" name="Text 445"/>
          <p:cNvSpPr txBox="1"/>
          <p:nvPr/>
        </p:nvSpPr>
        <p:spPr>
          <a:xfrm>
            <a:off x="7162800" y="78105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2~3초로 다듬기</a:t>
            </a:r>
            <a:endParaRPr lang="en-US" sz="1200" dirty="0"/>
          </a:p>
        </p:txBody>
      </p:sp>
      <p:sp>
        <p:nvSpPr>
          <p:cNvPr id="68" name="Arrow"/>
          <p:cNvSpPr/>
          <p:nvPr/>
        </p:nvSpPr>
        <p:spPr>
          <a:xfrm>
            <a:off x="9848850" y="78295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69" name="Card"/>
          <p:cNvSpPr/>
          <p:nvPr/>
        </p:nvSpPr>
        <p:spPr>
          <a:xfrm>
            <a:off x="10382250" y="73723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70" name="Text 446"/>
          <p:cNvSpPr txBox="1"/>
          <p:nvPr/>
        </p:nvSpPr>
        <p:spPr>
          <a:xfrm>
            <a:off x="10591800" y="74676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</a:t>
            </a:r>
            <a:endParaRPr lang="en-US" sz="1580" dirty="0"/>
          </a:p>
        </p:txBody>
      </p:sp>
      <p:sp>
        <p:nvSpPr>
          <p:cNvPr id="71" name="Text 447"/>
          <p:cNvSpPr txBox="1"/>
          <p:nvPr/>
        </p:nvSpPr>
        <p:spPr>
          <a:xfrm>
            <a:off x="10591800" y="78105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시안 A/B 비교 · 검토</a:t>
            </a:r>
            <a:endParaRPr lang="en-US" sz="1200" dirty="0"/>
          </a:p>
        </p:txBody>
      </p:sp>
      <p:sp>
        <p:nvSpPr>
          <p:cNvPr id="72" name="Arrow"/>
          <p:cNvSpPr/>
          <p:nvPr/>
        </p:nvSpPr>
        <p:spPr>
          <a:xfrm>
            <a:off x="13277850" y="7829550"/>
            <a:ext cx="495300" cy="95"/>
          </a:xfrm>
          <a:prstGeom prst="line">
            <a:avLst/>
          </a:prstGeom>
          <a:noFill/>
          <a:ln w="19050">
            <a:solidFill>
              <a:srgbClr val="E9B45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73" name="Card"/>
          <p:cNvSpPr/>
          <p:nvPr/>
        </p:nvSpPr>
        <p:spPr>
          <a:xfrm>
            <a:off x="13811250" y="7372350"/>
            <a:ext cx="2857500" cy="914400"/>
          </a:xfrm>
          <a:prstGeom prst="roundRect">
            <a:avLst>
              <a:gd name="adj" fmla="val 6000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0000"/>
              </a:srgbClr>
            </a:solidFill>
            <a:prstDash val="solid"/>
          </a:ln>
        </p:spPr>
      </p:sp>
      <p:sp>
        <p:nvSpPr>
          <p:cNvPr id="74" name="Text 448"/>
          <p:cNvSpPr txBox="1"/>
          <p:nvPr/>
        </p:nvSpPr>
        <p:spPr>
          <a:xfrm>
            <a:off x="14020800" y="7467600"/>
            <a:ext cx="2495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uGUI</a:t>
            </a:r>
            <a:endParaRPr lang="en-US" sz="1580" dirty="0"/>
          </a:p>
        </p:txBody>
      </p:sp>
      <p:sp>
        <p:nvSpPr>
          <p:cNvPr id="75" name="Text 449"/>
          <p:cNvSpPr txBox="1"/>
          <p:nvPr/>
        </p:nvSpPr>
        <p:spPr>
          <a:xfrm>
            <a:off x="14020800" y="7810500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기반 UI 구현</a:t>
            </a:r>
            <a:endParaRPr lang="en-US" sz="1200" dirty="0"/>
          </a:p>
        </p:txBody>
      </p:sp>
      <p:sp>
        <p:nvSpPr>
          <p:cNvPr id="76" name="Diamond"/>
          <p:cNvSpPr/>
          <p:nvPr/>
        </p:nvSpPr>
        <p:spPr>
          <a:xfrm>
            <a:off x="1076325" y="87725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77" name="Text 450"/>
          <p:cNvSpPr txBox="1"/>
          <p:nvPr/>
        </p:nvSpPr>
        <p:spPr>
          <a:xfrm>
            <a:off x="1276350" y="8686800"/>
            <a:ext cx="1524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에셋은 Docs/AiPipeline.md에 프롬프트 원문 · 생성 설정 · 사람 수정 내용 · 상업 이용 조건 기록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21   PLAY VIDEO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플레이 영상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마을 → 필드 전투 → 성장 → 격 돌파 → 이랑진군 보스전까지 실제 플레이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21 / 23</a:t>
            </a:r>
            <a:endParaRPr lang="en-US" sz="1200" dirty="0"/>
          </a:p>
        </p:txBody>
      </p:sp>
      <p:sp>
        <p:nvSpPr>
          <p:cNvPr id="8" name="VideoSlot"/>
          <p:cNvSpPr/>
          <p:nvPr/>
        </p:nvSpPr>
        <p:spPr>
          <a:xfrm>
            <a:off x="1047750" y="2952750"/>
            <a:ext cx="11172825" cy="6286500"/>
          </a:xfrm>
          <a:prstGeom prst="roundRect">
            <a:avLst>
              <a:gd name="adj" fmla="val 436"/>
            </a:avLst>
          </a:prstGeom>
          <a:solidFill>
            <a:srgbClr val="101116"/>
          </a:solidFill>
          <a:ln w="12700">
            <a:solidFill>
              <a:srgbClr val="E9B45A">
                <a:alpha val="60000"/>
              </a:srgbClr>
            </a:solidFill>
            <a:prstDash val="dash"/>
          </a:ln>
        </p:spPr>
      </p:sp>
      <p:sp>
        <p:nvSpPr>
          <p:cNvPr id="9" name="PlayCircle"/>
          <p:cNvSpPr/>
          <p:nvPr/>
        </p:nvSpPr>
        <p:spPr>
          <a:xfrm>
            <a:off x="6100763" y="5238750"/>
            <a:ext cx="1066800" cy="1066800"/>
          </a:xfrm>
          <a:prstGeom prst="ellipse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E9B45A">
                <a:alpha val="85000"/>
              </a:srgbClr>
            </a:solidFill>
            <a:prstDash val="solid"/>
          </a:ln>
        </p:spPr>
      </p:sp>
      <p:sp>
        <p:nvSpPr>
          <p:cNvPr id="10" name="PlayIcon"/>
          <p:cNvSpPr/>
          <p:nvPr/>
        </p:nvSpPr>
        <p:spPr>
          <a:xfrm rot="5400000">
            <a:off x="6462713" y="5543550"/>
            <a:ext cx="457200" cy="457200"/>
          </a:xfrm>
          <a:prstGeom prst="triangle">
            <a:avLst/>
          </a:prstGeom>
          <a:solidFill>
            <a:srgbClr val="FFD58A"/>
          </a:solidFill>
          <a:ln/>
        </p:spPr>
      </p:sp>
      <p:sp>
        <p:nvSpPr>
          <p:cNvPr id="11" name="Text 451"/>
          <p:cNvSpPr txBox="1"/>
          <p:nvPr/>
        </p:nvSpPr>
        <p:spPr>
          <a:xfrm>
            <a:off x="1047750" y="6477000"/>
            <a:ext cx="11172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 영상 삽입 자리</a:t>
            </a:r>
            <a:endParaRPr lang="en-US" sz="1950" dirty="0"/>
          </a:p>
        </p:txBody>
      </p:sp>
      <p:sp>
        <p:nvSpPr>
          <p:cNvPr id="12" name="Text 452"/>
          <p:cNvSpPr txBox="1"/>
          <p:nvPr/>
        </p:nvSpPr>
        <p:spPr>
          <a:xfrm>
            <a:off x="1047750" y="6877050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16:9 · 삽입 → 비디오 → 이 장치</a:t>
            </a:r>
            <a:endParaRPr lang="en-US" sz="1350" dirty="0"/>
          </a:p>
        </p:txBody>
      </p:sp>
      <p:sp>
        <p:nvSpPr>
          <p:cNvPr id="13" name="Card"/>
          <p:cNvSpPr/>
          <p:nvPr/>
        </p:nvSpPr>
        <p:spPr>
          <a:xfrm>
            <a:off x="12573000" y="2952750"/>
            <a:ext cx="4667250" cy="6286500"/>
          </a:xfrm>
          <a:prstGeom prst="roundRect">
            <a:avLst>
              <a:gd name="adj" fmla="val 117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4" name="Text 453"/>
          <p:cNvSpPr txBox="1"/>
          <p:nvPr/>
        </p:nvSpPr>
        <p:spPr>
          <a:xfrm>
            <a:off x="12877800" y="31432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영상 구성</a:t>
            </a:r>
            <a:endParaRPr lang="en-US" sz="2100" dirty="0"/>
          </a:p>
        </p:txBody>
      </p:sp>
      <p:sp>
        <p:nvSpPr>
          <p:cNvPr id="15" name="Line"/>
          <p:cNvSpPr/>
          <p:nvPr/>
        </p:nvSpPr>
        <p:spPr>
          <a:xfrm>
            <a:off x="12973050" y="3848100"/>
            <a:ext cx="95" cy="4857750"/>
          </a:xfrm>
          <a:prstGeom prst="line">
            <a:avLst/>
          </a:prstGeom>
          <a:noFill/>
          <a:ln w="19050">
            <a:solidFill>
              <a:srgbClr val="E9B45A">
                <a:alpha val="35000"/>
              </a:srgbClr>
            </a:solidFill>
            <a:prstDash val="solid"/>
          </a:ln>
        </p:spPr>
      </p:sp>
      <p:sp>
        <p:nvSpPr>
          <p:cNvPr id="16" name="Diamond"/>
          <p:cNvSpPr/>
          <p:nvPr/>
        </p:nvSpPr>
        <p:spPr>
          <a:xfrm>
            <a:off x="12906375" y="38576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17" name="Text 454"/>
          <p:cNvSpPr txBox="1"/>
          <p:nvPr/>
        </p:nvSpPr>
        <p:spPr>
          <a:xfrm>
            <a:off x="13220700" y="3829050"/>
            <a:ext cx="66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00:00</a:t>
            </a:r>
            <a:endParaRPr lang="en-US" sz="1130" dirty="0"/>
          </a:p>
        </p:txBody>
      </p:sp>
      <p:sp>
        <p:nvSpPr>
          <p:cNvPr id="18" name="Text 455"/>
          <p:cNvSpPr txBox="1"/>
          <p:nvPr/>
        </p:nvSpPr>
        <p:spPr>
          <a:xfrm>
            <a:off x="13868400" y="37719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· 직업 선택</a:t>
            </a:r>
            <a:endParaRPr lang="en-US" sz="1500" dirty="0"/>
          </a:p>
        </p:txBody>
      </p:sp>
      <p:sp>
        <p:nvSpPr>
          <p:cNvPr id="19" name="Text 456"/>
          <p:cNvSpPr txBox="1"/>
          <p:nvPr/>
        </p:nvSpPr>
        <p:spPr>
          <a:xfrm>
            <a:off x="13868400" y="40576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무직 범인 → 성기사</a:t>
            </a:r>
            <a:endParaRPr lang="en-US" sz="1200" dirty="0"/>
          </a:p>
        </p:txBody>
      </p:sp>
      <p:sp>
        <p:nvSpPr>
          <p:cNvPr id="20" name="Diamond"/>
          <p:cNvSpPr/>
          <p:nvPr/>
        </p:nvSpPr>
        <p:spPr>
          <a:xfrm>
            <a:off x="12906375" y="46958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1" name="Text 457"/>
          <p:cNvSpPr txBox="1"/>
          <p:nvPr/>
        </p:nvSpPr>
        <p:spPr>
          <a:xfrm>
            <a:off x="13220700" y="4667250"/>
            <a:ext cx="66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00:00</a:t>
            </a:r>
            <a:endParaRPr lang="en-US" sz="1130" dirty="0"/>
          </a:p>
        </p:txBody>
      </p:sp>
      <p:sp>
        <p:nvSpPr>
          <p:cNvPr id="22" name="Text 458"/>
          <p:cNvSpPr txBox="1"/>
          <p:nvPr/>
        </p:nvSpPr>
        <p:spPr>
          <a:xfrm>
            <a:off x="13868400" y="4610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마을 · 상점</a:t>
            </a:r>
            <a:endParaRPr lang="en-US" sz="1500" dirty="0"/>
          </a:p>
        </p:txBody>
      </p:sp>
      <p:sp>
        <p:nvSpPr>
          <p:cNvPr id="23" name="Text 459"/>
          <p:cNvSpPr txBox="1"/>
          <p:nvPr/>
        </p:nvSpPr>
        <p:spPr>
          <a:xfrm>
            <a:off x="13868400" y="48958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치유소 회복 · 웨이포인트</a:t>
            </a:r>
            <a:endParaRPr lang="en-US" sz="1200" dirty="0"/>
          </a:p>
        </p:txBody>
      </p:sp>
      <p:sp>
        <p:nvSpPr>
          <p:cNvPr id="24" name="Diamond"/>
          <p:cNvSpPr/>
          <p:nvPr/>
        </p:nvSpPr>
        <p:spPr>
          <a:xfrm>
            <a:off x="12906375" y="55340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5" name="Text 460"/>
          <p:cNvSpPr txBox="1"/>
          <p:nvPr/>
        </p:nvSpPr>
        <p:spPr>
          <a:xfrm>
            <a:off x="13220700" y="5505450"/>
            <a:ext cx="66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00:00</a:t>
            </a:r>
            <a:endParaRPr lang="en-US" sz="1130" dirty="0"/>
          </a:p>
        </p:txBody>
      </p:sp>
      <p:sp>
        <p:nvSpPr>
          <p:cNvPr id="26" name="Text 461"/>
          <p:cNvSpPr txBox="1"/>
          <p:nvPr/>
        </p:nvSpPr>
        <p:spPr>
          <a:xfrm>
            <a:off x="13868400" y="54483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 전투</a:t>
            </a:r>
            <a:endParaRPr lang="en-US" sz="1500" dirty="0"/>
          </a:p>
        </p:txBody>
      </p:sp>
      <p:sp>
        <p:nvSpPr>
          <p:cNvPr id="27" name="Text 462"/>
          <p:cNvSpPr txBox="1"/>
          <p:nvPr/>
        </p:nvSpPr>
        <p:spPr>
          <a:xfrm>
            <a:off x="13868400" y="57340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이동 · 기술 · 신앙</a:t>
            </a:r>
            <a:endParaRPr lang="en-US" sz="1200" dirty="0"/>
          </a:p>
        </p:txBody>
      </p:sp>
      <p:sp>
        <p:nvSpPr>
          <p:cNvPr id="28" name="Diamond"/>
          <p:cNvSpPr/>
          <p:nvPr/>
        </p:nvSpPr>
        <p:spPr>
          <a:xfrm>
            <a:off x="12906375" y="63722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29" name="Text 463"/>
          <p:cNvSpPr txBox="1"/>
          <p:nvPr/>
        </p:nvSpPr>
        <p:spPr>
          <a:xfrm>
            <a:off x="13220700" y="6343650"/>
            <a:ext cx="66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00:00</a:t>
            </a:r>
            <a:endParaRPr lang="en-US" sz="1130" dirty="0"/>
          </a:p>
        </p:txBody>
      </p:sp>
      <p:sp>
        <p:nvSpPr>
          <p:cNvPr id="30" name="Text 464"/>
          <p:cNvSpPr txBox="1"/>
          <p:nvPr/>
        </p:nvSpPr>
        <p:spPr>
          <a:xfrm>
            <a:off x="13868400" y="62865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500" dirty="0"/>
          </a:p>
        </p:txBody>
      </p:sp>
      <p:sp>
        <p:nvSpPr>
          <p:cNvPr id="31" name="Text 465"/>
          <p:cNvSpPr txBox="1"/>
          <p:nvPr/>
        </p:nvSpPr>
        <p:spPr>
          <a:xfrm>
            <a:off x="13868400" y="65722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창 · 장비 · 업적</a:t>
            </a:r>
            <a:endParaRPr lang="en-US" sz="1200" dirty="0"/>
          </a:p>
        </p:txBody>
      </p:sp>
      <p:sp>
        <p:nvSpPr>
          <p:cNvPr id="32" name="Diamond"/>
          <p:cNvSpPr/>
          <p:nvPr/>
        </p:nvSpPr>
        <p:spPr>
          <a:xfrm>
            <a:off x="12906375" y="7210425"/>
            <a:ext cx="133350" cy="1333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3" name="Text 466"/>
          <p:cNvSpPr txBox="1"/>
          <p:nvPr/>
        </p:nvSpPr>
        <p:spPr>
          <a:xfrm>
            <a:off x="13220700" y="7181850"/>
            <a:ext cx="66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00:00</a:t>
            </a:r>
            <a:endParaRPr lang="en-US" sz="1130" dirty="0"/>
          </a:p>
        </p:txBody>
      </p:sp>
      <p:sp>
        <p:nvSpPr>
          <p:cNvPr id="34" name="Text 467"/>
          <p:cNvSpPr txBox="1"/>
          <p:nvPr/>
        </p:nvSpPr>
        <p:spPr>
          <a:xfrm>
            <a:off x="13868400" y="71247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 돌파</a:t>
            </a:r>
            <a:endParaRPr lang="en-US" sz="1500" dirty="0"/>
          </a:p>
        </p:txBody>
      </p:sp>
      <p:sp>
        <p:nvSpPr>
          <p:cNvPr id="35" name="Text 468"/>
          <p:cNvSpPr txBox="1"/>
          <p:nvPr/>
        </p:nvSpPr>
        <p:spPr>
          <a:xfrm>
            <a:off x="13868400" y="74104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초인 → 반신 · 영웅의 길</a:t>
            </a:r>
            <a:endParaRPr lang="en-US" sz="1200" dirty="0"/>
          </a:p>
        </p:txBody>
      </p:sp>
      <p:sp>
        <p:nvSpPr>
          <p:cNvPr id="36" name="Diamond"/>
          <p:cNvSpPr/>
          <p:nvPr/>
        </p:nvSpPr>
        <p:spPr>
          <a:xfrm>
            <a:off x="12906375" y="8048625"/>
            <a:ext cx="133350" cy="133350"/>
          </a:xfrm>
          <a:prstGeom prst="diamond">
            <a:avLst/>
          </a:prstGeom>
          <a:solidFill>
            <a:srgbClr val="FFD58A"/>
          </a:solidFill>
          <a:ln/>
        </p:spPr>
      </p:sp>
      <p:sp>
        <p:nvSpPr>
          <p:cNvPr id="37" name="Text 469"/>
          <p:cNvSpPr txBox="1"/>
          <p:nvPr/>
        </p:nvSpPr>
        <p:spPr>
          <a:xfrm>
            <a:off x="13220700" y="8020050"/>
            <a:ext cx="66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9AA0A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00:00</a:t>
            </a:r>
            <a:endParaRPr lang="en-US" sz="1130" dirty="0"/>
          </a:p>
        </p:txBody>
      </p:sp>
      <p:sp>
        <p:nvSpPr>
          <p:cNvPr id="38" name="Text 470"/>
          <p:cNvSpPr txBox="1"/>
          <p:nvPr/>
        </p:nvSpPr>
        <p:spPr>
          <a:xfrm>
            <a:off x="13868400" y="79629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보스전</a:t>
            </a:r>
            <a:endParaRPr lang="en-US" sz="1500" dirty="0"/>
          </a:p>
        </p:txBody>
      </p:sp>
      <p:sp>
        <p:nvSpPr>
          <p:cNvPr id="39" name="Text 471"/>
          <p:cNvSpPr txBox="1"/>
          <p:nvPr/>
        </p:nvSpPr>
        <p:spPr>
          <a:xfrm>
            <a:off x="13868400" y="82486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이랑진군 3페이즈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66800" y="857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22   RETROSPECTIVE</a:t>
            </a:r>
            <a:endParaRPr lang="en-US" sz="1200" dirty="0"/>
          </a:p>
        </p:txBody>
      </p:sp>
      <p:sp>
        <p:nvSpPr>
          <p:cNvPr id="3" name="Text 10"/>
          <p:cNvSpPr/>
          <p:nvPr>
            <p:ph idx="110" type="title" hasCustomPrompt="1"/>
          </p:nvPr>
        </p:nvSpPr>
        <p:spPr>
          <a:xfrm>
            <a:off x="1009650" y="1123950"/>
            <a:ext cx="16192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해결 · 회고</a:t>
            </a:r>
            <a:endParaRPr lang="en-US" sz="4050" dirty="0"/>
          </a:p>
        </p:txBody>
      </p:sp>
      <p:sp>
        <p:nvSpPr>
          <p:cNvPr id="4" name="Text 10"/>
          <p:cNvSpPr/>
          <p:nvPr>
            <p:ph idx="111" type="body" hasCustomPrompt="1"/>
          </p:nvPr>
        </p:nvSpPr>
        <p:spPr>
          <a:xfrm>
            <a:off x="1066800" y="196215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막힌 지점과 해결 과정, 그리고 다음 단계</a:t>
            </a:r>
            <a:endParaRPr lang="en-US" sz="1650" dirty="0"/>
          </a:p>
        </p:txBody>
      </p:sp>
      <p:sp>
        <p:nvSpPr>
          <p:cNvPr id="5" name="Diamond"/>
          <p:cNvSpPr/>
          <p:nvPr/>
        </p:nvSpPr>
        <p:spPr>
          <a:xfrm>
            <a:off x="1057275" y="2600325"/>
            <a:ext cx="95250" cy="95250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6" name="Line"/>
          <p:cNvSpPr/>
          <p:nvPr/>
        </p:nvSpPr>
        <p:spPr>
          <a:xfrm>
            <a:off x="1219200" y="2647950"/>
            <a:ext cx="6096000" cy="95"/>
          </a:xfrm>
          <a:prstGeom prst="line">
            <a:avLst/>
          </a:prstGeom>
          <a:noFill/>
          <a:ln w="19050">
            <a:solidFill>
              <a:srgbClr val="E9B45A">
                <a:alpha val="70000"/>
              </a:srgbClr>
            </a:solidFill>
            <a:prstDash val="solid"/>
          </a:ln>
        </p:spPr>
      </p:sp>
      <p:sp>
        <p:nvSpPr>
          <p:cNvPr id="7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22 / 23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047750" y="3048000"/>
            <a:ext cx="5286375" cy="3333750"/>
          </a:xfrm>
          <a:prstGeom prst="roundRect">
            <a:avLst>
              <a:gd name="adj" fmla="val 164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9" name="Text 472"/>
          <p:cNvSpPr txBox="1"/>
          <p:nvPr/>
        </p:nvSpPr>
        <p:spPr>
          <a:xfrm>
            <a:off x="1333500" y="32575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CASE 01</a:t>
            </a:r>
            <a:endParaRPr lang="en-US" sz="1350" dirty="0"/>
          </a:p>
        </p:txBody>
      </p:sp>
      <p:sp>
        <p:nvSpPr>
          <p:cNvPr id="10" name="Text 473"/>
          <p:cNvSpPr txBox="1"/>
          <p:nvPr/>
        </p:nvSpPr>
        <p:spPr>
          <a:xfrm>
            <a:off x="1333500" y="35433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VARCO 모델 리깅 한계</a:t>
            </a:r>
            <a:endParaRPr lang="en-US" sz="2100" dirty="0"/>
          </a:p>
        </p:txBody>
      </p:sp>
      <p:sp>
        <p:nvSpPr>
          <p:cNvPr id="11" name="Chip"/>
          <p:cNvSpPr/>
          <p:nvPr/>
        </p:nvSpPr>
        <p:spPr>
          <a:xfrm>
            <a:off x="1333500" y="4191000"/>
            <a:ext cx="571500" cy="285750"/>
          </a:xfrm>
          <a:prstGeom prst="roundRect">
            <a:avLst>
              <a:gd name="adj" fmla="val 160000"/>
            </a:avLst>
          </a:prstGeom>
          <a:solidFill>
            <a:srgbClr val="2A1A18"/>
          </a:solidFill>
          <a:ln w="9525">
            <a:solidFill>
              <a:srgbClr val="D23A2C">
                <a:alpha val="60000"/>
              </a:srgbClr>
            </a:solidFill>
            <a:prstDash val="solid"/>
          </a:ln>
        </p:spPr>
      </p:sp>
      <p:sp>
        <p:nvSpPr>
          <p:cNvPr id="12" name="ChipText"/>
          <p:cNvSpPr txBox="1"/>
          <p:nvPr/>
        </p:nvSpPr>
        <p:spPr>
          <a:xfrm>
            <a:off x="1333500" y="41910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2A7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130" dirty="0"/>
          </a:p>
        </p:txBody>
      </p:sp>
      <p:sp>
        <p:nvSpPr>
          <p:cNvPr id="13" name="Text 474"/>
          <p:cNvSpPr txBox="1"/>
          <p:nvPr/>
        </p:nvSpPr>
        <p:spPr>
          <a:xfrm>
            <a:off x="2095500" y="4210050"/>
            <a:ext cx="3952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손가락 · 발가락 본이 없고 모션이 프리셋뿐</a:t>
            </a:r>
            <a:endParaRPr lang="en-US" sz="1350" dirty="0"/>
          </a:p>
        </p:txBody>
      </p:sp>
      <p:sp>
        <p:nvSpPr>
          <p:cNvPr id="14" name="Chip"/>
          <p:cNvSpPr/>
          <p:nvPr/>
        </p:nvSpPr>
        <p:spPr>
          <a:xfrm>
            <a:off x="1333500" y="4857750"/>
            <a:ext cx="571500" cy="285750"/>
          </a:xfrm>
          <a:prstGeom prst="roundRect">
            <a:avLst>
              <a:gd name="adj" fmla="val 16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15" name="ChipText"/>
          <p:cNvSpPr txBox="1"/>
          <p:nvPr/>
        </p:nvSpPr>
        <p:spPr>
          <a:xfrm>
            <a:off x="1333500" y="48577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</a:t>
            </a:r>
            <a:endParaRPr lang="en-US" sz="1130" dirty="0"/>
          </a:p>
        </p:txBody>
      </p:sp>
      <p:sp>
        <p:nvSpPr>
          <p:cNvPr id="16" name="Text 475"/>
          <p:cNvSpPr txBox="1"/>
          <p:nvPr/>
        </p:nvSpPr>
        <p:spPr>
          <a:xfrm>
            <a:off x="2095500" y="4876800"/>
            <a:ext cx="39528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모델만 사용 → Mixamo 재리깅 + Blender 스크립트로 다섯 손가락 본 이식 · 웨이트 재분배</a:t>
            </a:r>
            <a:endParaRPr lang="en-US" sz="1350" dirty="0"/>
          </a:p>
        </p:txBody>
      </p:sp>
      <p:sp>
        <p:nvSpPr>
          <p:cNvPr id="17" name="Card"/>
          <p:cNvSpPr/>
          <p:nvPr/>
        </p:nvSpPr>
        <p:spPr>
          <a:xfrm>
            <a:off x="6524625" y="3048000"/>
            <a:ext cx="5286375" cy="3333750"/>
          </a:xfrm>
          <a:prstGeom prst="roundRect">
            <a:avLst>
              <a:gd name="adj" fmla="val 164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18" name="Text 476"/>
          <p:cNvSpPr txBox="1"/>
          <p:nvPr/>
        </p:nvSpPr>
        <p:spPr>
          <a:xfrm>
            <a:off x="6810375" y="32575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CASE 02</a:t>
            </a:r>
            <a:endParaRPr lang="en-US" sz="1350" dirty="0"/>
          </a:p>
        </p:txBody>
      </p:sp>
      <p:sp>
        <p:nvSpPr>
          <p:cNvPr id="19" name="Text 477"/>
          <p:cNvSpPr txBox="1"/>
          <p:nvPr/>
        </p:nvSpPr>
        <p:spPr>
          <a:xfrm>
            <a:off x="6810375" y="35433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클릭 이동 끊김</a:t>
            </a:r>
            <a:endParaRPr lang="en-US" sz="2100" dirty="0"/>
          </a:p>
        </p:txBody>
      </p:sp>
      <p:sp>
        <p:nvSpPr>
          <p:cNvPr id="20" name="Chip"/>
          <p:cNvSpPr/>
          <p:nvPr/>
        </p:nvSpPr>
        <p:spPr>
          <a:xfrm>
            <a:off x="6810375" y="4191000"/>
            <a:ext cx="571500" cy="285750"/>
          </a:xfrm>
          <a:prstGeom prst="roundRect">
            <a:avLst>
              <a:gd name="adj" fmla="val 160000"/>
            </a:avLst>
          </a:prstGeom>
          <a:solidFill>
            <a:srgbClr val="2A1A18"/>
          </a:solidFill>
          <a:ln w="9525">
            <a:solidFill>
              <a:srgbClr val="D23A2C">
                <a:alpha val="60000"/>
              </a:srgbClr>
            </a:solidFill>
            <a:prstDash val="solid"/>
          </a:ln>
        </p:spPr>
      </p:sp>
      <p:sp>
        <p:nvSpPr>
          <p:cNvPr id="21" name="ChipText"/>
          <p:cNvSpPr txBox="1"/>
          <p:nvPr/>
        </p:nvSpPr>
        <p:spPr>
          <a:xfrm>
            <a:off x="6810375" y="41910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2A7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130" dirty="0"/>
          </a:p>
        </p:txBody>
      </p:sp>
      <p:sp>
        <p:nvSpPr>
          <p:cNvPr id="22" name="Text 478"/>
          <p:cNvSpPr txBox="1"/>
          <p:nvPr/>
        </p:nvSpPr>
        <p:spPr>
          <a:xfrm>
            <a:off x="7572375" y="4210050"/>
            <a:ext cx="3952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 · 적 밀착 시 이동이 멈추거나 튐</a:t>
            </a:r>
            <a:endParaRPr lang="en-US" sz="1350" dirty="0"/>
          </a:p>
        </p:txBody>
      </p:sp>
      <p:sp>
        <p:nvSpPr>
          <p:cNvPr id="23" name="Chip"/>
          <p:cNvSpPr/>
          <p:nvPr/>
        </p:nvSpPr>
        <p:spPr>
          <a:xfrm>
            <a:off x="6810375" y="4857750"/>
            <a:ext cx="571500" cy="285750"/>
          </a:xfrm>
          <a:prstGeom prst="roundRect">
            <a:avLst>
              <a:gd name="adj" fmla="val 16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24" name="ChipText"/>
          <p:cNvSpPr txBox="1"/>
          <p:nvPr/>
        </p:nvSpPr>
        <p:spPr>
          <a:xfrm>
            <a:off x="6810375" y="48577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</a:t>
            </a:r>
            <a:endParaRPr lang="en-US" sz="1130" dirty="0"/>
          </a:p>
        </p:txBody>
      </p:sp>
      <p:sp>
        <p:nvSpPr>
          <p:cNvPr id="25" name="Text 479"/>
          <p:cNvSpPr txBox="1"/>
          <p:nvPr/>
        </p:nvSpPr>
        <p:spPr>
          <a:xfrm>
            <a:off x="7572375" y="4876800"/>
            <a:ext cx="39528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실제 위치 기준 경로 계산, 갈 수 없는 곳은 가장 가까운 지점으로, 누른 채 끌기 이동 모드</a:t>
            </a:r>
            <a:endParaRPr lang="en-US" sz="1350" dirty="0"/>
          </a:p>
        </p:txBody>
      </p:sp>
      <p:sp>
        <p:nvSpPr>
          <p:cNvPr id="26" name="Card"/>
          <p:cNvSpPr/>
          <p:nvPr/>
        </p:nvSpPr>
        <p:spPr>
          <a:xfrm>
            <a:off x="12001500" y="3048000"/>
            <a:ext cx="5286375" cy="3333750"/>
          </a:xfrm>
          <a:prstGeom prst="roundRect">
            <a:avLst>
              <a:gd name="adj" fmla="val 1646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27" name="Text 480"/>
          <p:cNvSpPr txBox="1"/>
          <p:nvPr/>
        </p:nvSpPr>
        <p:spPr>
          <a:xfrm>
            <a:off x="12287250" y="32575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CASE 03</a:t>
            </a:r>
            <a:endParaRPr lang="en-US" sz="1350" dirty="0"/>
          </a:p>
        </p:txBody>
      </p:sp>
      <p:sp>
        <p:nvSpPr>
          <p:cNvPr id="28" name="Text 481"/>
          <p:cNvSpPr txBox="1"/>
          <p:nvPr/>
        </p:nvSpPr>
        <p:spPr>
          <a:xfrm>
            <a:off x="12287250" y="35433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타격 시점 불일치</a:t>
            </a:r>
            <a:endParaRPr lang="en-US" sz="2100" dirty="0"/>
          </a:p>
        </p:txBody>
      </p:sp>
      <p:sp>
        <p:nvSpPr>
          <p:cNvPr id="29" name="Chip"/>
          <p:cNvSpPr/>
          <p:nvPr/>
        </p:nvSpPr>
        <p:spPr>
          <a:xfrm>
            <a:off x="12287250" y="4191000"/>
            <a:ext cx="571500" cy="285750"/>
          </a:xfrm>
          <a:prstGeom prst="roundRect">
            <a:avLst>
              <a:gd name="adj" fmla="val 160000"/>
            </a:avLst>
          </a:prstGeom>
          <a:solidFill>
            <a:srgbClr val="2A1A18"/>
          </a:solidFill>
          <a:ln w="9525">
            <a:solidFill>
              <a:srgbClr val="D23A2C">
                <a:alpha val="60000"/>
              </a:srgbClr>
            </a:solidFill>
            <a:prstDash val="solid"/>
          </a:ln>
        </p:spPr>
      </p:sp>
      <p:sp>
        <p:nvSpPr>
          <p:cNvPr id="30" name="ChipText"/>
          <p:cNvSpPr txBox="1"/>
          <p:nvPr/>
        </p:nvSpPr>
        <p:spPr>
          <a:xfrm>
            <a:off x="12287250" y="41910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2A7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130" dirty="0"/>
          </a:p>
        </p:txBody>
      </p:sp>
      <p:sp>
        <p:nvSpPr>
          <p:cNvPr id="31" name="Text 482"/>
          <p:cNvSpPr txBox="1"/>
          <p:nvPr/>
        </p:nvSpPr>
        <p:spPr>
          <a:xfrm>
            <a:off x="13049250" y="4210050"/>
            <a:ext cx="3952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 · 소리 · 이펙트가 모션보다 먼저 발생</a:t>
            </a:r>
            <a:endParaRPr lang="en-US" sz="1350" dirty="0"/>
          </a:p>
        </p:txBody>
      </p:sp>
      <p:sp>
        <p:nvSpPr>
          <p:cNvPr id="32" name="Chip"/>
          <p:cNvSpPr/>
          <p:nvPr/>
        </p:nvSpPr>
        <p:spPr>
          <a:xfrm>
            <a:off x="12287250" y="4857750"/>
            <a:ext cx="571500" cy="285750"/>
          </a:xfrm>
          <a:prstGeom prst="roundRect">
            <a:avLst>
              <a:gd name="adj" fmla="val 16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33" name="ChipText"/>
          <p:cNvSpPr txBox="1"/>
          <p:nvPr/>
        </p:nvSpPr>
        <p:spPr>
          <a:xfrm>
            <a:off x="12287250" y="48577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</a:t>
            </a:r>
            <a:endParaRPr lang="en-US" sz="1130" dirty="0"/>
          </a:p>
        </p:txBody>
      </p:sp>
      <p:sp>
        <p:nvSpPr>
          <p:cNvPr id="34" name="Text 483"/>
          <p:cNvSpPr txBox="1"/>
          <p:nvPr/>
        </p:nvSpPr>
        <p:spPr>
          <a:xfrm>
            <a:off x="13049250" y="4876800"/>
            <a:ext cx="39528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 타격 비율로 계산한 지연 타격 실행기를 일반 공격 · 기술이 공용</a:t>
            </a:r>
            <a:endParaRPr lang="en-US" sz="1350" dirty="0"/>
          </a:p>
        </p:txBody>
      </p:sp>
      <p:sp>
        <p:nvSpPr>
          <p:cNvPr id="35" name="Card"/>
          <p:cNvSpPr/>
          <p:nvPr/>
        </p:nvSpPr>
        <p:spPr>
          <a:xfrm>
            <a:off x="1047750" y="6610350"/>
            <a:ext cx="8001000" cy="2247900"/>
          </a:xfrm>
          <a:prstGeom prst="roundRect">
            <a:avLst>
              <a:gd name="adj" fmla="val 2441"/>
            </a:avLst>
          </a:prstGeom>
          <a:solidFill>
            <a:srgbClr val="222329">
              <a:alpha val="94000"/>
            </a:srgbClr>
          </a:solidFill>
          <a:ln w="9525">
            <a:solidFill>
              <a:srgbClr val="6A6E7A">
                <a:alpha val="55000"/>
              </a:srgbClr>
            </a:solidFill>
            <a:prstDash val="solid"/>
          </a:ln>
        </p:spPr>
      </p:sp>
      <p:sp>
        <p:nvSpPr>
          <p:cNvPr id="36" name="Text 484"/>
          <p:cNvSpPr txBox="1"/>
          <p:nvPr/>
        </p:nvSpPr>
        <p:spPr>
          <a:xfrm>
            <a:off x="1390650" y="67818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배운 점</a:t>
            </a:r>
            <a:endParaRPr lang="en-US" sz="1950" dirty="0"/>
          </a:p>
        </p:txBody>
      </p:sp>
      <p:sp>
        <p:nvSpPr>
          <p:cNvPr id="37" name="Diamond"/>
          <p:cNvSpPr/>
          <p:nvPr/>
        </p:nvSpPr>
        <p:spPr>
          <a:xfrm>
            <a:off x="1423988" y="74056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38" name="Text 485"/>
          <p:cNvSpPr txBox="1"/>
          <p:nvPr/>
        </p:nvSpPr>
        <p:spPr>
          <a:xfrm>
            <a:off x="1638300" y="73152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결정은 사람, 반복은 AI — 후보 비교 · 초안 · 검증을 맡기고 채택은 직접</a:t>
            </a:r>
            <a:endParaRPr lang="en-US" sz="1350" dirty="0"/>
          </a:p>
        </p:txBody>
      </p:sp>
      <p:sp>
        <p:nvSpPr>
          <p:cNvPr id="39" name="Diamond"/>
          <p:cNvSpPr/>
          <p:nvPr/>
        </p:nvSpPr>
        <p:spPr>
          <a:xfrm>
            <a:off x="1423988" y="7824787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0" name="Text 486"/>
          <p:cNvSpPr txBox="1"/>
          <p:nvPr/>
        </p:nvSpPr>
        <p:spPr>
          <a:xfrm>
            <a:off x="1638300" y="77343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작게 나눠 PR — 기능 단위 브랜치 63건으로 되돌리기 쉬운 진행</a:t>
            </a:r>
            <a:endParaRPr lang="en-US" sz="1350" dirty="0"/>
          </a:p>
        </p:txBody>
      </p:sp>
      <p:sp>
        <p:nvSpPr>
          <p:cNvPr id="41" name="Diamond"/>
          <p:cNvSpPr/>
          <p:nvPr/>
        </p:nvSpPr>
        <p:spPr>
          <a:xfrm>
            <a:off x="1423988" y="82438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2" name="Text 487"/>
          <p:cNvSpPr txBox="1"/>
          <p:nvPr/>
        </p:nvSpPr>
        <p:spPr>
          <a:xfrm>
            <a:off x="1638300" y="81534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시안 먼저 — UI는 Figma로 비교 · 검토한 뒤 구현해 재작업 감소</a:t>
            </a:r>
            <a:endParaRPr lang="en-US" sz="1350" dirty="0"/>
          </a:p>
        </p:txBody>
      </p:sp>
      <p:sp>
        <p:nvSpPr>
          <p:cNvPr id="43" name="Card"/>
          <p:cNvSpPr/>
          <p:nvPr/>
        </p:nvSpPr>
        <p:spPr>
          <a:xfrm>
            <a:off x="9239250" y="6610350"/>
            <a:ext cx="8001000" cy="2247900"/>
          </a:xfrm>
          <a:prstGeom prst="roundRect">
            <a:avLst>
              <a:gd name="adj" fmla="val 2441"/>
            </a:avLst>
          </a:prstGeom>
          <a:solidFill>
            <a:srgbClr val="2A2620">
              <a:alpha val="94000"/>
            </a:srgbClr>
          </a:solidFill>
          <a:ln w="9525">
            <a:solidFill>
              <a:srgbClr val="E9B45A">
                <a:alpha val="50000"/>
              </a:srgbClr>
            </a:solidFill>
            <a:prstDash val="solid"/>
          </a:ln>
        </p:spPr>
      </p:sp>
      <p:sp>
        <p:nvSpPr>
          <p:cNvPr id="44" name="Text 488"/>
          <p:cNvSpPr txBox="1"/>
          <p:nvPr/>
        </p:nvSpPr>
        <p:spPr>
          <a:xfrm>
            <a:off x="9582150" y="67818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다음 단계</a:t>
            </a:r>
            <a:endParaRPr lang="en-US" sz="1950" dirty="0"/>
          </a:p>
        </p:txBody>
      </p:sp>
      <p:sp>
        <p:nvSpPr>
          <p:cNvPr id="45" name="Diamond"/>
          <p:cNvSpPr/>
          <p:nvPr/>
        </p:nvSpPr>
        <p:spPr>
          <a:xfrm>
            <a:off x="9615488" y="74056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6" name="Text 489"/>
          <p:cNvSpPr txBox="1"/>
          <p:nvPr/>
        </p:nvSpPr>
        <p:spPr>
          <a:xfrm>
            <a:off x="9829800" y="73152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 직업 · 영웅의 길, 권속 보스 우사 · 풍백</a:t>
            </a:r>
            <a:endParaRPr lang="en-US" sz="1350" dirty="0"/>
          </a:p>
        </p:txBody>
      </p:sp>
      <p:sp>
        <p:nvSpPr>
          <p:cNvPr id="47" name="Diamond"/>
          <p:cNvSpPr/>
          <p:nvPr/>
        </p:nvSpPr>
        <p:spPr>
          <a:xfrm>
            <a:off x="9615488" y="7824787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48" name="Text 490"/>
          <p:cNvSpPr txBox="1"/>
          <p:nvPr/>
        </p:nvSpPr>
        <p:spPr>
          <a:xfrm>
            <a:off x="9829800" y="77343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신물 · 초월 · 격 수확 패턴 등 상위 격 시스템</a:t>
            </a:r>
            <a:endParaRPr lang="en-US" sz="1350" dirty="0"/>
          </a:p>
        </p:txBody>
      </p:sp>
      <p:sp>
        <p:nvSpPr>
          <p:cNvPr id="49" name="Diamond"/>
          <p:cNvSpPr/>
          <p:nvPr/>
        </p:nvSpPr>
        <p:spPr>
          <a:xfrm>
            <a:off x="9615488" y="8243888"/>
            <a:ext cx="85725" cy="85725"/>
          </a:xfrm>
          <a:prstGeom prst="diamond">
            <a:avLst/>
          </a:prstGeom>
          <a:solidFill>
            <a:srgbClr val="E9B45A"/>
          </a:solidFill>
          <a:ln/>
        </p:spPr>
      </p:sp>
      <p:sp>
        <p:nvSpPr>
          <p:cNvPr id="50" name="Text 491"/>
          <p:cNvSpPr txBox="1"/>
          <p:nvPr/>
        </p:nvSpPr>
        <p:spPr>
          <a:xfrm>
            <a:off x="9829800" y="81534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CE6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· 불러오기, 밸런스 조정, 빌드 최적화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ddEmblem" descr="One-page GDD 왕관 엠블럼 (배경 장식)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5334000" y="666750"/>
            <a:ext cx="7620000" cy="7620000"/>
          </a:xfrm>
          <a:prstGeom prst="rect">
            <a:avLst/>
          </a:prstGeom>
        </p:spPr>
      </p:pic>
      <p:sp>
        <p:nvSpPr>
          <p:cNvPr id="3" name="Diamond"/>
          <p:cNvSpPr/>
          <p:nvPr/>
        </p:nvSpPr>
        <p:spPr>
          <a:xfrm>
            <a:off x="8953500" y="2857500"/>
            <a:ext cx="381000" cy="381000"/>
          </a:xfrm>
          <a:prstGeom prst="diamond">
            <a:avLst/>
          </a:prstGeom>
          <a:solidFill>
            <a:srgbClr val="FFD58A"/>
          </a:solidFill>
          <a:ln/>
        </p:spPr>
      </p:sp>
      <p:sp>
        <p:nvSpPr>
          <p:cNvPr id="4" name="Text 492"/>
          <p:cNvSpPr txBox="1"/>
          <p:nvPr/>
        </p:nvSpPr>
        <p:spPr>
          <a:xfrm>
            <a:off x="0" y="3448050"/>
            <a:ext cx="1828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0" b="1" dirty="0">
                <a:solidFill>
                  <a:srgbClr val="FFD5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감사합니다</a:t>
            </a:r>
            <a:endParaRPr lang="en-US" sz="7800" dirty="0"/>
          </a:p>
        </p:txBody>
      </p:sp>
      <p:sp>
        <p:nvSpPr>
          <p:cNvPr id="5" name="Text 493"/>
          <p:cNvSpPr txBox="1"/>
          <p:nvPr/>
        </p:nvSpPr>
        <p:spPr>
          <a:xfrm>
            <a:off x="0" y="4914900"/>
            <a:ext cx="1828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b="1" spc="77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BROKEN SOVEREIGN</a:t>
            </a:r>
            <a:endParaRPr lang="en-US" sz="2550" dirty="0"/>
          </a:p>
        </p:txBody>
      </p:sp>
      <p:sp>
        <p:nvSpPr>
          <p:cNvPr id="6" name="Chip"/>
          <p:cNvSpPr/>
          <p:nvPr/>
        </p:nvSpPr>
        <p:spPr>
          <a:xfrm>
            <a:off x="8134350" y="5695950"/>
            <a:ext cx="2019300" cy="457200"/>
          </a:xfrm>
          <a:prstGeom prst="roundRect">
            <a:avLst>
              <a:gd name="adj" fmla="val 100000"/>
            </a:avLst>
          </a:prstGeom>
          <a:solidFill>
            <a:srgbClr val="2A2418"/>
          </a:solidFill>
          <a:ln w="9525">
            <a:solidFill>
              <a:srgbClr val="E9B45A">
                <a:alpha val="60000"/>
              </a:srgbClr>
            </a:solidFill>
            <a:prstDash val="solid"/>
          </a:ln>
        </p:spPr>
      </p:sp>
      <p:sp>
        <p:nvSpPr>
          <p:cNvPr id="7" name="ChipText"/>
          <p:cNvSpPr txBox="1"/>
          <p:nvPr/>
        </p:nvSpPr>
        <p:spPr>
          <a:xfrm>
            <a:off x="8134350" y="5695950"/>
            <a:ext cx="201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D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 ·  질의응답</a:t>
            </a:r>
            <a:endParaRPr lang="en-US" sz="1650" dirty="0"/>
          </a:p>
        </p:txBody>
      </p:sp>
      <p:sp>
        <p:nvSpPr>
          <p:cNvPr id="8" name="Text 494"/>
          <p:cNvSpPr txBox="1"/>
          <p:nvPr/>
        </p:nvSpPr>
        <p:spPr>
          <a:xfrm>
            <a:off x="0" y="8572500"/>
            <a:ext cx="1828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  이우영    |    GitHub  lwy0810/BROKEN-SOVEREIGN    |    2026. 10. 27</a:t>
            </a:r>
            <a:endParaRPr lang="en-US" sz="1500" dirty="0"/>
          </a:p>
        </p:txBody>
      </p:sp>
      <p:sp>
        <p:nvSpPr>
          <p:cNvPr id="9" name="PageNo"/>
          <p:cNvSpPr txBox="1"/>
          <p:nvPr/>
        </p:nvSpPr>
        <p:spPr>
          <a:xfrm>
            <a:off x="15316200" y="94297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E9B45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23 / 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oken Sovereign">
  <a:themeElements>
    <a:clrScheme name="Broken Sovereign">
      <a:dk1>
        <a:srgbClr val="0B0C10"/>
      </a:dk1>
      <a:lt1>
        <a:srgbClr val="ECE6D8"/>
      </a:lt1>
      <a:dk2>
        <a:srgbClr val="14151A"/>
      </a:dk2>
      <a:lt2>
        <a:srgbClr val="9AA0AA"/>
      </a:lt2>
      <a:accent1>
        <a:srgbClr val="E9B45A"/>
      </a:accent1>
      <a:accent2>
        <a:srgbClr val="FFD58A"/>
      </a:accent2>
      <a:accent3>
        <a:srgbClr val="D23A2C"/>
      </a:accent3>
      <a:accent4>
        <a:srgbClr val="B48CFF"/>
      </a:accent4>
      <a:accent5>
        <a:srgbClr val="8FD3FF"/>
      </a:accent5>
      <a:accent6>
        <a:srgbClr val="5FB36A"/>
      </a:accent6>
      <a:hlink>
        <a:srgbClr val="FFD58A"/>
      </a:hlink>
      <a:folHlink>
        <a:srgbClr val="E9B45A"/>
      </a:folHlink>
    </a:clrScheme>
    <a:fontScheme name="Broken Sovereign">
      <a:majorFont>
        <a:latin typeface="Noto Serif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BROKEN SOVEREIGN — 최종 발표</dc:title>
  <dc:subject>NC AI 광주 1기 개인 포트폴리오 프로젝트</dc:subject>
  <dc:creator>이우영</dc:creator>
  <cp:lastModifiedBy>이우영</cp:lastModifiedBy>
  <cp:revision>1</cp:revision>
  <dcterms:created xsi:type="dcterms:W3CDTF">2026-10-26T09:03:05Z</dcterms:created>
  <dcterms:modified xsi:type="dcterms:W3CDTF">2026-10-26T09:03:05Z</dcterms:modified>
</cp:coreProperties>
</file>